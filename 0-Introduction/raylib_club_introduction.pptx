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7595CED7-A2AD-4A83-86A5-6097C00F7AE6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RAYLIB · CLUB INTRODUCTION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BBF5B2-4853-47C7-ACA5-890CC3EA06A9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5429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050" b="1">
                <a:solidFill>
                  <a:srgbClr val="14213D"/>
                </a:solidFill>
              </a:defRPr>
            </a:pPr>
            <a:r>
              <a:rPr sz="4050" b="1" dirty="0">
                <a:solidFill>
                  <a:srgbClr val="14213D"/>
                </a:solidFill>
              </a:rPr>
              <a:t>What Are We</a:t>
            </a:r>
          </a:p>
          <a:p>
            <a:pPr>
              <a:defRPr sz="4050" b="1">
                <a:solidFill>
                  <a:srgbClr val="14213D"/>
                </a:solidFill>
              </a:defRPr>
            </a:pPr>
            <a:r>
              <a:rPr sz="4050" b="1" dirty="0">
                <a:solidFill>
                  <a:srgbClr val="14213D"/>
                </a:solidFill>
              </a:rPr>
              <a:t>Going to Make?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77C651-C4EF-4D30-9A8D-B2F71EB6C339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A small interactive scene built one step at a time.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84809C5A-2DEB-4969-B6CB-6758F2BAFA74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485775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01FA71-4B32-44A1-BDC8-1FEE57CB4C76}"/>
              </a:ext>
            </a:extLst>
          </p:cNvPr>
          <p:cNvSpPr>
            <a:spLocks noGrp="1"/>
          </p:cNvSpPr>
          <p:nvPr/>
        </p:nvSpPr>
        <p:spPr>
          <a:xfrm>
            <a:off x="933450" y="39624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By the end, you will be able to…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B55B09-9F39-4E59-AA15-E3CB641E5529}"/>
              </a:ext>
            </a:extLst>
          </p:cNvPr>
          <p:cNvSpPr>
            <a:spLocks noGrp="1"/>
          </p:cNvSpPr>
          <p:nvPr/>
        </p:nvSpPr>
        <p:spPr>
          <a:xfrm>
            <a:off x="933450" y="43434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• open a window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B9C2E4-6A9F-4076-AECD-023108C51F79}"/>
              </a:ext>
            </a:extLst>
          </p:cNvPr>
          <p:cNvSpPr>
            <a:spLocks noGrp="1"/>
          </p:cNvSpPr>
          <p:nvPr/>
        </p:nvSpPr>
        <p:spPr>
          <a:xfrm>
            <a:off x="933450" y="46291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• draw simple shapes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6B5572-CA8E-4466-929C-B75328C8BF81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• read mouse 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DB14E1-C5C1-4B6D-B728-15C8C7337D3E}"/>
              </a:ext>
            </a:extLst>
          </p:cNvPr>
          <p:cNvSpPr>
            <a:spLocks noGrp="1"/>
          </p:cNvSpPr>
          <p:nvPr/>
        </p:nvSpPr>
        <p:spPr>
          <a:xfrm>
            <a:off x="933450" y="52006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• build a small interactive scene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7EFF9FA-6745-4618-BA6C-25946DAD4561}"/>
              </a:ext>
            </a:extLst>
          </p:cNvPr>
          <p:cNvSpPr>
            <a:spLocks noGrp="1"/>
          </p:cNvSpPr>
          <p:nvPr/>
        </p:nvSpPr>
        <p:spPr>
          <a:xfrm>
            <a:off x="6229350" y="1690255"/>
            <a:ext cx="5276850" cy="3047999"/>
          </a:xfrm>
          <a:prstGeom prst="roundRect">
            <a:avLst>
              <a:gd name="adj" fmla="val 1754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F77D43-B01A-4609-8EC1-8F441B1DE3B5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4000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64748B"/>
                </a:solidFill>
              </a:defRPr>
            </a:pPr>
            <a:endParaRPr sz="2025" b="1" dirty="0">
              <a:solidFill>
                <a:srgbClr val="64748B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32E0D82-E44E-42CF-AF6F-7EE9DD6DE4D3}"/>
              </a:ext>
            </a:extLst>
          </p:cNvPr>
          <p:cNvSpPr>
            <a:spLocks noGrp="1"/>
          </p:cNvSpPr>
          <p:nvPr/>
        </p:nvSpPr>
        <p:spPr>
          <a:xfrm>
            <a:off x="7239000" y="40957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Your image goes here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FE74230-9907-4963-8991-C1D264F288A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Raylib Introduction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093722-278D-4B93-9ECC-20F6D286D52B}"/>
              </a:ext>
            </a:extLst>
          </p:cNvPr>
          <p:cNvSpPr>
            <a:spLocks noGrp="1"/>
          </p:cNvSpPr>
          <p:nvPr/>
        </p:nvSpPr>
        <p:spPr>
          <a:xfrm>
            <a:off x="109728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01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2C89330A-28DF-5978-DF30-2EA33A59A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1809632"/>
            <a:ext cx="4981148" cy="281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39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1C37CAD1-AAFA-4F31-A5C1-0A6EA1C131B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START HERE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CB0A74-4357-466A-9780-C09E3A77F703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4213D"/>
                </a:solidFill>
              </a:defRPr>
            </a:pPr>
            <a:r>
              <a:rPr sz="2850" b="1" dirty="0">
                <a:solidFill>
                  <a:srgbClr val="14213D"/>
                </a:solidFill>
              </a:rPr>
              <a:t>Get the Starter Project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E4B46DD7-7381-49BF-9D02-AC6B8DFD53FB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7F1DB3-7C29-45E6-9387-5D032E93A45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Raylib Introduction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C3D7B7-A7FF-45DE-8F0C-CBEE3A6DD53D}"/>
              </a:ext>
            </a:extLst>
          </p:cNvPr>
          <p:cNvSpPr>
            <a:spLocks noGrp="1"/>
          </p:cNvSpPr>
          <p:nvPr/>
        </p:nvSpPr>
        <p:spPr>
          <a:xfrm>
            <a:off x="109728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02</a:t>
            </a:r>
          </a:p>
        </p:txBody>
      </p:sp>
      <p:pic>
        <p:nvPicPr>
          <p:cNvPr id="36" name="圖片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0" y="1522697"/>
            <a:ext cx="6995836" cy="3331411"/>
          </a:xfrm>
          <a:prstGeom prst="roundRect">
            <a:avLst>
              <a:gd name="adj" fmla="val 2469"/>
            </a:avLst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716EE463-3E23-41E8-88A9-D5829FB542A0}"/>
              </a:ext>
            </a:extLst>
          </p:cNvPr>
          <p:cNvSpPr>
            <a:spLocks noGrp="1"/>
          </p:cNvSpPr>
          <p:nvPr/>
        </p:nvSpPr>
        <p:spPr>
          <a:xfrm>
            <a:off x="34941" y="3934646"/>
            <a:ext cx="521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4213D"/>
                </a:solidFill>
              </a:defRPr>
            </a:pPr>
            <a:endParaRPr sz="1125" b="1" dirty="0">
              <a:solidFill>
                <a:srgbClr val="14213D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56ECA32-BFFE-432B-B3D7-0F3A5317C05D}"/>
              </a:ext>
            </a:extLst>
          </p:cNvPr>
          <p:cNvSpPr>
            <a:spLocks noGrp="1"/>
          </p:cNvSpPr>
          <p:nvPr/>
        </p:nvSpPr>
        <p:spPr>
          <a:xfrm>
            <a:off x="342900" y="3978846"/>
            <a:ext cx="4424544" cy="14285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4213D"/>
                </a:solidFill>
              </a:defRPr>
            </a:pPr>
            <a:r>
              <a:rPr lang="en-US" altLang="zh-CN" sz="1600" b="1" dirty="0">
                <a:solidFill>
                  <a:srgbClr val="14213D"/>
                </a:solidFill>
              </a:rPr>
              <a:t>Source repository</a:t>
            </a:r>
            <a:endParaRPr lang="en-US" altLang="zh-CN" sz="1600" dirty="0">
              <a:solidFill>
                <a:srgbClr val="2563EB"/>
              </a:solidFill>
            </a:endParaRPr>
          </a:p>
          <a:p>
            <a:pPr algn="ctr">
              <a:defRPr sz="1125" b="1">
                <a:solidFill>
                  <a:srgbClr val="14213D"/>
                </a:solidFill>
              </a:defRPr>
            </a:pPr>
            <a:r>
              <a:rPr lang="en-US" altLang="zh-CN" sz="1600" dirty="0">
                <a:solidFill>
                  <a:srgbClr val="2563EB"/>
                </a:solidFill>
              </a:rPr>
              <a:t>https://github.com/Akil0814/Club_code</a:t>
            </a:r>
            <a:endParaRPr lang="en-US" sz="1600" b="1" dirty="0">
              <a:solidFill>
                <a:srgbClr val="14213D"/>
              </a:solidFill>
            </a:endParaRPr>
          </a:p>
          <a:p>
            <a:pPr algn="ctr">
              <a:defRPr sz="1125" b="1">
                <a:solidFill>
                  <a:srgbClr val="14213D"/>
                </a:solidFill>
              </a:defRPr>
            </a:pPr>
            <a:r>
              <a:rPr sz="1400" b="1" dirty="0">
                <a:solidFill>
                  <a:srgbClr val="14213D"/>
                </a:solidFill>
              </a:rPr>
              <a:t>Ready-made downloads</a:t>
            </a:r>
            <a:endParaRPr lang="en-US" sz="1400" b="1" dirty="0">
              <a:solidFill>
                <a:srgbClr val="14213D"/>
              </a:solidFill>
            </a:endParaRPr>
          </a:p>
          <a:p>
            <a:pPr algn="ctr">
              <a:defRPr sz="1125" b="1">
                <a:solidFill>
                  <a:srgbClr val="14213D"/>
                </a:solidFill>
              </a:defRPr>
            </a:pPr>
            <a:r>
              <a:rPr lang="en-US" altLang="zh-CN" sz="1400" dirty="0">
                <a:solidFill>
                  <a:srgbClr val="2563EB"/>
                </a:solidFill>
              </a:rPr>
              <a:t>https://github.com/Akil0814/Club_code/releases</a:t>
            </a:r>
          </a:p>
          <a:p>
            <a:pPr algn="ctr">
              <a:defRPr sz="1125" b="1">
                <a:solidFill>
                  <a:srgbClr val="14213D"/>
                </a:solidFill>
              </a:defRPr>
            </a:pPr>
            <a:endParaRPr lang="en-US" sz="1125" b="1" dirty="0">
              <a:solidFill>
                <a:srgbClr val="14213D"/>
              </a:solidFill>
            </a:endParaRPr>
          </a:p>
          <a:p>
            <a:pPr algn="ctr">
              <a:defRPr sz="1125" b="1">
                <a:solidFill>
                  <a:srgbClr val="14213D"/>
                </a:solidFill>
              </a:defRPr>
            </a:pPr>
            <a:endParaRPr lang="zh-CN" altLang="en-US" sz="1125" b="1" dirty="0">
              <a:solidFill>
                <a:srgbClr val="14213D"/>
              </a:solidFill>
            </a:endParaRP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BAFB44F2-DCEC-9112-1F02-114265D20736}"/>
              </a:ext>
            </a:extLst>
          </p:cNvPr>
          <p:cNvSpPr>
            <a:spLocks noGrp="1"/>
          </p:cNvSpPr>
          <p:nvPr/>
        </p:nvSpPr>
        <p:spPr>
          <a:xfrm>
            <a:off x="514350" y="1375062"/>
            <a:ext cx="4351888" cy="2447923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9F24083-4EF1-9C11-9B7C-75800704932E}"/>
              </a:ext>
            </a:extLst>
          </p:cNvPr>
          <p:cNvSpPr>
            <a:spLocks noGrp="1"/>
          </p:cNvSpPr>
          <p:nvPr/>
        </p:nvSpPr>
        <p:spPr>
          <a:xfrm>
            <a:off x="952500" y="1635828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4213D"/>
                </a:solidFill>
              </a:defRPr>
            </a:pPr>
            <a:r>
              <a:rPr sz="1950" b="1">
                <a:solidFill>
                  <a:srgbClr val="14213D"/>
                </a:solidFill>
              </a:rPr>
              <a:t>Recommended: Download ZIP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156DE98-999F-4A06-8D6D-2EBED8B4D666}"/>
              </a:ext>
            </a:extLst>
          </p:cNvPr>
          <p:cNvSpPr>
            <a:spLocks noGrp="1"/>
          </p:cNvSpPr>
          <p:nvPr/>
        </p:nvSpPr>
        <p:spPr>
          <a:xfrm>
            <a:off x="952500" y="2188278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• Open the GitHub repository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FEBD161-1597-2701-0267-FBE230FE678C}"/>
              </a:ext>
            </a:extLst>
          </p:cNvPr>
          <p:cNvSpPr>
            <a:spLocks noGrp="1"/>
          </p:cNvSpPr>
          <p:nvPr/>
        </p:nvSpPr>
        <p:spPr>
          <a:xfrm>
            <a:off x="952500" y="2588328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• Click Code → Download ZIP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7BFCB52-3AC9-9577-BBD5-DDF7BF60B6F4}"/>
              </a:ext>
            </a:extLst>
          </p:cNvPr>
          <p:cNvSpPr>
            <a:spLocks noGrp="1"/>
          </p:cNvSpPr>
          <p:nvPr/>
        </p:nvSpPr>
        <p:spPr>
          <a:xfrm>
            <a:off x="952500" y="2988378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• Extract the ZIP file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4B8248A-BF59-EF4C-2E66-C37A576ECBFF}"/>
              </a:ext>
            </a:extLst>
          </p:cNvPr>
          <p:cNvSpPr>
            <a:spLocks noGrp="1"/>
          </p:cNvSpPr>
          <p:nvPr/>
        </p:nvSpPr>
        <p:spPr>
          <a:xfrm>
            <a:off x="952500" y="3388428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• Open the 0-Introduction folder</a:t>
            </a:r>
          </a:p>
        </p:txBody>
      </p:sp>
    </p:spTree>
    <p:extLst>
      <p:ext uri="{BB962C8B-B14F-4D97-AF65-F5344CB8AC3E}">
        <p14:creationId xmlns:p14="http://schemas.microsoft.com/office/powerpoint/2010/main" val="668623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ACFD5F2D-BBD6-4DE5-A6C3-88B18DF15EE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SETUP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B51964-7B14-4D19-976A-06335F41DC99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4213D"/>
                </a:solidFill>
              </a:defRPr>
            </a:pPr>
            <a:r>
              <a:rPr sz="2850" b="1" dirty="0">
                <a:solidFill>
                  <a:srgbClr val="14213D"/>
                </a:solidFill>
              </a:rPr>
              <a:t>Before We Start: Set Up the Environment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8BD664E7-6150-40AE-A799-41D217D3B6E8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DB59E8-0934-4AC5-BFBA-B0688993236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Raylib Introduction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F2D83B-5090-4E82-90B8-F7F3D8A0D9F5}"/>
              </a:ext>
            </a:extLst>
          </p:cNvPr>
          <p:cNvSpPr>
            <a:spLocks noGrp="1"/>
          </p:cNvSpPr>
          <p:nvPr/>
        </p:nvSpPr>
        <p:spPr>
          <a:xfrm>
            <a:off x="109728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E58D73-59A1-4A1C-AAB4-A756FB5A652E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64748B"/>
                </a:solidFill>
              </a:defRPr>
            </a:pPr>
            <a:r>
              <a:rPr sz="1725" dirty="0">
                <a:solidFill>
                  <a:srgbClr val="64748B"/>
                </a:solidFill>
              </a:rPr>
              <a:t>Choose the toolchain that matches your computer. The source code stays the same.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76EF6DE-59A1-4305-8E3B-502F83A72936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009900" cy="238125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B732E4-37AC-4794-9CC2-A8CFE9834677}"/>
              </a:ext>
            </a:extLst>
          </p:cNvPr>
          <p:cNvSpPr>
            <a:spLocks noGrp="1"/>
          </p:cNvSpPr>
          <p:nvPr/>
        </p:nvSpPr>
        <p:spPr>
          <a:xfrm>
            <a:off x="914400" y="2647950"/>
            <a:ext cx="2552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FFC43D"/>
                </a:solidFill>
              </a:defRPr>
            </a:pPr>
            <a:r>
              <a:rPr sz="1950" b="1">
                <a:solidFill>
                  <a:srgbClr val="FFC43D"/>
                </a:solidFill>
              </a:rPr>
              <a:t>Windows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DA90B6-7350-47F6-AAEB-C4998A39C20E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2552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1F2937"/>
                </a:solidFill>
              </a:defRPr>
            </a:pPr>
            <a:r>
              <a:rPr sz="1575" dirty="0">
                <a:solidFill>
                  <a:srgbClr val="1F2937"/>
                </a:solidFill>
              </a:rPr>
              <a:t>Visual Studio / MSVC</a:t>
            </a:r>
          </a:p>
          <a:p>
            <a:pPr>
              <a:defRPr sz="1575">
                <a:solidFill>
                  <a:srgbClr val="1F2937"/>
                </a:solidFill>
              </a:defRPr>
            </a:pPr>
            <a:r>
              <a:rPr sz="1575" dirty="0">
                <a:solidFill>
                  <a:srgbClr val="1F2937"/>
                </a:solidFill>
              </a:rPr>
              <a:t>or MinGW-w64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8E94A1D-0236-4C77-B987-8E39A78A2CAC}"/>
              </a:ext>
            </a:extLst>
          </p:cNvPr>
          <p:cNvSpPr>
            <a:spLocks noGrp="1"/>
          </p:cNvSpPr>
          <p:nvPr/>
        </p:nvSpPr>
        <p:spPr>
          <a:xfrm>
            <a:off x="914400" y="4000500"/>
            <a:ext cx="2552700" cy="495300"/>
          </a:xfrm>
          <a:prstGeom prst="roundRect">
            <a:avLst>
              <a:gd name="adj" fmla="val 15385"/>
            </a:avLst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C73836-7F5D-4148-B450-13337196C527}"/>
              </a:ext>
            </a:extLst>
          </p:cNvPr>
          <p:cNvSpPr>
            <a:spLocks noGrp="1"/>
          </p:cNvSpPr>
          <p:nvPr/>
        </p:nvSpPr>
        <p:spPr>
          <a:xfrm>
            <a:off x="1123950" y="4171950"/>
            <a:ext cx="2133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E2E8F0"/>
                </a:solidFill>
              </a:defRPr>
            </a:pPr>
            <a:r>
              <a:rPr sz="1425">
                <a:solidFill>
                  <a:srgbClr val="E2E8F0"/>
                </a:solidFill>
              </a:rPr>
              <a:t>cmake -S . -B build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E2534AD-B9B4-4CC6-8ED1-925B8575A209}"/>
              </a:ext>
            </a:extLst>
          </p:cNvPr>
          <p:cNvSpPr>
            <a:spLocks noGrp="1"/>
          </p:cNvSpPr>
          <p:nvPr/>
        </p:nvSpPr>
        <p:spPr>
          <a:xfrm>
            <a:off x="4114800" y="2381250"/>
            <a:ext cx="3009900" cy="238125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9F7800-0CB9-4D2D-A6DD-C521AB49DB86}"/>
              </a:ext>
            </a:extLst>
          </p:cNvPr>
          <p:cNvSpPr>
            <a:spLocks noGrp="1"/>
          </p:cNvSpPr>
          <p:nvPr/>
        </p:nvSpPr>
        <p:spPr>
          <a:xfrm>
            <a:off x="4343400" y="2647950"/>
            <a:ext cx="2552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63B3ED"/>
                </a:solidFill>
              </a:defRPr>
            </a:pPr>
            <a:r>
              <a:rPr sz="1950" b="1">
                <a:solidFill>
                  <a:srgbClr val="63B3ED"/>
                </a:solidFill>
              </a:rPr>
              <a:t>macOS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DB7CF30-8311-42C0-B756-468276EC53CF}"/>
              </a:ext>
            </a:extLst>
          </p:cNvPr>
          <p:cNvSpPr>
            <a:spLocks noGrp="1"/>
          </p:cNvSpPr>
          <p:nvPr/>
        </p:nvSpPr>
        <p:spPr>
          <a:xfrm>
            <a:off x="4343400" y="3105150"/>
            <a:ext cx="2552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1F2937"/>
                </a:solidFill>
              </a:defRPr>
            </a:pPr>
            <a:r>
              <a:rPr sz="1575">
                <a:solidFill>
                  <a:srgbClr val="1F2937"/>
                </a:solidFill>
              </a:rPr>
              <a:t>Homebrew</a:t>
            </a:r>
          </a:p>
          <a:p>
            <a:pPr>
              <a:defRPr sz="1575">
                <a:solidFill>
                  <a:srgbClr val="1F2937"/>
                </a:solidFill>
              </a:defRPr>
            </a:pPr>
            <a:r>
              <a:rPr sz="1575">
                <a:solidFill>
                  <a:srgbClr val="1F2937"/>
                </a:solidFill>
              </a:rPr>
              <a:t>CMake + raylib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119F3AAA-0B5D-4F07-869C-566996C7CAD8}"/>
              </a:ext>
            </a:extLst>
          </p:cNvPr>
          <p:cNvSpPr>
            <a:spLocks noGrp="1"/>
          </p:cNvSpPr>
          <p:nvPr/>
        </p:nvSpPr>
        <p:spPr>
          <a:xfrm>
            <a:off x="4343400" y="4010025"/>
            <a:ext cx="2552700" cy="495300"/>
          </a:xfrm>
          <a:prstGeom prst="roundRect">
            <a:avLst>
              <a:gd name="adj" fmla="val 15385"/>
            </a:avLst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5D659D-F364-4A0E-AA6B-5560766C0C28}"/>
              </a:ext>
            </a:extLst>
          </p:cNvPr>
          <p:cNvSpPr>
            <a:spLocks noGrp="1"/>
          </p:cNvSpPr>
          <p:nvPr/>
        </p:nvSpPr>
        <p:spPr>
          <a:xfrm>
            <a:off x="4552950" y="4171950"/>
            <a:ext cx="2133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E2E8F0"/>
                </a:solidFill>
              </a:defRPr>
            </a:pPr>
            <a:r>
              <a:rPr sz="1425" dirty="0">
                <a:solidFill>
                  <a:srgbClr val="E2E8F0"/>
                </a:solidFill>
              </a:rPr>
              <a:t>brew install </a:t>
            </a:r>
            <a:r>
              <a:rPr sz="1425" dirty="0" err="1">
                <a:solidFill>
                  <a:srgbClr val="E2E8F0"/>
                </a:solidFill>
              </a:rPr>
              <a:t>cmake</a:t>
            </a:r>
            <a:r>
              <a:rPr sz="1425" dirty="0">
                <a:solidFill>
                  <a:srgbClr val="E2E8F0"/>
                </a:solidFill>
              </a:rPr>
              <a:t> </a:t>
            </a:r>
            <a:r>
              <a:rPr sz="1425" dirty="0" err="1">
                <a:solidFill>
                  <a:srgbClr val="E2E8F0"/>
                </a:solidFill>
              </a:rPr>
              <a:t>raylib</a:t>
            </a:r>
            <a:endParaRPr sz="1425" dirty="0">
              <a:solidFill>
                <a:srgbClr val="E2E8F0"/>
              </a:solidFill>
            </a:endParaRP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15AA9A8A-25FA-4892-8544-D55C68DADD9F}"/>
              </a:ext>
            </a:extLst>
          </p:cNvPr>
          <p:cNvSpPr>
            <a:spLocks noGrp="1"/>
          </p:cNvSpPr>
          <p:nvPr/>
        </p:nvSpPr>
        <p:spPr>
          <a:xfrm>
            <a:off x="7543800" y="2381250"/>
            <a:ext cx="3009900" cy="238125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D1D603F-B2CA-4631-9182-8C0BADE17FA8}"/>
              </a:ext>
            </a:extLst>
          </p:cNvPr>
          <p:cNvSpPr>
            <a:spLocks noGrp="1"/>
          </p:cNvSpPr>
          <p:nvPr/>
        </p:nvSpPr>
        <p:spPr>
          <a:xfrm>
            <a:off x="7772400" y="2647950"/>
            <a:ext cx="2552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48BB78"/>
                </a:solidFill>
              </a:defRPr>
            </a:pPr>
            <a:r>
              <a:rPr sz="1950" b="1">
                <a:solidFill>
                  <a:srgbClr val="48BB78"/>
                </a:solidFill>
              </a:rPr>
              <a:t>Linux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5DD191-E09B-48EB-AD65-AD167B063E6F}"/>
              </a:ext>
            </a:extLst>
          </p:cNvPr>
          <p:cNvSpPr>
            <a:spLocks noGrp="1"/>
          </p:cNvSpPr>
          <p:nvPr/>
        </p:nvSpPr>
        <p:spPr>
          <a:xfrm>
            <a:off x="7772400" y="3105150"/>
            <a:ext cx="2552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1F2937"/>
                </a:solidFill>
              </a:defRPr>
            </a:pPr>
            <a:r>
              <a:rPr sz="1575">
                <a:solidFill>
                  <a:srgbClr val="1F2937"/>
                </a:solidFill>
              </a:rPr>
              <a:t>A C++ compiler</a:t>
            </a:r>
          </a:p>
          <a:p>
            <a:pPr>
              <a:defRPr sz="1575">
                <a:solidFill>
                  <a:srgbClr val="1F2937"/>
                </a:solidFill>
              </a:defRPr>
            </a:pPr>
            <a:r>
              <a:rPr sz="1575">
                <a:solidFill>
                  <a:srgbClr val="1F2937"/>
                </a:solidFill>
              </a:rPr>
              <a:t>CMake + raylib-dev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8BECF4D-8E73-4FD5-B7D3-17825D627C5D}"/>
              </a:ext>
            </a:extLst>
          </p:cNvPr>
          <p:cNvSpPr>
            <a:spLocks noGrp="1"/>
          </p:cNvSpPr>
          <p:nvPr/>
        </p:nvSpPr>
        <p:spPr>
          <a:xfrm>
            <a:off x="7772400" y="4000500"/>
            <a:ext cx="2552700" cy="495300"/>
          </a:xfrm>
          <a:prstGeom prst="roundRect">
            <a:avLst>
              <a:gd name="adj" fmla="val 15385"/>
            </a:avLst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863BF59-5E5A-4B61-A290-BA4470C8935C}"/>
              </a:ext>
            </a:extLst>
          </p:cNvPr>
          <p:cNvSpPr>
            <a:spLocks noGrp="1"/>
          </p:cNvSpPr>
          <p:nvPr/>
        </p:nvSpPr>
        <p:spPr>
          <a:xfrm>
            <a:off x="7981950" y="4171950"/>
            <a:ext cx="2133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E2E8F0"/>
                </a:solidFill>
              </a:defRPr>
            </a:pPr>
            <a:r>
              <a:rPr sz="1425" dirty="0" err="1">
                <a:solidFill>
                  <a:srgbClr val="E2E8F0"/>
                </a:solidFill>
              </a:rPr>
              <a:t>sudo</a:t>
            </a:r>
            <a:r>
              <a:rPr sz="1425" dirty="0">
                <a:solidFill>
                  <a:srgbClr val="E2E8F0"/>
                </a:solidFill>
              </a:rPr>
              <a:t> apt install ...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541ED0C-1194-4549-BC66-76927107DA7D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Once the environment is ready, we start writing main.cpp together.</a:t>
            </a:r>
          </a:p>
        </p:txBody>
      </p:sp>
    </p:spTree>
    <p:extLst>
      <p:ext uri="{BB962C8B-B14F-4D97-AF65-F5344CB8AC3E}">
        <p14:creationId xmlns:p14="http://schemas.microsoft.com/office/powerpoint/2010/main" val="1594331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A87B1E58-9D4A-4232-874F-1BD7491A566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01 · WINDOW LIFECYCLE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AD3988-A4FA-449C-8719-DE428F2B3687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A Program Can Keep Running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B8B9AA48-2C4A-4A9D-931F-65A35B217515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9721E4-B84D-4C88-BA23-6EA63EA21EB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Raylib Introduction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09F21D-F51B-48D2-88EB-836CBBD6AEB8}"/>
              </a:ext>
            </a:extLst>
          </p:cNvPr>
          <p:cNvSpPr>
            <a:spLocks noGrp="1"/>
          </p:cNvSpPr>
          <p:nvPr/>
        </p:nvSpPr>
        <p:spPr>
          <a:xfrm>
            <a:off x="109728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944D4B-2308-4819-B7DE-61417B9C673A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64748B"/>
                </a:solidFill>
              </a:defRPr>
            </a:pPr>
            <a:r>
              <a:rPr sz="1725">
                <a:solidFill>
                  <a:srgbClr val="64748B"/>
                </a:solidFill>
              </a:rPr>
              <a:t>A window does not stay alive by itself. The loop keeps the program running until the user closes it.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8577C66-EB5A-452D-892E-62A9DCEA098F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4743450" cy="2952750"/>
          </a:xfrm>
          <a:prstGeom prst="roundRect">
            <a:avLst>
              <a:gd name="adj" fmla="val 2581"/>
            </a:avLst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F8A8D3-6E43-4830-99A0-166435205E1C}"/>
              </a:ext>
            </a:extLst>
          </p:cNvPr>
          <p:cNvSpPr>
            <a:spLocks noGrp="1"/>
          </p:cNvSpPr>
          <p:nvPr/>
        </p:nvSpPr>
        <p:spPr>
          <a:xfrm>
            <a:off x="1085850" y="2743200"/>
            <a:ext cx="453390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E2E8F0"/>
                </a:solidFill>
              </a:defRPr>
            </a:pPr>
            <a:r>
              <a:rPr sz="1425">
                <a:solidFill>
                  <a:srgbClr val="E2E8F0"/>
                </a:solidFill>
              </a:rPr>
              <a:t>InitWindow(...);</a:t>
            </a:r>
          </a:p>
          <a:p>
            <a:endParaRPr sz="1425">
              <a:solidFill>
                <a:srgbClr val="E2E8F0"/>
              </a:solidFill>
            </a:endParaRPr>
          </a:p>
          <a:p>
            <a:pPr>
              <a:defRPr sz="1425">
                <a:solidFill>
                  <a:srgbClr val="E2E8F0"/>
                </a:solidFill>
              </a:defRPr>
            </a:pPr>
            <a:r>
              <a:rPr sz="1425">
                <a:solidFill>
                  <a:srgbClr val="E2E8F0"/>
                </a:solidFill>
              </a:rPr>
              <a:t>while (!WindowShouldClose())</a:t>
            </a:r>
          </a:p>
          <a:p>
            <a:pPr>
              <a:defRPr sz="1425">
                <a:solidFill>
                  <a:srgbClr val="E2E8F0"/>
                </a:solidFill>
              </a:defRPr>
            </a:pPr>
            <a:r>
              <a:rPr sz="1425">
                <a:solidFill>
                  <a:srgbClr val="E2E8F0"/>
                </a:solidFill>
              </a:rPr>
              <a:t>{</a:t>
            </a:r>
          </a:p>
          <a:p>
            <a:pPr>
              <a:defRPr sz="1425">
                <a:solidFill>
                  <a:srgbClr val="E2E8F0"/>
                </a:solidFill>
              </a:defRPr>
            </a:pPr>
            <a:r>
              <a:rPr sz="1425">
                <a:solidFill>
                  <a:srgbClr val="E2E8F0"/>
                </a:solidFill>
              </a:rPr>
              <a:t>    // one frame</a:t>
            </a:r>
          </a:p>
          <a:p>
            <a:pPr>
              <a:defRPr sz="1425">
                <a:solidFill>
                  <a:srgbClr val="E2E8F0"/>
                </a:solidFill>
              </a:defRPr>
            </a:pPr>
            <a:r>
              <a:rPr sz="1425">
                <a:solidFill>
                  <a:srgbClr val="E2E8F0"/>
                </a:solidFill>
              </a:rPr>
              <a:t>}</a:t>
            </a:r>
          </a:p>
          <a:p>
            <a:endParaRPr sz="1425">
              <a:solidFill>
                <a:srgbClr val="E2E8F0"/>
              </a:solidFill>
            </a:endParaRPr>
          </a:p>
          <a:p>
            <a:pPr>
              <a:defRPr sz="1425">
                <a:solidFill>
                  <a:srgbClr val="E2E8F0"/>
                </a:solidFill>
              </a:defRPr>
            </a:pPr>
            <a:r>
              <a:rPr sz="1425">
                <a:solidFill>
                  <a:srgbClr val="E2E8F0"/>
                </a:solidFill>
              </a:rPr>
              <a:t>CloseWindow();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9A81FA57-C457-4622-9662-45EDCA608E59}"/>
              </a:ext>
            </a:extLst>
          </p:cNvPr>
          <p:cNvSpPr>
            <a:spLocks noGrp="1"/>
          </p:cNvSpPr>
          <p:nvPr/>
        </p:nvSpPr>
        <p:spPr>
          <a:xfrm>
            <a:off x="6667500" y="2609850"/>
            <a:ext cx="457200" cy="457200"/>
          </a:xfrm>
          <a:prstGeom prst="ellipse">
            <a:avLst/>
          </a:prstGeom>
          <a:solidFill>
            <a:srgbClr val="FFC43D"/>
          </a:solidFill>
          <a:ln w="9525">
            <a:solidFill>
              <a:srgbClr val="FFC4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2C6293-AD11-4DE7-B776-408B75BE75F0}"/>
              </a:ext>
            </a:extLst>
          </p:cNvPr>
          <p:cNvSpPr>
            <a:spLocks noGrp="1"/>
          </p:cNvSpPr>
          <p:nvPr/>
        </p:nvSpPr>
        <p:spPr>
          <a:xfrm>
            <a:off x="6667500" y="27051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B467B5-2A0E-44FA-8D90-55A81E1B01A7}"/>
              </a:ext>
            </a:extLst>
          </p:cNvPr>
          <p:cNvSpPr>
            <a:spLocks noGrp="1"/>
          </p:cNvSpPr>
          <p:nvPr/>
        </p:nvSpPr>
        <p:spPr>
          <a:xfrm>
            <a:off x="7353300" y="25908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InitWindow()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FF6234-2382-446A-AC15-31C0AD2E6816}"/>
              </a:ext>
            </a:extLst>
          </p:cNvPr>
          <p:cNvSpPr>
            <a:spLocks noGrp="1"/>
          </p:cNvSpPr>
          <p:nvPr/>
        </p:nvSpPr>
        <p:spPr>
          <a:xfrm>
            <a:off x="7353300" y="29146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64748B"/>
                </a:solidFill>
              </a:defRPr>
            </a:pPr>
            <a:r>
              <a:rPr sz="1425">
                <a:solidFill>
                  <a:srgbClr val="64748B"/>
                </a:solidFill>
              </a:rPr>
              <a:t>Create the application window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9242BB-68EF-4BBC-93D7-B3448C529A6A}"/>
              </a:ext>
            </a:extLst>
          </p:cNvPr>
          <p:cNvSpPr>
            <a:spLocks noGrp="1"/>
          </p:cNvSpPr>
          <p:nvPr/>
        </p:nvSpPr>
        <p:spPr>
          <a:xfrm>
            <a:off x="6667500" y="3562350"/>
            <a:ext cx="457200" cy="457200"/>
          </a:xfrm>
          <a:prstGeom prst="ellipse">
            <a:avLst/>
          </a:prstGeom>
          <a:solidFill>
            <a:srgbClr val="48BB78"/>
          </a:solidFill>
          <a:ln w="9525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EE2C8A-F00E-4EBB-AD39-B4B5C80B7C23}"/>
              </a:ext>
            </a:extLst>
          </p:cNvPr>
          <p:cNvSpPr>
            <a:spLocks noGrp="1"/>
          </p:cNvSpPr>
          <p:nvPr/>
        </p:nvSpPr>
        <p:spPr>
          <a:xfrm>
            <a:off x="6667500" y="3657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6F1BD6-80B6-4474-A25D-2844D8060E4E}"/>
              </a:ext>
            </a:extLst>
          </p:cNvPr>
          <p:cNvSpPr>
            <a:spLocks noGrp="1"/>
          </p:cNvSpPr>
          <p:nvPr/>
        </p:nvSpPr>
        <p:spPr>
          <a:xfrm>
            <a:off x="7353300" y="35433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WindowShouldClose()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DDA242-2664-4BED-B163-04913E0BBBD0}"/>
              </a:ext>
            </a:extLst>
          </p:cNvPr>
          <p:cNvSpPr>
            <a:spLocks noGrp="1"/>
          </p:cNvSpPr>
          <p:nvPr/>
        </p:nvSpPr>
        <p:spPr>
          <a:xfrm>
            <a:off x="7353300" y="38671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64748B"/>
                </a:solidFill>
              </a:defRPr>
            </a:pPr>
            <a:r>
              <a:rPr sz="1425">
                <a:solidFill>
                  <a:srgbClr val="64748B"/>
                </a:solidFill>
              </a:rPr>
              <a:t>Returns true when the loop should stop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6C6CA4C3-CEA0-4C22-AAC3-0E94D74DC81F}"/>
              </a:ext>
            </a:extLst>
          </p:cNvPr>
          <p:cNvSpPr>
            <a:spLocks noGrp="1"/>
          </p:cNvSpPr>
          <p:nvPr/>
        </p:nvSpPr>
        <p:spPr>
          <a:xfrm>
            <a:off x="6667500" y="4514850"/>
            <a:ext cx="457200" cy="457200"/>
          </a:xfrm>
          <a:prstGeom prst="ellipse">
            <a:avLst/>
          </a:prstGeom>
          <a:solidFill>
            <a:srgbClr val="63B3ED"/>
          </a:solidFill>
          <a:ln w="9525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7CF135B-0A0B-4240-9399-5AA57DF78761}"/>
              </a:ext>
            </a:extLst>
          </p:cNvPr>
          <p:cNvSpPr>
            <a:spLocks noGrp="1"/>
          </p:cNvSpPr>
          <p:nvPr/>
        </p:nvSpPr>
        <p:spPr>
          <a:xfrm>
            <a:off x="6667500" y="46101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B327E6D-777D-4688-B3CA-1CE726EBE17E}"/>
              </a:ext>
            </a:extLst>
          </p:cNvPr>
          <p:cNvSpPr>
            <a:spLocks noGrp="1"/>
          </p:cNvSpPr>
          <p:nvPr/>
        </p:nvSpPr>
        <p:spPr>
          <a:xfrm>
            <a:off x="7353300" y="44958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CloseWindow()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C706796-E9B9-4EE3-B730-10C605849C05}"/>
              </a:ext>
            </a:extLst>
          </p:cNvPr>
          <p:cNvSpPr>
            <a:spLocks noGrp="1"/>
          </p:cNvSpPr>
          <p:nvPr/>
        </p:nvSpPr>
        <p:spPr>
          <a:xfrm>
            <a:off x="7353300" y="48196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64748B"/>
                </a:solidFill>
              </a:defRPr>
            </a:pPr>
            <a:r>
              <a:rPr sz="1425">
                <a:solidFill>
                  <a:srgbClr val="64748B"/>
                </a:solidFill>
              </a:rPr>
              <a:t>Release the window resources</a:t>
            </a:r>
          </a:p>
        </p:txBody>
      </p:sp>
    </p:spTree>
    <p:extLst>
      <p:ext uri="{BB962C8B-B14F-4D97-AF65-F5344CB8AC3E}">
        <p14:creationId xmlns:p14="http://schemas.microsoft.com/office/powerpoint/2010/main" val="40311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5F1D38A5-F08A-41B4-97BE-9374B0BCDC2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01 · FRAME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A6DACC-3F71-4C05-87A6-5097130B632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One Frame Starts and Ends Here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393177F5-AEFA-4090-A588-5355AA0BB76B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D775A3-2E9A-4BEF-9FB8-5A835E2A017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Raylib Introduction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D29928-C49D-4FDD-ABA7-73C57AB36EEF}"/>
              </a:ext>
            </a:extLst>
          </p:cNvPr>
          <p:cNvSpPr>
            <a:spLocks noGrp="1"/>
          </p:cNvSpPr>
          <p:nvPr/>
        </p:nvSpPr>
        <p:spPr>
          <a:xfrm>
            <a:off x="109728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64A125-E6CF-483A-8282-2A5A02CFA3B9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64748B"/>
                </a:solidFill>
              </a:defRPr>
            </a:pPr>
            <a:r>
              <a:rPr sz="1725">
                <a:solidFill>
                  <a:srgbClr val="64748B"/>
                </a:solidFill>
              </a:rPr>
              <a:t>Everything that should appear in one frame belongs between these two calls.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811F000-A2C8-46C5-9A41-F27697B811A7}"/>
              </a:ext>
            </a:extLst>
          </p:cNvPr>
          <p:cNvSpPr>
            <a:spLocks noGrp="1"/>
          </p:cNvSpPr>
          <p:nvPr/>
        </p:nvSpPr>
        <p:spPr>
          <a:xfrm>
            <a:off x="914400" y="2974108"/>
            <a:ext cx="2667000" cy="1102592"/>
          </a:xfrm>
          <a:prstGeom prst="roundRect">
            <a:avLst>
              <a:gd name="adj" fmla="val 6667"/>
            </a:avLst>
          </a:prstGeom>
          <a:solidFill>
            <a:srgbClr val="FFF7DB"/>
          </a:solidFill>
          <a:ln w="9525">
            <a:solidFill>
              <a:srgbClr val="FFC4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8F076C-BEF6-4F75-A6D7-DE6A32687F85}"/>
              </a:ext>
            </a:extLst>
          </p:cNvPr>
          <p:cNvSpPr>
            <a:spLocks noGrp="1"/>
          </p:cNvSpPr>
          <p:nvPr/>
        </p:nvSpPr>
        <p:spPr>
          <a:xfrm>
            <a:off x="1104900" y="311467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BeginDrawing()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521D2F-877E-42D4-A0E1-18DE3031D8F8}"/>
              </a:ext>
            </a:extLst>
          </p:cNvPr>
          <p:cNvSpPr>
            <a:spLocks noGrp="1"/>
          </p:cNvSpPr>
          <p:nvPr/>
        </p:nvSpPr>
        <p:spPr>
          <a:xfrm>
            <a:off x="1238250" y="34290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start a frame</a:t>
            </a:r>
          </a:p>
          <a:p>
            <a:pPr algn="ctr"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and prepare drawing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CCC3CCE-80C4-4EA6-B8B5-754412D336C8}"/>
              </a:ext>
            </a:extLst>
          </p:cNvPr>
          <p:cNvSpPr>
            <a:spLocks noGrp="1"/>
          </p:cNvSpPr>
          <p:nvPr/>
        </p:nvSpPr>
        <p:spPr>
          <a:xfrm>
            <a:off x="4762500" y="2613890"/>
            <a:ext cx="2667000" cy="1634259"/>
          </a:xfrm>
          <a:prstGeom prst="roundRect">
            <a:avLst>
              <a:gd name="adj" fmla="val 4082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962107-8BC4-4171-89CD-85EEA564A715}"/>
              </a:ext>
            </a:extLst>
          </p:cNvPr>
          <p:cNvSpPr>
            <a:spLocks noGrp="1"/>
          </p:cNvSpPr>
          <p:nvPr/>
        </p:nvSpPr>
        <p:spPr>
          <a:xfrm>
            <a:off x="5143500" y="27813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Draw...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E237C24-4BB0-42C5-B719-0CFA7008C158}"/>
              </a:ext>
            </a:extLst>
          </p:cNvPr>
          <p:cNvSpPr>
            <a:spLocks noGrp="1"/>
          </p:cNvSpPr>
          <p:nvPr/>
        </p:nvSpPr>
        <p:spPr>
          <a:xfrm>
            <a:off x="5143500" y="3333750"/>
            <a:ext cx="1905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1F2937"/>
                </a:solidFill>
              </a:defRPr>
            </a:pPr>
            <a:r>
              <a:rPr sz="1500" dirty="0">
                <a:solidFill>
                  <a:srgbClr val="1F2937"/>
                </a:solidFill>
              </a:rPr>
              <a:t>clear the background</a:t>
            </a:r>
          </a:p>
          <a:p>
            <a:pPr algn="ctr">
              <a:defRPr sz="1500">
                <a:solidFill>
                  <a:srgbClr val="1F2937"/>
                </a:solidFill>
              </a:defRPr>
            </a:pPr>
            <a:r>
              <a:rPr sz="1500" dirty="0">
                <a:solidFill>
                  <a:srgbClr val="1F2937"/>
                </a:solidFill>
              </a:rPr>
              <a:t>draw shapes</a:t>
            </a:r>
          </a:p>
          <a:p>
            <a:pPr algn="ctr">
              <a:defRPr sz="1500">
                <a:solidFill>
                  <a:srgbClr val="1F2937"/>
                </a:solidFill>
              </a:defRPr>
            </a:pPr>
            <a:r>
              <a:rPr sz="1500" dirty="0">
                <a:solidFill>
                  <a:srgbClr val="1F2937"/>
                </a:solidFill>
              </a:rPr>
              <a:t>draw text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5519B24-A4A0-4900-BA33-71D8AECEE651}"/>
              </a:ext>
            </a:extLst>
          </p:cNvPr>
          <p:cNvSpPr>
            <a:spLocks noGrp="1"/>
          </p:cNvSpPr>
          <p:nvPr/>
        </p:nvSpPr>
        <p:spPr>
          <a:xfrm>
            <a:off x="8610600" y="2974108"/>
            <a:ext cx="2667000" cy="1102592"/>
          </a:xfrm>
          <a:prstGeom prst="roundRect">
            <a:avLst>
              <a:gd name="adj" fmla="val 6667"/>
            </a:avLst>
          </a:prstGeom>
          <a:solidFill>
            <a:srgbClr val="E8F8EE"/>
          </a:solidFill>
          <a:ln w="9525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9E9793-6903-4097-B35D-B12830F3A02E}"/>
              </a:ext>
            </a:extLst>
          </p:cNvPr>
          <p:cNvSpPr>
            <a:spLocks noGrp="1"/>
          </p:cNvSpPr>
          <p:nvPr/>
        </p:nvSpPr>
        <p:spPr>
          <a:xfrm>
            <a:off x="8801100" y="311467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EndDrawing()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C3F81C5-3E5F-4FA8-AD84-6AF05EABFAD2}"/>
              </a:ext>
            </a:extLst>
          </p:cNvPr>
          <p:cNvSpPr>
            <a:spLocks noGrp="1"/>
          </p:cNvSpPr>
          <p:nvPr/>
        </p:nvSpPr>
        <p:spPr>
          <a:xfrm>
            <a:off x="8934450" y="34290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present the frame</a:t>
            </a:r>
          </a:p>
          <a:p>
            <a:pPr algn="ctr"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and process events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A260C95B-1314-4E7F-8706-8462D174F902}"/>
              </a:ext>
            </a:extLst>
          </p:cNvPr>
          <p:cNvSpPr>
            <a:spLocks noGrp="1"/>
          </p:cNvSpPr>
          <p:nvPr/>
        </p:nvSpPr>
        <p:spPr>
          <a:xfrm>
            <a:off x="4031673" y="4797138"/>
            <a:ext cx="4128654" cy="1794162"/>
          </a:xfrm>
          <a:prstGeom prst="roundRect">
            <a:avLst>
              <a:gd name="adj" fmla="val 6557"/>
            </a:avLst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8E61C1-E710-41C4-9E74-6315D7EB4F81}"/>
              </a:ext>
            </a:extLst>
          </p:cNvPr>
          <p:cNvSpPr>
            <a:spLocks noGrp="1"/>
          </p:cNvSpPr>
          <p:nvPr/>
        </p:nvSpPr>
        <p:spPr>
          <a:xfrm>
            <a:off x="4495800" y="4993408"/>
            <a:ext cx="58674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E2E8F0"/>
                </a:solidFill>
              </a:defRPr>
            </a:pPr>
            <a:r>
              <a:rPr sz="1425" dirty="0">
                <a:solidFill>
                  <a:srgbClr val="E2E8F0"/>
                </a:solidFill>
              </a:rPr>
              <a:t>while (!</a:t>
            </a:r>
            <a:r>
              <a:rPr sz="1425" dirty="0" err="1">
                <a:solidFill>
                  <a:srgbClr val="E2E8F0"/>
                </a:solidFill>
              </a:rPr>
              <a:t>WindowShouldClose</a:t>
            </a:r>
            <a:r>
              <a:rPr sz="1425" dirty="0">
                <a:solidFill>
                  <a:srgbClr val="E2E8F0"/>
                </a:solidFill>
              </a:rPr>
              <a:t>())</a:t>
            </a:r>
          </a:p>
          <a:p>
            <a:pPr>
              <a:defRPr sz="1425">
                <a:solidFill>
                  <a:srgbClr val="E2E8F0"/>
                </a:solidFill>
              </a:defRPr>
            </a:pPr>
            <a:r>
              <a:rPr sz="1425" dirty="0">
                <a:solidFill>
                  <a:srgbClr val="E2E8F0"/>
                </a:solidFill>
              </a:rPr>
              <a:t>{</a:t>
            </a:r>
          </a:p>
          <a:p>
            <a:pPr>
              <a:defRPr sz="1425">
                <a:solidFill>
                  <a:srgbClr val="E2E8F0"/>
                </a:solidFill>
              </a:defRPr>
            </a:pPr>
            <a:r>
              <a:rPr sz="1425" dirty="0">
                <a:solidFill>
                  <a:srgbClr val="E2E8F0"/>
                </a:solidFill>
              </a:rPr>
              <a:t>    </a:t>
            </a:r>
            <a:r>
              <a:rPr sz="1425" dirty="0" err="1">
                <a:solidFill>
                  <a:srgbClr val="E2E8F0"/>
                </a:solidFill>
              </a:rPr>
              <a:t>BeginDrawing</a:t>
            </a:r>
            <a:r>
              <a:rPr sz="1425" dirty="0">
                <a:solidFill>
                  <a:srgbClr val="E2E8F0"/>
                </a:solidFill>
              </a:rPr>
              <a:t>();</a:t>
            </a:r>
          </a:p>
          <a:p>
            <a:pPr>
              <a:defRPr sz="1425">
                <a:solidFill>
                  <a:srgbClr val="E2E8F0"/>
                </a:solidFill>
              </a:defRPr>
            </a:pPr>
            <a:r>
              <a:rPr sz="1425" dirty="0">
                <a:solidFill>
                  <a:srgbClr val="E2E8F0"/>
                </a:solidFill>
              </a:rPr>
              <a:t>    // draw here</a:t>
            </a:r>
          </a:p>
          <a:p>
            <a:pPr>
              <a:defRPr sz="1425">
                <a:solidFill>
                  <a:srgbClr val="E2E8F0"/>
                </a:solidFill>
              </a:defRPr>
            </a:pPr>
            <a:r>
              <a:rPr sz="1425" dirty="0">
                <a:solidFill>
                  <a:srgbClr val="E2E8F0"/>
                </a:solidFill>
              </a:rPr>
              <a:t>    </a:t>
            </a:r>
            <a:r>
              <a:rPr sz="1425" dirty="0" err="1">
                <a:solidFill>
                  <a:srgbClr val="E2E8F0"/>
                </a:solidFill>
              </a:rPr>
              <a:t>EndDrawing</a:t>
            </a:r>
            <a:r>
              <a:rPr sz="1425" dirty="0">
                <a:solidFill>
                  <a:srgbClr val="E2E8F0"/>
                </a:solidFill>
              </a:rPr>
              <a:t>();</a:t>
            </a:r>
          </a:p>
          <a:p>
            <a:pPr>
              <a:defRPr sz="1425">
                <a:solidFill>
                  <a:srgbClr val="E2E8F0"/>
                </a:solidFill>
              </a:defRPr>
            </a:pPr>
            <a:r>
              <a:rPr sz="1425" dirty="0">
                <a:solidFill>
                  <a:srgbClr val="E2E8F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487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05C16E7A-AC86-43A2-9239-B7ACCED95EE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02 · COORDINATES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5B233D-C0BF-4946-9E4D-C978FD676350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The Window Uses Coordinates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FA8C4FBC-DBD9-444A-BD37-CA4DC7927551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AFBDA8-49B7-44B9-8898-3FE289544AB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Raylib Introduction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D02239-1A66-4401-A4F7-DAC22181C441}"/>
              </a:ext>
            </a:extLst>
          </p:cNvPr>
          <p:cNvSpPr>
            <a:spLocks noGrp="1"/>
          </p:cNvSpPr>
          <p:nvPr/>
        </p:nvSpPr>
        <p:spPr>
          <a:xfrm>
            <a:off x="109728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7FD61A-43D3-4DB5-B118-44A099E5F71A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64748B"/>
                </a:solidFill>
              </a:defRPr>
            </a:pPr>
            <a:r>
              <a:rPr sz="1725">
                <a:solidFill>
                  <a:srgbClr val="64748B"/>
                </a:solidFill>
              </a:rPr>
              <a:t>Raylib places objects using pixel coordinates. The origin is in the top-left corner.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748BFF8-D4B6-4F33-B2EE-3185E7FBCFCA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6191250" cy="314325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直線接點 7">
            <a:extLst>
              <a:ext uri="{FF2B5EF4-FFF2-40B4-BE49-F238E27FC236}">
                <a16:creationId xmlns:a16="http://schemas.microsoft.com/office/drawing/2014/main" id="{42A870F5-1120-4A23-AF4A-CB68F42AA29E}"/>
              </a:ext>
            </a:extLst>
          </p:cNvPr>
          <p:cNvSpPr>
            <a:spLocks noGrp="1"/>
          </p:cNvSpPr>
          <p:nvPr/>
        </p:nvSpPr>
        <p:spPr>
          <a:xfrm>
            <a:off x="1447800" y="3048000"/>
            <a:ext cx="4191000" cy="0"/>
          </a:xfrm>
          <a:prstGeom prst="line">
            <a:avLst/>
          </a:prstGeom>
          <a:ln w="1905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直線接點 8">
            <a:extLst>
              <a:ext uri="{FF2B5EF4-FFF2-40B4-BE49-F238E27FC236}">
                <a16:creationId xmlns:a16="http://schemas.microsoft.com/office/drawing/2014/main" id="{8736F277-756C-4375-A99C-4277DD7B0E10}"/>
              </a:ext>
            </a:extLst>
          </p:cNvPr>
          <p:cNvSpPr>
            <a:spLocks noGrp="1"/>
          </p:cNvSpPr>
          <p:nvPr/>
        </p:nvSpPr>
        <p:spPr>
          <a:xfrm>
            <a:off x="1447800" y="3048000"/>
            <a:ext cx="0" cy="1809750"/>
          </a:xfrm>
          <a:prstGeom prst="line">
            <a:avLst/>
          </a:prstGeom>
          <a:ln w="1905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FAEA0DC5-E494-4DEE-B1B8-54FF4E2D857A}"/>
              </a:ext>
            </a:extLst>
          </p:cNvPr>
          <p:cNvSpPr>
            <a:spLocks noGrp="1"/>
          </p:cNvSpPr>
          <p:nvPr/>
        </p:nvSpPr>
        <p:spPr>
          <a:xfrm>
            <a:off x="3524250" y="3857625"/>
            <a:ext cx="857250" cy="857250"/>
          </a:xfrm>
          <a:prstGeom prst="ellipse">
            <a:avLst/>
          </a:prstGeom>
          <a:solidFill>
            <a:srgbClr val="48BB78"/>
          </a:solidFill>
          <a:ln w="9525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E771D9-336F-4EDF-93E4-F1A839A1F3B5}"/>
              </a:ext>
            </a:extLst>
          </p:cNvPr>
          <p:cNvSpPr>
            <a:spLocks noGrp="1"/>
          </p:cNvSpPr>
          <p:nvPr/>
        </p:nvSpPr>
        <p:spPr>
          <a:xfrm>
            <a:off x="1009650" y="272415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(0, 0)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66E8FE-61A9-4C33-A269-F6494ED77DEE}"/>
              </a:ext>
            </a:extLst>
          </p:cNvPr>
          <p:cNvSpPr>
            <a:spLocks noGrp="1"/>
          </p:cNvSpPr>
          <p:nvPr/>
        </p:nvSpPr>
        <p:spPr>
          <a:xfrm>
            <a:off x="5572125" y="29146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x 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8EB4A3-7E45-4D9C-B052-4CC6E5797D09}"/>
              </a:ext>
            </a:extLst>
          </p:cNvPr>
          <p:cNvSpPr>
            <a:spLocks noGrp="1"/>
          </p:cNvSpPr>
          <p:nvPr/>
        </p:nvSpPr>
        <p:spPr>
          <a:xfrm>
            <a:off x="1104900" y="495300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y 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F4AF3A-37DC-45A7-99FD-F9C80AE85FAA}"/>
              </a:ext>
            </a:extLst>
          </p:cNvPr>
          <p:cNvSpPr>
            <a:spLocks noGrp="1"/>
          </p:cNvSpPr>
          <p:nvPr/>
        </p:nvSpPr>
        <p:spPr>
          <a:xfrm>
            <a:off x="3333750" y="48768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14213D"/>
                </a:solidFill>
              </a:defRPr>
            </a:pPr>
            <a:r>
              <a:rPr sz="1350">
                <a:solidFill>
                  <a:srgbClr val="14213D"/>
                </a:solidFill>
              </a:rPr>
              <a:t>(400, 220)</a:t>
            </a:r>
          </a:p>
        </p:txBody>
      </p:sp>
    </p:spTree>
    <p:extLst>
      <p:ext uri="{BB962C8B-B14F-4D97-AF65-F5344CB8AC3E}">
        <p14:creationId xmlns:p14="http://schemas.microsoft.com/office/powerpoint/2010/main" val="1316962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59700243-6847-423D-9FA4-F6623B977FA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02 · DRAWING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778F46-416C-4E48-8D9D-693E52E0354B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Draw Simple Shapes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6812B0C5-A0D9-46FD-9195-A493DF940070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7E10BB-6FB2-41C1-9100-504AAF7E338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Raylib Introduction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68FD21-A52D-4D83-9457-982976171F3E}"/>
              </a:ext>
            </a:extLst>
          </p:cNvPr>
          <p:cNvSpPr>
            <a:spLocks noGrp="1"/>
          </p:cNvSpPr>
          <p:nvPr/>
        </p:nvSpPr>
        <p:spPr>
          <a:xfrm>
            <a:off x="109728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6F06F7F-8765-474C-A4A1-D0345DEA6C06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64748B"/>
                </a:solidFill>
              </a:defRPr>
            </a:pPr>
            <a:r>
              <a:rPr sz="1725">
                <a:solidFill>
                  <a:srgbClr val="64748B"/>
                </a:solidFill>
              </a:rPr>
              <a:t>Start with a few primitives. Each function describes one thing to draw.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B96E544-82A3-4BFA-9CF8-3CB373E54C4A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5715000" cy="2266950"/>
          </a:xfrm>
          <a:prstGeom prst="roundRect">
            <a:avLst>
              <a:gd name="adj" fmla="val 3361"/>
            </a:avLst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32F6A5-CBE7-4DE9-9241-AADC3C0D44C4}"/>
              </a:ext>
            </a:extLst>
          </p:cNvPr>
          <p:cNvSpPr>
            <a:spLocks noGrp="1"/>
          </p:cNvSpPr>
          <p:nvPr/>
        </p:nvSpPr>
        <p:spPr>
          <a:xfrm>
            <a:off x="895350" y="2552700"/>
            <a:ext cx="5295900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E2E8F0"/>
                </a:solidFill>
              </a:defRPr>
            </a:pPr>
            <a:r>
              <a:rPr sz="1425" dirty="0" err="1">
                <a:solidFill>
                  <a:srgbClr val="E2E8F0"/>
                </a:solidFill>
              </a:rPr>
              <a:t>ClearBackground</a:t>
            </a:r>
            <a:r>
              <a:rPr sz="1425" dirty="0">
                <a:solidFill>
                  <a:srgbClr val="E2E8F0"/>
                </a:solidFill>
              </a:rPr>
              <a:t>(Color{24, 28, 36, 255});</a:t>
            </a:r>
            <a:r>
              <a:rPr lang="en-US" sz="1425" dirty="0">
                <a:solidFill>
                  <a:srgbClr val="E2E8F0"/>
                </a:solidFill>
              </a:rPr>
              <a:t> //paint the wall</a:t>
            </a:r>
            <a:endParaRPr sz="1425" dirty="0">
              <a:solidFill>
                <a:srgbClr val="E2E8F0"/>
              </a:solidFill>
            </a:endParaRPr>
          </a:p>
          <a:p>
            <a:pPr>
              <a:defRPr sz="1425">
                <a:solidFill>
                  <a:srgbClr val="E2E8F0"/>
                </a:solidFill>
              </a:defRPr>
            </a:pPr>
            <a:r>
              <a:rPr sz="1425" dirty="0" err="1">
                <a:solidFill>
                  <a:srgbClr val="E2E8F0"/>
                </a:solidFill>
              </a:rPr>
              <a:t>DrawLine</a:t>
            </a:r>
            <a:r>
              <a:rPr sz="1425" dirty="0">
                <a:solidFill>
                  <a:srgbClr val="E2E8F0"/>
                </a:solidFill>
              </a:rPr>
              <a:t>(80, 80, 420, 200, YELLOW);</a:t>
            </a:r>
          </a:p>
          <a:p>
            <a:pPr>
              <a:defRPr sz="1425">
                <a:solidFill>
                  <a:srgbClr val="E2E8F0"/>
                </a:solidFill>
              </a:defRPr>
            </a:pPr>
            <a:r>
              <a:rPr sz="1425" dirty="0" err="1">
                <a:solidFill>
                  <a:srgbClr val="E2E8F0"/>
                </a:solidFill>
              </a:rPr>
              <a:t>DrawCircleV</a:t>
            </a:r>
            <a:r>
              <a:rPr sz="1425" dirty="0">
                <a:solidFill>
                  <a:srgbClr val="E2E8F0"/>
                </a:solidFill>
              </a:rPr>
              <a:t>({</a:t>
            </a:r>
            <a:r>
              <a:rPr lang="en-US" sz="1425" dirty="0">
                <a:solidFill>
                  <a:srgbClr val="E2E8F0"/>
                </a:solidFill>
              </a:rPr>
              <a:t>18</a:t>
            </a:r>
            <a:r>
              <a:rPr sz="1425" dirty="0">
                <a:solidFill>
                  <a:srgbClr val="E2E8F0"/>
                </a:solidFill>
              </a:rPr>
              <a:t>0, </a:t>
            </a:r>
            <a:r>
              <a:rPr lang="en-US" sz="1425" dirty="0">
                <a:solidFill>
                  <a:srgbClr val="E2E8F0"/>
                </a:solidFill>
              </a:rPr>
              <a:t>12</a:t>
            </a:r>
            <a:r>
              <a:rPr sz="1425" dirty="0">
                <a:solidFill>
                  <a:srgbClr val="E2E8F0"/>
                </a:solidFill>
              </a:rPr>
              <a:t>0}, 70.0f, GREEN);</a:t>
            </a:r>
          </a:p>
          <a:p>
            <a:pPr>
              <a:defRPr sz="1425">
                <a:solidFill>
                  <a:srgbClr val="E2E8F0"/>
                </a:solidFill>
              </a:defRPr>
            </a:pPr>
            <a:r>
              <a:rPr sz="1425" dirty="0" err="1">
                <a:solidFill>
                  <a:srgbClr val="E2E8F0"/>
                </a:solidFill>
              </a:rPr>
              <a:t>DrawRectangle</a:t>
            </a:r>
            <a:r>
              <a:rPr sz="1425" dirty="0">
                <a:solidFill>
                  <a:srgbClr val="E2E8F0"/>
                </a:solidFill>
              </a:rPr>
              <a:t>(880, 140, 180, 180, BLUE);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52C4A03-561A-4FD0-AF52-9C2630F28607}"/>
              </a:ext>
            </a:extLst>
          </p:cNvPr>
          <p:cNvSpPr>
            <a:spLocks noGrp="1"/>
          </p:cNvSpPr>
          <p:nvPr/>
        </p:nvSpPr>
        <p:spPr>
          <a:xfrm>
            <a:off x="7239000" y="2381250"/>
            <a:ext cx="4000500" cy="2266950"/>
          </a:xfrm>
          <a:prstGeom prst="roundRect">
            <a:avLst>
              <a:gd name="adj" fmla="val 3361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5A9812BD-EDB0-4703-8DDE-C01B394535A8}"/>
              </a:ext>
            </a:extLst>
          </p:cNvPr>
          <p:cNvSpPr>
            <a:spLocks noGrp="1"/>
          </p:cNvSpPr>
          <p:nvPr/>
        </p:nvSpPr>
        <p:spPr>
          <a:xfrm>
            <a:off x="7658100" y="3028950"/>
            <a:ext cx="1428750" cy="647700"/>
          </a:xfrm>
          <a:prstGeom prst="line">
            <a:avLst/>
          </a:prstGeom>
          <a:ln w="47625">
            <a:solidFill>
              <a:srgbClr val="FFC4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928287D-51BF-41CD-BD60-2C6F0AB25AB2}"/>
              </a:ext>
            </a:extLst>
          </p:cNvPr>
          <p:cNvSpPr>
            <a:spLocks noGrp="1"/>
          </p:cNvSpPr>
          <p:nvPr/>
        </p:nvSpPr>
        <p:spPr>
          <a:xfrm>
            <a:off x="7881937" y="3114675"/>
            <a:ext cx="857250" cy="857250"/>
          </a:xfrm>
          <a:prstGeom prst="ellipse">
            <a:avLst/>
          </a:prstGeom>
          <a:solidFill>
            <a:srgbClr val="48BB78"/>
          </a:solidFill>
          <a:ln w="9525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6F6450-113A-498D-BBAB-E3DC2D0EB372}"/>
              </a:ext>
            </a:extLst>
          </p:cNvPr>
          <p:cNvSpPr>
            <a:spLocks noGrp="1"/>
          </p:cNvSpPr>
          <p:nvPr/>
        </p:nvSpPr>
        <p:spPr>
          <a:xfrm>
            <a:off x="9810750" y="3143250"/>
            <a:ext cx="857250" cy="857250"/>
          </a:xfrm>
          <a:prstGeom prst="rect">
            <a:avLst/>
          </a:prstGeom>
          <a:solidFill>
            <a:srgbClr val="63B3ED"/>
          </a:solidFill>
          <a:ln w="9525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DD8DF96-2198-4766-A319-C79D98CAB079}"/>
              </a:ext>
            </a:extLst>
          </p:cNvPr>
          <p:cNvSpPr>
            <a:spLocks noGrp="1"/>
          </p:cNvSpPr>
          <p:nvPr/>
        </p:nvSpPr>
        <p:spPr>
          <a:xfrm>
            <a:off x="7381875" y="2552700"/>
            <a:ext cx="1000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DrawLine()</a:t>
            </a:r>
          </a:p>
          <a:p>
            <a:pPr algn="ctr"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connects two points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972D50-34DF-4622-9EA2-3579EA67DB0F}"/>
              </a:ext>
            </a:extLst>
          </p:cNvPr>
          <p:cNvSpPr>
            <a:spLocks noGrp="1"/>
          </p:cNvSpPr>
          <p:nvPr/>
        </p:nvSpPr>
        <p:spPr>
          <a:xfrm>
            <a:off x="8572500" y="2552700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DrawCircleV()</a:t>
            </a:r>
          </a:p>
          <a:p>
            <a:pPr algn="ctr"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center + radius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35E479-EF88-4946-BD99-29CAB3FEF806}"/>
              </a:ext>
            </a:extLst>
          </p:cNvPr>
          <p:cNvSpPr>
            <a:spLocks noGrp="1"/>
          </p:cNvSpPr>
          <p:nvPr/>
        </p:nvSpPr>
        <p:spPr>
          <a:xfrm>
            <a:off x="9906000" y="2552700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DrawRectangle()</a:t>
            </a:r>
          </a:p>
          <a:p>
            <a:pPr algn="ctr"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position + size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BDE3D1C-5FF1-46DB-BE05-30711972CDF4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ClearBackground() resets the frame before the other draw calls.</a:t>
            </a:r>
          </a:p>
        </p:txBody>
      </p:sp>
    </p:spTree>
    <p:extLst>
      <p:ext uri="{BB962C8B-B14F-4D97-AF65-F5344CB8AC3E}">
        <p14:creationId xmlns:p14="http://schemas.microsoft.com/office/powerpoint/2010/main" val="443546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9C904A8-886D-49D5-978D-5554854F712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03 · MOUSE STATE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3ED227-657C-45EB-BC02-5672105C2F3A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Read the Mouse Position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7F90C1FB-0E2E-4DB9-A72C-B5ACABBFF6A7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488352-5CC2-40AA-9542-FC6A70DEEAA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Raylib Introduction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B4A68D9-AF16-4FFE-873D-99A75179BA70}"/>
              </a:ext>
            </a:extLst>
          </p:cNvPr>
          <p:cNvSpPr>
            <a:spLocks noGrp="1"/>
          </p:cNvSpPr>
          <p:nvPr/>
        </p:nvSpPr>
        <p:spPr>
          <a:xfrm>
            <a:off x="109728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D6E93D-1A0D-420D-AE2A-047AD93DF69C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64748B"/>
                </a:solidFill>
              </a:defRPr>
            </a:pPr>
            <a:r>
              <a:rPr sz="1725">
                <a:solidFill>
                  <a:srgbClr val="64748B"/>
                </a:solidFill>
              </a:rPr>
              <a:t>GetMousePosition() gives us the cursor location for the current frame.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E262A42-0897-443B-AB65-9CC8B4837449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4953000" cy="2462068"/>
          </a:xfrm>
          <a:prstGeom prst="roundRect">
            <a:avLst>
              <a:gd name="adj" fmla="val 3200"/>
            </a:avLst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E63473-6998-4A93-ACAF-1CCE9A4F0579}"/>
              </a:ext>
            </a:extLst>
          </p:cNvPr>
          <p:cNvSpPr>
            <a:spLocks noGrp="1"/>
          </p:cNvSpPr>
          <p:nvPr/>
        </p:nvSpPr>
        <p:spPr>
          <a:xfrm>
            <a:off x="1085850" y="2743200"/>
            <a:ext cx="453390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E2E8F0"/>
                </a:solidFill>
              </a:defRPr>
            </a:pPr>
            <a:r>
              <a:rPr sz="1425" dirty="0">
                <a:solidFill>
                  <a:srgbClr val="E2E8F0"/>
                </a:solidFill>
              </a:rPr>
              <a:t>const Vector2 </a:t>
            </a:r>
            <a:r>
              <a:rPr sz="1425" dirty="0" err="1">
                <a:solidFill>
                  <a:srgbClr val="E2E8F0"/>
                </a:solidFill>
              </a:rPr>
              <a:t>mouse_position</a:t>
            </a:r>
            <a:r>
              <a:rPr sz="1425" dirty="0">
                <a:solidFill>
                  <a:srgbClr val="E2E8F0"/>
                </a:solidFill>
              </a:rPr>
              <a:t>= </a:t>
            </a:r>
            <a:r>
              <a:rPr sz="1425" dirty="0" err="1">
                <a:solidFill>
                  <a:srgbClr val="E2E8F0"/>
                </a:solidFill>
              </a:rPr>
              <a:t>GetMousePosition</a:t>
            </a:r>
            <a:r>
              <a:rPr sz="1425" dirty="0">
                <a:solidFill>
                  <a:srgbClr val="E2E8F0"/>
                </a:solidFill>
              </a:rPr>
              <a:t>();</a:t>
            </a:r>
          </a:p>
          <a:p>
            <a:endParaRPr sz="1425" dirty="0">
              <a:solidFill>
                <a:srgbClr val="E2E8F0"/>
              </a:solidFill>
            </a:endParaRPr>
          </a:p>
          <a:p>
            <a:pPr>
              <a:defRPr sz="1425">
                <a:solidFill>
                  <a:srgbClr val="E2E8F0"/>
                </a:solidFill>
              </a:defRPr>
            </a:pPr>
            <a:r>
              <a:rPr sz="1425" dirty="0" err="1">
                <a:solidFill>
                  <a:srgbClr val="E2E8F0"/>
                </a:solidFill>
              </a:rPr>
              <a:t>DrawCircleV</a:t>
            </a:r>
            <a:r>
              <a:rPr sz="1425" dirty="0">
                <a:solidFill>
                  <a:srgbClr val="E2E8F0"/>
                </a:solidFill>
              </a:rPr>
              <a:t>(mouse_position,70.0f, GREEN);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B0D673B-857E-43DF-80AC-3BFA62BF7690}"/>
              </a:ext>
            </a:extLst>
          </p:cNvPr>
          <p:cNvSpPr>
            <a:spLocks noGrp="1"/>
          </p:cNvSpPr>
          <p:nvPr/>
        </p:nvSpPr>
        <p:spPr>
          <a:xfrm>
            <a:off x="6858000" y="2571750"/>
            <a:ext cx="3905250" cy="238125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F20CE9E-8196-4C48-BF42-974DD002CA5E}"/>
              </a:ext>
            </a:extLst>
          </p:cNvPr>
          <p:cNvSpPr>
            <a:spLocks noGrp="1"/>
          </p:cNvSpPr>
          <p:nvPr/>
        </p:nvSpPr>
        <p:spPr>
          <a:xfrm>
            <a:off x="8267700" y="3352800"/>
            <a:ext cx="876300" cy="876300"/>
          </a:xfrm>
          <a:prstGeom prst="ellipse">
            <a:avLst/>
          </a:prstGeom>
          <a:solidFill>
            <a:srgbClr val="48BB78"/>
          </a:solidFill>
          <a:ln w="9525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直線接點 10">
            <a:extLst>
              <a:ext uri="{FF2B5EF4-FFF2-40B4-BE49-F238E27FC236}">
                <a16:creationId xmlns:a16="http://schemas.microsoft.com/office/drawing/2014/main" id="{3DFFE2D4-FEF7-410F-8591-8D686C230FB5}"/>
              </a:ext>
            </a:extLst>
          </p:cNvPr>
          <p:cNvSpPr>
            <a:spLocks noGrp="1"/>
          </p:cNvSpPr>
          <p:nvPr/>
        </p:nvSpPr>
        <p:spPr>
          <a:xfrm>
            <a:off x="8705850" y="3048000"/>
            <a:ext cx="0" cy="1476375"/>
          </a:xfrm>
          <a:prstGeom prst="line">
            <a:avLst/>
          </a:prstGeom>
          <a:ln w="952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直線接點 11">
            <a:extLst>
              <a:ext uri="{FF2B5EF4-FFF2-40B4-BE49-F238E27FC236}">
                <a16:creationId xmlns:a16="http://schemas.microsoft.com/office/drawing/2014/main" id="{2D0A5BF8-660E-4421-8394-0070BD719E19}"/>
              </a:ext>
            </a:extLst>
          </p:cNvPr>
          <p:cNvSpPr>
            <a:spLocks noGrp="1"/>
          </p:cNvSpPr>
          <p:nvPr/>
        </p:nvSpPr>
        <p:spPr>
          <a:xfrm>
            <a:off x="7715250" y="3790950"/>
            <a:ext cx="2000250" cy="0"/>
          </a:xfrm>
          <a:prstGeom prst="line">
            <a:avLst/>
          </a:prstGeom>
          <a:ln w="952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767E95-110C-432E-A10F-B1F66EA482EE}"/>
              </a:ext>
            </a:extLst>
          </p:cNvPr>
          <p:cNvSpPr>
            <a:spLocks noGrp="1"/>
          </p:cNvSpPr>
          <p:nvPr/>
        </p:nvSpPr>
        <p:spPr>
          <a:xfrm>
            <a:off x="7334250" y="4476750"/>
            <a:ext cx="295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the circle follows the cursor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1DF21B1-CF31-4F3A-9316-5AB072A10792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This is a state we can read every frame.</a:t>
            </a:r>
          </a:p>
        </p:txBody>
      </p:sp>
    </p:spTree>
    <p:extLst>
      <p:ext uri="{BB962C8B-B14F-4D97-AF65-F5344CB8AC3E}">
        <p14:creationId xmlns:p14="http://schemas.microsoft.com/office/powerpoint/2010/main" val="501949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88FF29E1-CD6A-4ABD-8C05-71ABF786A33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03 · MOUSE EVENT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FDCD55-A448-41EE-8CC3-9F667E66A3FD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React to a Mouse Click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6E0BCA1F-74DE-451F-A7CA-5D4B4BCD11DC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C6D994-809B-4DB3-B430-03FB15BB2E1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Raylib Introduction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7C392B-EB98-4A21-BB02-78B2DD58FFD9}"/>
              </a:ext>
            </a:extLst>
          </p:cNvPr>
          <p:cNvSpPr>
            <a:spLocks noGrp="1"/>
          </p:cNvSpPr>
          <p:nvPr/>
        </p:nvSpPr>
        <p:spPr>
          <a:xfrm>
            <a:off x="109728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BC2F11-D766-4E4D-A2D9-19BBA0B85BEC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64748B"/>
                </a:solidFill>
              </a:defRPr>
            </a:pPr>
            <a:r>
              <a:rPr sz="1725">
                <a:solidFill>
                  <a:srgbClr val="64748B"/>
                </a:solidFill>
              </a:rPr>
              <a:t>A click is different from a position: it happens once, on the frame where it is pressed.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0C74341-0FFD-4CE9-ABE0-E8D3A6294E03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6191250" cy="1619250"/>
          </a:xfrm>
          <a:prstGeom prst="roundRect">
            <a:avLst>
              <a:gd name="adj" fmla="val 4706"/>
            </a:avLst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117A75-CFB5-4728-9CBD-0F87AE9EE0D1}"/>
              </a:ext>
            </a:extLst>
          </p:cNvPr>
          <p:cNvSpPr>
            <a:spLocks noGrp="1"/>
          </p:cNvSpPr>
          <p:nvPr/>
        </p:nvSpPr>
        <p:spPr>
          <a:xfrm>
            <a:off x="1085850" y="2838450"/>
            <a:ext cx="57721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E2E8F0"/>
                </a:solidFill>
              </a:defRPr>
            </a:pPr>
            <a:r>
              <a:rPr sz="1425" dirty="0">
                <a:solidFill>
                  <a:srgbClr val="E2E8F0"/>
                </a:solidFill>
              </a:rPr>
              <a:t>if (</a:t>
            </a:r>
            <a:r>
              <a:rPr sz="1425" dirty="0" err="1">
                <a:solidFill>
                  <a:srgbClr val="E2E8F0"/>
                </a:solidFill>
              </a:rPr>
              <a:t>IsMouseButtonPressed</a:t>
            </a:r>
            <a:r>
              <a:rPr sz="1425" dirty="0">
                <a:solidFill>
                  <a:srgbClr val="E2E8F0"/>
                </a:solidFill>
              </a:rPr>
              <a:t>(MOUSE_BUTTON_LEFT))</a:t>
            </a:r>
          </a:p>
          <a:p>
            <a:pPr>
              <a:defRPr sz="1425">
                <a:solidFill>
                  <a:srgbClr val="E2E8F0"/>
                </a:solidFill>
              </a:defRPr>
            </a:pPr>
            <a:r>
              <a:rPr sz="1425" dirty="0">
                <a:solidFill>
                  <a:srgbClr val="E2E8F0"/>
                </a:solidFill>
              </a:rPr>
              <a:t>{</a:t>
            </a:r>
          </a:p>
          <a:p>
            <a:pPr>
              <a:defRPr sz="1425">
                <a:solidFill>
                  <a:srgbClr val="E2E8F0"/>
                </a:solidFill>
              </a:defRPr>
            </a:pPr>
            <a:r>
              <a:rPr sz="1425" dirty="0">
                <a:solidFill>
                  <a:srgbClr val="E2E8F0"/>
                </a:solidFill>
              </a:rPr>
              <a:t>    std::</a:t>
            </a:r>
            <a:r>
              <a:rPr sz="1425" dirty="0" err="1">
                <a:solidFill>
                  <a:srgbClr val="E2E8F0"/>
                </a:solidFill>
              </a:rPr>
              <a:t>cout</a:t>
            </a:r>
            <a:r>
              <a:rPr sz="1425" dirty="0">
                <a:solidFill>
                  <a:srgbClr val="E2E8F0"/>
                </a:solidFill>
              </a:rPr>
              <a:t> &lt;&lt; "Mouse clicked";</a:t>
            </a:r>
          </a:p>
          <a:p>
            <a:pPr>
              <a:defRPr sz="1425">
                <a:solidFill>
                  <a:srgbClr val="E2E8F0"/>
                </a:solidFill>
              </a:defRPr>
            </a:pPr>
            <a:r>
              <a:rPr sz="1425" dirty="0">
                <a:solidFill>
                  <a:srgbClr val="E2E8F0"/>
                </a:solidFill>
              </a:rPr>
              <a:t>}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5750650-9E36-46A3-99BF-AFF6CE5C84FC}"/>
              </a:ext>
            </a:extLst>
          </p:cNvPr>
          <p:cNvSpPr>
            <a:spLocks noGrp="1"/>
          </p:cNvSpPr>
          <p:nvPr/>
        </p:nvSpPr>
        <p:spPr>
          <a:xfrm>
            <a:off x="7810500" y="2667000"/>
            <a:ext cx="2857500" cy="1619250"/>
          </a:xfrm>
          <a:prstGeom prst="roundRect">
            <a:avLst>
              <a:gd name="adj" fmla="val 4706"/>
            </a:avLst>
          </a:prstGeom>
          <a:solidFill>
            <a:srgbClr val="FFF7DB"/>
          </a:solidFill>
          <a:ln w="9525">
            <a:solidFill>
              <a:srgbClr val="FFC4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0D5B11-0E5B-4610-BB10-DD2111431F08}"/>
              </a:ext>
            </a:extLst>
          </p:cNvPr>
          <p:cNvSpPr>
            <a:spLocks noGrp="1"/>
          </p:cNvSpPr>
          <p:nvPr/>
        </p:nvSpPr>
        <p:spPr>
          <a:xfrm>
            <a:off x="8096250" y="29718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POSITION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A1C0C2-F389-4B55-BC4C-077D35131349}"/>
              </a:ext>
            </a:extLst>
          </p:cNvPr>
          <p:cNvSpPr>
            <a:spLocks noGrp="1"/>
          </p:cNvSpPr>
          <p:nvPr/>
        </p:nvSpPr>
        <p:spPr>
          <a:xfrm>
            <a:off x="8096250" y="32861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continuous state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1CE5D74-FC3B-4C94-B11F-B0F98C117568}"/>
              </a:ext>
            </a:extLst>
          </p:cNvPr>
          <p:cNvSpPr>
            <a:spLocks noGrp="1"/>
          </p:cNvSpPr>
          <p:nvPr/>
        </p:nvSpPr>
        <p:spPr>
          <a:xfrm>
            <a:off x="8096250" y="3657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CLICK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CDB769-7921-47B2-8237-2E97F513B326}"/>
              </a:ext>
            </a:extLst>
          </p:cNvPr>
          <p:cNvSpPr>
            <a:spLocks noGrp="1"/>
          </p:cNvSpPr>
          <p:nvPr/>
        </p:nvSpPr>
        <p:spPr>
          <a:xfrm>
            <a:off x="8096250" y="39719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one-time event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491EF3-FC6A-4BF3-BD20-57B73E65C544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The terminal output makes the invisible input event visible.</a:t>
            </a:r>
          </a:p>
        </p:txBody>
      </p:sp>
    </p:spTree>
    <p:extLst>
      <p:ext uri="{BB962C8B-B14F-4D97-AF65-F5344CB8AC3E}">
        <p14:creationId xmlns:p14="http://schemas.microsoft.com/office/powerpoint/2010/main" val="2087739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68482373-D9AB-4415-8BAB-DC6C941D6A0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WRAP-UP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8AEAA0-997E-4340-A91D-34FF7A99DCD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What We Learned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638B6C66-977B-4D45-B688-F3154527D347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EC7BBC-702A-4860-B777-2D533599876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Raylib Introduction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622DED-D26F-4CDE-AD61-236B268169DE}"/>
              </a:ext>
            </a:extLst>
          </p:cNvPr>
          <p:cNvSpPr>
            <a:spLocks noGrp="1"/>
          </p:cNvSpPr>
          <p:nvPr/>
        </p:nvSpPr>
        <p:spPr>
          <a:xfrm>
            <a:off x="109728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F55E23-96A7-485F-913B-F3606A94EEFE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64748B"/>
                </a:solidFill>
              </a:defRPr>
            </a:pPr>
            <a:r>
              <a:rPr sz="1725">
                <a:solidFill>
                  <a:srgbClr val="64748B"/>
                </a:solidFill>
              </a:rPr>
              <a:t>A small raylib program has a simple, repeatable shape: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86967EC-C3D6-497A-996D-68133DB352A8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4762500" cy="104775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981A3605-FF11-404F-96CC-9690D0B095D8}"/>
              </a:ext>
            </a:extLst>
          </p:cNvPr>
          <p:cNvSpPr>
            <a:spLocks noGrp="1"/>
          </p:cNvSpPr>
          <p:nvPr/>
        </p:nvSpPr>
        <p:spPr>
          <a:xfrm>
            <a:off x="895350" y="2743200"/>
            <a:ext cx="495300" cy="495300"/>
          </a:xfrm>
          <a:prstGeom prst="ellipse">
            <a:avLst/>
          </a:prstGeom>
          <a:solidFill>
            <a:srgbClr val="FFC43D"/>
          </a:solidFill>
          <a:ln w="9525">
            <a:solidFill>
              <a:srgbClr val="FFC4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4E7204-DEE8-477E-AA01-E076AC75B6F9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495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F841C3-A052-4DF9-A235-03157BD93742}"/>
              </a:ext>
            </a:extLst>
          </p:cNvPr>
          <p:cNvSpPr>
            <a:spLocks noGrp="1"/>
          </p:cNvSpPr>
          <p:nvPr/>
        </p:nvSpPr>
        <p:spPr>
          <a:xfrm>
            <a:off x="1619250" y="2686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Window lifecycle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CD8240-371F-4AFC-805B-92636FA31001}"/>
              </a:ext>
            </a:extLst>
          </p:cNvPr>
          <p:cNvSpPr>
            <a:spLocks noGrp="1"/>
          </p:cNvSpPr>
          <p:nvPr/>
        </p:nvSpPr>
        <p:spPr>
          <a:xfrm>
            <a:off x="1619250" y="30480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initialize → loop → close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CB8363CA-3BEF-473B-91B3-C773816142C2}"/>
              </a:ext>
            </a:extLst>
          </p:cNvPr>
          <p:cNvSpPr>
            <a:spLocks noGrp="1"/>
          </p:cNvSpPr>
          <p:nvPr/>
        </p:nvSpPr>
        <p:spPr>
          <a:xfrm>
            <a:off x="6019800" y="2476500"/>
            <a:ext cx="4762500" cy="104775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0E067E3-49E7-4F3D-8BF5-CD27E9F49F1E}"/>
              </a:ext>
            </a:extLst>
          </p:cNvPr>
          <p:cNvSpPr>
            <a:spLocks noGrp="1"/>
          </p:cNvSpPr>
          <p:nvPr/>
        </p:nvSpPr>
        <p:spPr>
          <a:xfrm>
            <a:off x="6229350" y="2743200"/>
            <a:ext cx="495300" cy="495300"/>
          </a:xfrm>
          <a:prstGeom prst="ellipse">
            <a:avLst/>
          </a:prstGeom>
          <a:solidFill>
            <a:srgbClr val="48BB78"/>
          </a:solidFill>
          <a:ln w="9525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031684-0E6A-4873-A6F4-F59A648AC6E7}"/>
              </a:ext>
            </a:extLst>
          </p:cNvPr>
          <p:cNvSpPr>
            <a:spLocks noGrp="1"/>
          </p:cNvSpPr>
          <p:nvPr/>
        </p:nvSpPr>
        <p:spPr>
          <a:xfrm>
            <a:off x="6229350" y="2857500"/>
            <a:ext cx="495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02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5191B0-63E1-4B0E-A52A-B3923F769C4C}"/>
              </a:ext>
            </a:extLst>
          </p:cNvPr>
          <p:cNvSpPr>
            <a:spLocks noGrp="1"/>
          </p:cNvSpPr>
          <p:nvPr/>
        </p:nvSpPr>
        <p:spPr>
          <a:xfrm>
            <a:off x="6953250" y="2686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Frame loop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8FDB4DB-04AB-45C8-B3C5-0D7ACFA1D43C}"/>
              </a:ext>
            </a:extLst>
          </p:cNvPr>
          <p:cNvSpPr>
            <a:spLocks noGrp="1"/>
          </p:cNvSpPr>
          <p:nvPr/>
        </p:nvSpPr>
        <p:spPr>
          <a:xfrm>
            <a:off x="6953250" y="30480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begin → draw → end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F019B97-9490-490C-A199-BCBC07E72834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4762500" cy="104775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11D1F96-2F4B-4A2B-9E83-A17058BA58F5}"/>
              </a:ext>
            </a:extLst>
          </p:cNvPr>
          <p:cNvSpPr>
            <a:spLocks noGrp="1"/>
          </p:cNvSpPr>
          <p:nvPr/>
        </p:nvSpPr>
        <p:spPr>
          <a:xfrm>
            <a:off x="895350" y="4171950"/>
            <a:ext cx="495300" cy="495300"/>
          </a:xfrm>
          <a:prstGeom prst="ellipse">
            <a:avLst/>
          </a:prstGeom>
          <a:solidFill>
            <a:srgbClr val="63B3ED"/>
          </a:solidFill>
          <a:ln w="9525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8547F3-E217-4659-8BD1-EFA6D0EB18E5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495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7FFA56B-AD4A-476B-BDBB-2C42A3A4D229}"/>
              </a:ext>
            </a:extLst>
          </p:cNvPr>
          <p:cNvSpPr>
            <a:spLocks noGrp="1"/>
          </p:cNvSpPr>
          <p:nvPr/>
        </p:nvSpPr>
        <p:spPr>
          <a:xfrm>
            <a:off x="1619250" y="411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Drawing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11BFAFA-2064-4F01-884B-92AB161CF32D}"/>
              </a:ext>
            </a:extLst>
          </p:cNvPr>
          <p:cNvSpPr>
            <a:spLocks noGrp="1"/>
          </p:cNvSpPr>
          <p:nvPr/>
        </p:nvSpPr>
        <p:spPr>
          <a:xfrm>
            <a:off x="1619250" y="44767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coordinates + simple shapes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0BE22D60-2E02-41FD-AAA6-2A971787E58D}"/>
              </a:ext>
            </a:extLst>
          </p:cNvPr>
          <p:cNvSpPr>
            <a:spLocks noGrp="1"/>
          </p:cNvSpPr>
          <p:nvPr/>
        </p:nvSpPr>
        <p:spPr>
          <a:xfrm>
            <a:off x="6019800" y="3905250"/>
            <a:ext cx="4762500" cy="104775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30BC67B5-3E93-4D43-8950-F0751338458D}"/>
              </a:ext>
            </a:extLst>
          </p:cNvPr>
          <p:cNvSpPr>
            <a:spLocks noGrp="1"/>
          </p:cNvSpPr>
          <p:nvPr/>
        </p:nvSpPr>
        <p:spPr>
          <a:xfrm>
            <a:off x="6229350" y="4171950"/>
            <a:ext cx="495300" cy="495300"/>
          </a:xfrm>
          <a:prstGeom prst="ellipse">
            <a:avLst/>
          </a:prstGeom>
          <a:solidFill>
            <a:srgbClr val="A78BFA"/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3471B72-765D-4C98-9CBC-9AD155AF9AE9}"/>
              </a:ext>
            </a:extLst>
          </p:cNvPr>
          <p:cNvSpPr>
            <a:spLocks noGrp="1"/>
          </p:cNvSpPr>
          <p:nvPr/>
        </p:nvSpPr>
        <p:spPr>
          <a:xfrm>
            <a:off x="6229350" y="4286250"/>
            <a:ext cx="495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04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CE5AED3-BD0F-4584-8B01-CA7EAF9E0628}"/>
              </a:ext>
            </a:extLst>
          </p:cNvPr>
          <p:cNvSpPr>
            <a:spLocks noGrp="1"/>
          </p:cNvSpPr>
          <p:nvPr/>
        </p:nvSpPr>
        <p:spPr>
          <a:xfrm>
            <a:off x="6953250" y="411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4213D"/>
                </a:solidFill>
              </a:defRPr>
            </a:pPr>
            <a:r>
              <a:rPr sz="1800" b="1" dirty="0">
                <a:solidFill>
                  <a:srgbClr val="14213D"/>
                </a:solidFill>
              </a:rPr>
              <a:t>Mouse input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F249487-A611-4266-93A9-BC94F8DA42C7}"/>
              </a:ext>
            </a:extLst>
          </p:cNvPr>
          <p:cNvSpPr>
            <a:spLocks noGrp="1"/>
          </p:cNvSpPr>
          <p:nvPr/>
        </p:nvSpPr>
        <p:spPr>
          <a:xfrm>
            <a:off x="6953250" y="44767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state + click event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E559F97-72A7-4ED6-857F-9BC5A2D1FBAF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We are not introducing Input → Update → Render yet.</a:t>
            </a:r>
          </a:p>
        </p:txBody>
      </p:sp>
    </p:spTree>
    <p:extLst>
      <p:ext uri="{BB962C8B-B14F-4D97-AF65-F5344CB8AC3E}">
        <p14:creationId xmlns:p14="http://schemas.microsoft.com/office/powerpoint/2010/main" val="897801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05BACE9E-7A8E-4282-A946-8C72F99D562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OPTIONAL · ONLY IF WE HAVE TIME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1CFA4D-3D75-42B0-85E4-115DFE8321C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Optional Challenge: Complete Example</a:t>
            </a:r>
          </a:p>
        </p:txBody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A812F60F-BFE1-4039-82D1-C1D33F02C4A8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574911-0F7B-4B1C-B05E-BFB00F8F3B7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Club · Raylib Introduction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E2B5C4-B438-4442-8822-2A36B4054E6C}"/>
              </a:ext>
            </a:extLst>
          </p:cNvPr>
          <p:cNvSpPr>
            <a:spLocks noGrp="1"/>
          </p:cNvSpPr>
          <p:nvPr/>
        </p:nvSpPr>
        <p:spPr>
          <a:xfrm>
            <a:off x="109728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B291E87-E48C-4816-A956-3B51B4BFF113}"/>
              </a:ext>
            </a:extLst>
          </p:cNvPr>
          <p:cNvSpPr>
            <a:spLocks noGrp="1"/>
          </p:cNvSpPr>
          <p:nvPr/>
        </p:nvSpPr>
        <p:spPr>
          <a:xfrm>
            <a:off x="2142836" y="1562102"/>
            <a:ext cx="7906328" cy="1571623"/>
          </a:xfrm>
          <a:prstGeom prst="roundRect">
            <a:avLst>
              <a:gd name="adj" fmla="val 8696"/>
            </a:avLst>
          </a:prstGeom>
          <a:solidFill>
            <a:srgbClr val="FFF7DB"/>
          </a:solidFill>
          <a:ln w="9525">
            <a:solidFill>
              <a:srgbClr val="FFC43D"/>
            </a:solidFill>
            <a:prstDash val="solid"/>
          </a:ln>
        </p:spPr>
        <p:txBody>
          <a:bodyPr/>
          <a:lstStyle/>
          <a:p>
            <a:r>
              <a:rPr lang="en-US" altLang="zh-CN" dirty="0"/>
              <a:t>    </a:t>
            </a:r>
            <a:r>
              <a:rPr lang="zh-CN" altLang="zh-CN" sz="1600" dirty="0"/>
              <a:t>const int font_size = 30;</a:t>
            </a:r>
          </a:p>
          <a:p>
            <a:r>
              <a:rPr lang="zh-CN" altLang="zh-CN" sz="1600" dirty="0"/>
              <a:t>    </a:t>
            </a:r>
            <a:r>
              <a:rPr lang="en-US" altLang="zh-CN" sz="1600" dirty="0"/>
              <a:t> </a:t>
            </a:r>
            <a:r>
              <a:rPr lang="zh-CN" altLang="zh-CN" sz="1600" dirty="0"/>
              <a:t>const char* FollowText = "Raylib“</a:t>
            </a:r>
            <a:br>
              <a:rPr lang="en-US" altLang="zh-CN" sz="1600" dirty="0"/>
            </a:br>
            <a:r>
              <a:rPr lang="zh-CN" altLang="zh-CN" sz="1600" dirty="0"/>
              <a:t>    const int text_width = MeasureText(FollowText, font_size);</a:t>
            </a:r>
          </a:p>
          <a:p>
            <a:r>
              <a:rPr lang="zh-CN" altLang="zh-CN" sz="1600" dirty="0"/>
              <a:t>    const int text_x = (window_width - text_width) / 2;</a:t>
            </a:r>
          </a:p>
          <a:p>
            <a:r>
              <a:rPr lang="zh-CN" altLang="zh-CN" sz="1600" dirty="0"/>
              <a:t>    const int text_y = (window_height - font_size) / 2;</a:t>
            </a:r>
          </a:p>
          <a:p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99B338F-90E0-45EB-8240-1F9A51B6355A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Reference: reference/Ex.cpp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98884769-B968-9242-95BB-E3E361C1CBAB}"/>
              </a:ext>
            </a:extLst>
          </p:cNvPr>
          <p:cNvSpPr>
            <a:spLocks noGrp="1"/>
          </p:cNvSpPr>
          <p:nvPr/>
        </p:nvSpPr>
        <p:spPr>
          <a:xfrm>
            <a:off x="2673927" y="3419475"/>
            <a:ext cx="6640945" cy="1857375"/>
          </a:xfrm>
          <a:prstGeom prst="roundRect">
            <a:avLst>
              <a:gd name="adj" fmla="val 2424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n-US" altLang="zh-CN" dirty="0"/>
              <a:t>While(…)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…</a:t>
            </a:r>
          </a:p>
          <a:p>
            <a:r>
              <a:rPr lang="zh-CN" altLang="zh-CN" sz="1600" dirty="0"/>
              <a:t>     DrawText(FollowText, text_x, text_y, font_size, RAYWHITE);</a:t>
            </a:r>
            <a:endParaRPr lang="en-US" altLang="zh-CN" sz="1600" dirty="0"/>
          </a:p>
          <a:p>
            <a:r>
              <a:rPr lang="en-US" altLang="zh-CN" sz="1600" dirty="0"/>
              <a:t>     </a:t>
            </a:r>
            <a:r>
              <a:rPr lang="zh-CN" altLang="zh-CN" sz="1600" dirty="0"/>
              <a:t>EndDrawing();</a:t>
            </a:r>
            <a:br>
              <a:rPr lang="en-US" altLang="zh-CN" sz="1600" dirty="0"/>
            </a:b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18397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782</Words>
  <Application>Microsoft Office PowerPoint</Application>
  <DocSecurity>0</DocSecurity>
  <PresentationFormat>寬螢幕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Akil Adil</cp:lastModifiedBy>
  <cp:revision>3</cp:revision>
  <dcterms:created xsi:type="dcterms:W3CDTF">2026-07-15T09:10:46Z</dcterms:created>
  <dcterms:modified xsi:type="dcterms:W3CDTF">2026-07-15T09:53:13Z</dcterms:modified>
</cp:coreProperties>
</file>