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72394d3e2540b4" /><Relationship Type="http://schemas.openxmlformats.org/officeDocument/2006/relationships/extended-properties" Target="/docProps/app.xml" Id="R2cd11714a6be4f56" /><Relationship Type="http://schemas.openxmlformats.org/officeDocument/2006/relationships/officeDocument" Target="/ppt/presentation.xml" Id="R01e615df692a45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6659a9f66140f3"/>
  </p:sldMasterIdLst>
  <p:notesMasterIdLst>
    <p:notesMasterId xmlns:r="http://schemas.openxmlformats.org/officeDocument/2006/relationships" r:id="R25f2712bc1eb42b7"/>
  </p:notesMasterIdLst>
  <p:sldIdLst>
    <p:sldId xmlns:r="http://schemas.openxmlformats.org/officeDocument/2006/relationships" id="256" r:id="Ra27c3f5151bb4c9f"/>
    <p:sldId xmlns:r="http://schemas.openxmlformats.org/officeDocument/2006/relationships" id="257" r:id="R31713c9191484651"/>
    <p:sldId xmlns:r="http://schemas.openxmlformats.org/officeDocument/2006/relationships" id="258" r:id="Ra252b79ac66f4381"/>
    <p:sldId xmlns:r="http://schemas.openxmlformats.org/officeDocument/2006/relationships" id="259" r:id="R29398be1d5a04c02"/>
    <p:sldId xmlns:r="http://schemas.openxmlformats.org/officeDocument/2006/relationships" id="260" r:id="Rffaf0acf529942fc"/>
    <p:sldId xmlns:r="http://schemas.openxmlformats.org/officeDocument/2006/relationships" id="261" r:id="R18c5af84fd2b4f56"/>
    <p:sldId xmlns:r="http://schemas.openxmlformats.org/officeDocument/2006/relationships" id="262" r:id="Rf128f80006074136"/>
    <p:sldId xmlns:r="http://schemas.openxmlformats.org/officeDocument/2006/relationships" id="263" r:id="R1dc13dd9e5e94efc"/>
    <p:sldId xmlns:r="http://schemas.openxmlformats.org/officeDocument/2006/relationships" id="264" r:id="R9d14e753b4874e4a"/>
    <p:sldId xmlns:r="http://schemas.openxmlformats.org/officeDocument/2006/relationships" id="265" r:id="Rcf5ed8d837c649c1"/>
    <p:sldId xmlns:r="http://schemas.openxmlformats.org/officeDocument/2006/relationships" id="266" r:id="R93181d912a214f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5ee4cb938442f7" /><Relationship Type="http://schemas.openxmlformats.org/officeDocument/2006/relationships/slideMaster" Target="/ppt/slideMasters/slideMaster1.xml" Id="R106659a9f66140f3" /><Relationship Type="http://schemas.openxmlformats.org/officeDocument/2006/relationships/notesMaster" Target="/ppt/notesMasters/notesMaster1.xml" Id="R25f2712bc1eb42b7" /><Relationship Type="http://schemas.openxmlformats.org/officeDocument/2006/relationships/presProps" Target="/ppt/presProps.xml" Id="R6272e74528c94072" /><Relationship Type="http://schemas.openxmlformats.org/officeDocument/2006/relationships/viewProps" Target="/ppt/viewProps.xml" Id="Rf6c1784b7ac646e3" /><Relationship Type="http://schemas.openxmlformats.org/officeDocument/2006/relationships/tableStyles" Target="/ppt/tableStyles.xml" Id="Rc32f65c4882842cc" /><Relationship Type="http://schemas.openxmlformats.org/officeDocument/2006/relationships/slide" Target="/ppt/slides/slide1.xml" Id="Ra27c3f5151bb4c9f" /><Relationship Type="http://schemas.openxmlformats.org/officeDocument/2006/relationships/slide" Target="/ppt/slides/slide2.xml" Id="R31713c9191484651" /><Relationship Type="http://schemas.openxmlformats.org/officeDocument/2006/relationships/slide" Target="/ppt/slides/slide3.xml" Id="Ra252b79ac66f4381" /><Relationship Type="http://schemas.openxmlformats.org/officeDocument/2006/relationships/slide" Target="/ppt/slides/slide4.xml" Id="R29398be1d5a04c02" /><Relationship Type="http://schemas.openxmlformats.org/officeDocument/2006/relationships/slide" Target="/ppt/slides/slide5.xml" Id="Rffaf0acf529942fc" /><Relationship Type="http://schemas.openxmlformats.org/officeDocument/2006/relationships/slide" Target="/ppt/slides/slide6.xml" Id="R18c5af84fd2b4f56" /><Relationship Type="http://schemas.openxmlformats.org/officeDocument/2006/relationships/slide" Target="/ppt/slides/slide7.xml" Id="Rf128f80006074136" /><Relationship Type="http://schemas.openxmlformats.org/officeDocument/2006/relationships/slide" Target="/ppt/slides/slide8.xml" Id="R1dc13dd9e5e94efc" /><Relationship Type="http://schemas.openxmlformats.org/officeDocument/2006/relationships/slide" Target="/ppt/slides/slide9.xml" Id="R9d14e753b4874e4a" /><Relationship Type="http://schemas.openxmlformats.org/officeDocument/2006/relationships/slide" Target="/ppt/slides/slide10.xml" Id="Rcf5ed8d837c649c1" /><Relationship Type="http://schemas.openxmlformats.org/officeDocument/2006/relationships/slide" Target="/ppt/slides/slide11.xml" Id="R93181d912a214f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a6969fcfa847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cc5b97cc6b493f" /><Relationship Type="http://schemas.openxmlformats.org/officeDocument/2006/relationships/notesMaster" Target="/ppt/notesMasters/notesMaster1.xml" Id="Rcee76f9631d84f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940ac4c82e4ff6" /><Relationship Type="http://schemas.openxmlformats.org/officeDocument/2006/relationships/notesMaster" Target="/ppt/notesMasters/notesMaster1.xml" Id="R5113404ae00d4d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eb767bb5894d0e" /><Relationship Type="http://schemas.openxmlformats.org/officeDocument/2006/relationships/notesMaster" Target="/ppt/notesMasters/notesMaster1.xml" Id="Rf073f4bb0ab846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2102de579a4a8f" /><Relationship Type="http://schemas.openxmlformats.org/officeDocument/2006/relationships/notesMaster" Target="/ppt/notesMasters/notesMaster1.xml" Id="R932d509b13a641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395d9676494831" /><Relationship Type="http://schemas.openxmlformats.org/officeDocument/2006/relationships/notesMaster" Target="/ppt/notesMasters/notesMaster1.xml" Id="R4f125481fb6e4b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b68223205747fb" /><Relationship Type="http://schemas.openxmlformats.org/officeDocument/2006/relationships/notesMaster" Target="/ppt/notesMasters/notesMaster1.xml" Id="Rdf84475a8f7545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9a555828ce4f16" /><Relationship Type="http://schemas.openxmlformats.org/officeDocument/2006/relationships/notesMaster" Target="/ppt/notesMasters/notesMaster1.xml" Id="Rc95128ab46274a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cf0d787a06409a" /><Relationship Type="http://schemas.openxmlformats.org/officeDocument/2006/relationships/notesMaster" Target="/ppt/notesMasters/notesMaster1.xml" Id="R29476c086f0f42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fb606a5cfb493e" /><Relationship Type="http://schemas.openxmlformats.org/officeDocument/2006/relationships/notesMaster" Target="/ppt/notesMasters/notesMaster1.xml" Id="Rb45bf744cec145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723e3ed1a24178" /><Relationship Type="http://schemas.openxmlformats.org/officeDocument/2006/relationships/notesMaster" Target="/ppt/notesMasters/notesMaster1.xml" Id="R1dc8325db96344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33b527fcd04dce" /><Relationship Type="http://schemas.openxmlformats.org/officeDocument/2006/relationships/notesMaster" Target="/ppt/notesMasters/notesMaster1.xml" Id="Rbe4ab8c458004b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721645248b45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8341a64c6141ff" /><Relationship Type="http://schemas.openxmlformats.org/officeDocument/2006/relationships/slideLayout" Target="/ppt/slideLayouts/slideLayout1.xml" Id="R5e50804524fb43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50804524fb43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8f0ec4a6d4ca1" /><Relationship Type="http://schemas.openxmlformats.org/officeDocument/2006/relationships/image" Target="/ppt/media/image.png" Id="R61b03a3cef154c5e" /><Relationship Type="http://schemas.openxmlformats.org/officeDocument/2006/relationships/notesSlide" Target="/ppt/notesSlides/notesSlide1.xml" Id="Rdea1b56bf09d47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2e103b71a4ce4" /><Relationship Type="http://schemas.openxmlformats.org/officeDocument/2006/relationships/image" Target="/ppt/media/image2.png" Id="Rec297f5999da4c93" /><Relationship Type="http://schemas.openxmlformats.org/officeDocument/2006/relationships/notesSlide" Target="/ppt/notesSlides/notesSlide2.xml" Id="R594cb3bf124a43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4d138f1bbe42e8" /><Relationship Type="http://schemas.openxmlformats.org/officeDocument/2006/relationships/notesSlide" Target="/ppt/notesSlides/notesSlide3.xml" Id="R67d6e3cdd95e4e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a9caf9b7b45c4" /><Relationship Type="http://schemas.openxmlformats.org/officeDocument/2006/relationships/notesSlide" Target="/ppt/notesSlides/notesSlide4.xml" Id="R4a6a3441870648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9552415bf4bfe" /><Relationship Type="http://schemas.openxmlformats.org/officeDocument/2006/relationships/notesSlide" Target="/ppt/notesSlides/notesSlide5.xml" Id="R6cd9420a99664e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de919426f425a" /><Relationship Type="http://schemas.openxmlformats.org/officeDocument/2006/relationships/notesSlide" Target="/ppt/notesSlides/notesSlide6.xml" Id="Re79bb191bff442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850b4f72b479e" /><Relationship Type="http://schemas.openxmlformats.org/officeDocument/2006/relationships/notesSlide" Target="/ppt/notesSlides/notesSlide7.xml" Id="Ra3ba7148c4ca46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a6b594b234d71" /><Relationship Type="http://schemas.openxmlformats.org/officeDocument/2006/relationships/notesSlide" Target="/ppt/notesSlides/notesSlide8.xml" Id="Rc733d0bdae1c47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463020a624628" /><Relationship Type="http://schemas.openxmlformats.org/officeDocument/2006/relationships/notesSlide" Target="/ppt/notesSlides/notesSlide9.xml" Id="Rcf44ea40a86943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9f6af927a43f1" /><Relationship Type="http://schemas.openxmlformats.org/officeDocument/2006/relationships/notesSlide" Target="/ppt/notesSlides/notesSlide10.xml" Id="Re35d3212f2534b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1844122f94814" /><Relationship Type="http://schemas.openxmlformats.org/officeDocument/2006/relationships/notesSlide" Target="/ppt/notesSlides/notesSlide11.xml" Id="R137d28540fd64c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595CED7-A2AD-4A83-86A5-6097C00F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RAYLIB · CLUB INTRODUCTION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3BBF5B2-4853-47C7-ACA5-890CC3EA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050" b="1">
                <a:solidFill>
                  <a:srgbClr val="14213D"/>
                </a:solidFill>
              </a:defRPr>
            </a:pPr>
            <a:r>
              <a:rPr sz="4050" b="1">
                <a:solidFill>
                  <a:srgbClr val="14213D"/>
                </a:solidFill>
              </a:rPr>
              <a:t>What Are We</a:t>
            </a:r>
          </a:p>
          <a:p xmlns:a="http://schemas.openxmlformats.org/drawingml/2006/main">
            <a:pPr>
              <a:buNone/>
              <a:defRPr sz="4050" b="1">
                <a:solidFill>
                  <a:srgbClr val="14213D"/>
                </a:solidFill>
              </a:defRPr>
            </a:pPr>
            <a:r>
              <a:rPr sz="4050" b="1">
                <a:solidFill>
                  <a:srgbClr val="14213D"/>
                </a:solidFill>
              </a:rPr>
              <a:t>Going to Make?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877C651-C4EF-4D30-9A8D-B2F71EB6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64748B"/>
                </a:solidFill>
              </a:defRPr>
            </a:pPr>
            <a:r>
              <a:rPr sz="1800">
                <a:solidFill>
                  <a:srgbClr val="64748B"/>
                </a:solidFill>
              </a:rPr>
              <a:t>A small interactive scene built one step at a time.</a:t>
            </a:r>
          </a:p>
        </p:txBody>
      </p:sp>
      <p:sp>
        <p:nvSpPr>
          <p:cNvPr id="4" name="矩形: 圓角 3">
            <a:extLst xmlns:a="http://schemas.openxmlformats.org/drawingml/2006/main">
              <a:ext uri="{FF2B5EF4-FFF2-40B4-BE49-F238E27FC236}">
                <a16:creationId xmlns:a16="http://schemas.microsoft.com/office/drawing/2014/main" id="{84809C5A-2DEB-4969-B6CB-6758F2BA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8577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801FA71-4B32-44A1-BDC8-1FEE57CB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624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213D"/>
                </a:solidFill>
              </a:defRPr>
            </a:pPr>
            <a:r>
              <a:rPr sz="1650" b="1">
                <a:solidFill>
                  <a:srgbClr val="14213D"/>
                </a:solidFill>
              </a:rPr>
              <a:t>By the end, you will be able to…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0B55B09-9F39-4E59-AA15-E3CB641E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open a window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7B9C2E4-6A9F-4076-AECD-023108C5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draw simple shapes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6B5572-CA8E-4466-929C-B75328C8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14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read mouse input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CDB14E1-C5C1-4B6D-B728-15C8C733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006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build a small interactive scene</a:t>
            </a:r>
          </a:p>
        </p:txBody>
      </p:sp>
      <p:sp>
        <p:nvSpPr>
          <p:cNvPr id="10" name="矩形: 圓角 9">
            <a:extLst xmlns:a="http://schemas.openxmlformats.org/drawingml/2006/main">
              <a:ext uri="{FF2B5EF4-FFF2-40B4-BE49-F238E27FC236}">
                <a16:creationId xmlns:a16="http://schemas.microsoft.com/office/drawing/2014/main" id="{37EFF9FA-6745-4618-BA6C-25946DAD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0255"/>
            <a:ext cx="5276850" cy="3047999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CF77D43-B01A-4609-8EC1-8F441B1D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64748B"/>
                </a:solidFill>
              </a:defRPr>
            </a:pPr>
            <a:endParaRPr sz="2025" b="1">
              <a:solidFill>
                <a:srgbClr val="64748B"/>
              </a:solidFill>
            </a:endParaRP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32E0D82-E44E-42CF-AF6F-7EE9DD6D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4748B"/>
                </a:solidFill>
              </a:defRPr>
            </a:pPr>
            <a:r>
              <a:rPr sz="1200">
                <a:solidFill>
                  <a:srgbClr val="64748B"/>
                </a:solidFill>
              </a:rPr>
              <a:t>Your image goes here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FE74230-9907-4963-8991-C1D264F2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E093722-278D-4B93-9ECC-20F6D286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01</a:t>
            </a:r>
          </a:p>
        </p:txBody>
      </p:sp>
      <p:pic>
        <p:nvPicPr>
          <p:cNvPr id="31" name="圖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03a3cef154c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362700" y="1809632"/>
            <a:ext cx="4981148" cy="281951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394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C37CAD1-AAFA-4F31-A5C1-0A6EA1C1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START HERE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6CB0A74-4357-466A-9780-C09E3A77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Get the Starter Project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E4B46DD7-7381-49BF-9D02-AC6B8DFD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D7F1DB3-7C29-45E6-9387-5D032E93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3C3D7B7-A7FF-45DE-8F0C-CBEE3A6D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02</a:t>
            </a:r>
          </a:p>
        </p:txBody>
      </p:sp>
      <p:pic>
        <p:nvPicPr>
          <p:cNvPr id="49" name="圖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97f5999da4c93"/>
          <a:stretch xmlns:a="http://schemas.openxmlformats.org/drawingml/2006/main"/>
        </p:blipFill>
        <p:spPr>
          <a:xfrm xmlns:a="http://schemas.openxmlformats.org/drawingml/2006/main">
            <a:off x="4953000" y="1522697"/>
            <a:ext cx="6995836" cy="3331411"/>
          </a:xfrm>
          <a:prstGeom xmlns:a="http://schemas.openxmlformats.org/drawingml/2006/main" prst="roundRect">
            <a:avLst>
              <a:gd name="adj" fmla="val 2469"/>
            </a:avLst>
          </a:prstGeom>
        </p:spPr>
      </p:pic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16EE463-3E23-41E8-88A9-D5829FB5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1" y="3934646"/>
            <a:ext cx="521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endParaRPr sz="1125" b="1">
              <a:solidFill>
                <a:srgbClr val="14213D"/>
              </a:solidFill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56ECA32-BFFE-432B-B3D7-0F3A531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978846"/>
            <a:ext cx="4424544" cy="1428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r>
              <a:rPr sz="1600" b="1">
                <a:solidFill>
                  <a:srgbClr val="14213D"/>
                </a:solidFill>
              </a:rPr>
              <a:t>Source repository</a:t>
            </a:r>
            <a:endParaRPr sz="1600">
              <a:solidFill>
                <a:srgbClr val="2563EB"/>
              </a:solidFill>
            </a:endParaRPr>
          </a:p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r>
              <a:rPr sz="1600">
                <a:solidFill>
                  <a:srgbClr val="2563EB"/>
                </a:solidFill>
              </a:rPr>
              <a:t>https://github.com/Akil0814/Club_code</a:t>
            </a:r>
            <a:endParaRPr sz="1600" b="1">
              <a:solidFill>
                <a:srgbClr val="14213D"/>
              </a:solidFill>
            </a:endParaRPr>
          </a:p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r>
              <a:rPr sz="1400" b="1">
                <a:solidFill>
                  <a:srgbClr val="14213D"/>
                </a:solidFill>
              </a:rPr>
              <a:t>Ready-made downloads</a:t>
            </a:r>
            <a:endParaRPr sz="1400" b="1">
              <a:solidFill>
                <a:srgbClr val="14213D"/>
              </a:solidFill>
            </a:endParaRPr>
          </a:p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r>
              <a:rPr sz="1400">
                <a:solidFill>
                  <a:srgbClr val="2563EB"/>
                </a:solidFill>
              </a:rPr>
              <a:t>https://github.com/Akil0814/Club_code/releases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endParaRPr sz="1125" b="1">
              <a:solidFill>
                <a:srgbClr val="14213D"/>
              </a:solidFill>
            </a:endParaRPr>
          </a:p>
          <a:p xmlns:a="http://schemas.openxmlformats.org/drawingml/2006/main">
            <a:pPr algn="ctr">
              <a:buNone/>
              <a:defRPr sz="1125" b="1">
                <a:solidFill>
                  <a:srgbClr val="14213D"/>
                </a:solidFill>
              </a:defRPr>
            </a:pPr>
            <a:endParaRPr sz="1125" b="1">
              <a:solidFill>
                <a:srgbClr val="14213D"/>
              </a:solidFill>
            </a:endParaRPr>
          </a:p>
        </p:txBody>
      </p:sp>
      <p:sp>
        <p:nvSpPr>
          <p:cNvPr id="31" name="矩形: 圓角 30">
            <a:extLst xmlns:a="http://schemas.openxmlformats.org/drawingml/2006/main">
              <a:ext uri="{FF2B5EF4-FFF2-40B4-BE49-F238E27FC236}">
                <a16:creationId xmlns:a16="http://schemas.microsoft.com/office/drawing/2014/main" id="{BAFB44F2-DCEC-9112-1F02-114265D2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5062"/>
            <a:ext cx="4351888" cy="2447923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49F24083-4EF1-9C11-9B7C-75800704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35828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4213D"/>
                </a:solidFill>
              </a:defRPr>
            </a:pPr>
            <a:r>
              <a:rPr sz="1950" b="1">
                <a:solidFill>
                  <a:srgbClr val="14213D"/>
                </a:solidFill>
              </a:rPr>
              <a:t>Recommended: Download ZIP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156DE98-999F-4A06-8D6D-2EBED8B4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88278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Open the GitHub repository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2FEBD161-1597-2701-0267-FBE230FE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88328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Click Code → Download ZIP</a:t>
            </a: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97BFCB52-3AC9-9577-BBD5-DDF7BF60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8378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Extract the ZIP file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14B8248A-BF59-EF4C-2E66-C37A576E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88428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1F2937"/>
                </a:solidFill>
              </a:defRPr>
            </a:pPr>
            <a:r>
              <a:rPr sz="1650">
                <a:solidFill>
                  <a:srgbClr val="1F2937"/>
                </a:solidFill>
              </a:rPr>
              <a:t>• Open the 0-Introduction folder</a:t>
            </a:r>
          </a:p>
        </p:txBody>
      </p:sp>
    </p:spTree>
    <p:extLst>
      <p:ext uri="{BB962C8B-B14F-4D97-AF65-F5344CB8AC3E}">
        <p14:creationId xmlns:p14="http://schemas.microsoft.com/office/powerpoint/2010/main" val="6686235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CFD5F2D-BBD6-4DE5-A6C3-88B18DF1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SETUP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8B51964-7B14-4D19-976A-06335F41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Before We Start: Set Up the Environment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8BD664E7-6150-40AE-A799-41D217D3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2DB59E8-0934-4AC5-BFBA-B0688993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3F2D83B-5090-4E82-90B8-F7F3D8A0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3E58D73-59A1-4A1C-AAB4-A756FB5A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Choose the toolchain that matches your computer. The source code stays the same.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276EF6DE-59A1-4305-8E3B-502F83A7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099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B732E4-37AC-4794-9CC2-A8CFE983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C43D"/>
                </a:solidFill>
              </a:defRPr>
            </a:pPr>
            <a:r>
              <a:rPr sz="1950" b="1">
                <a:solidFill>
                  <a:srgbClr val="FFC43D"/>
                </a:solidFill>
              </a:rPr>
              <a:t>Windows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9DA90B6-7350-47F6-AAEB-C4998A39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2552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F2937"/>
                </a:solidFill>
              </a:defRPr>
            </a:pPr>
            <a:r>
              <a:rPr sz="1575">
                <a:solidFill>
                  <a:srgbClr val="1F2937"/>
                </a:solidFill>
              </a:rPr>
              <a:t>Visual Studio / MSVC</a:t>
            </a:r>
          </a:p>
          <a:p xmlns:a="http://schemas.openxmlformats.org/drawingml/2006/main">
            <a:pPr>
              <a:buNone/>
              <a:defRPr sz="1575">
                <a:solidFill>
                  <a:srgbClr val="1F2937"/>
                </a:solidFill>
              </a:defRPr>
            </a:pPr>
            <a:r>
              <a:rPr sz="1575">
                <a:solidFill>
                  <a:srgbClr val="1F2937"/>
                </a:solidFill>
              </a:rPr>
              <a:t>or MinGW-w64</a:t>
            </a:r>
          </a:p>
        </p:txBody>
      </p:sp>
      <p:sp>
        <p:nvSpPr>
          <p:cNvPr id="10" name="矩形: 圓角 9">
            <a:extLst xmlns:a="http://schemas.openxmlformats.org/drawingml/2006/main">
              <a:ext uri="{FF2B5EF4-FFF2-40B4-BE49-F238E27FC236}">
                <a16:creationId xmlns:a16="http://schemas.microsoft.com/office/drawing/2014/main" id="{78E94A1D-0236-4C77-B987-8E39A78A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25527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0C73836-7F5D-4148-B450-13337196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cmake -S . -B build</a:t>
            </a:r>
          </a:p>
        </p:txBody>
      </p:sp>
      <p:sp>
        <p:nvSpPr>
          <p:cNvPr id="12" name="矩形: 圓角 11">
            <a:extLst xmlns:a="http://schemas.openxmlformats.org/drawingml/2006/main">
              <a:ext uri="{FF2B5EF4-FFF2-40B4-BE49-F238E27FC236}">
                <a16:creationId xmlns:a16="http://schemas.microsoft.com/office/drawing/2014/main" id="{8E2534AD-B9B4-4CC6-8ED1-925B8575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099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D9F7800-0CB9-4D2D-A6DD-C521AB49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479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63B3ED"/>
                </a:solidFill>
              </a:defRPr>
            </a:pPr>
            <a:r>
              <a:rPr sz="1950" b="1">
                <a:solidFill>
                  <a:srgbClr val="63B3ED"/>
                </a:solidFill>
              </a:rPr>
              <a:t>macOS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DB7CF30-8311-42C0-B756-468276EC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05150"/>
            <a:ext cx="2552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F2937"/>
                </a:solidFill>
              </a:defRPr>
            </a:pPr>
            <a:r>
              <a:rPr sz="1575">
                <a:solidFill>
                  <a:srgbClr val="1F2937"/>
                </a:solidFill>
              </a:rPr>
              <a:t>Homebrew</a:t>
            </a:r>
          </a:p>
          <a:p xmlns:a="http://schemas.openxmlformats.org/drawingml/2006/main">
            <a:pPr>
              <a:buNone/>
              <a:defRPr sz="1575">
                <a:solidFill>
                  <a:srgbClr val="1F2937"/>
                </a:solidFill>
              </a:defRPr>
            </a:pPr>
            <a:r>
              <a:rPr sz="1575">
                <a:solidFill>
                  <a:srgbClr val="1F2937"/>
                </a:solidFill>
              </a:rPr>
              <a:t>CMake + raylib</a:t>
            </a:r>
          </a:p>
        </p:txBody>
      </p:sp>
      <p:sp>
        <p:nvSpPr>
          <p:cNvPr id="15" name="矩形: 圓角 14">
            <a:extLst xmlns:a="http://schemas.openxmlformats.org/drawingml/2006/main">
              <a:ext uri="{FF2B5EF4-FFF2-40B4-BE49-F238E27FC236}">
                <a16:creationId xmlns:a16="http://schemas.microsoft.com/office/drawing/2014/main" id="{119F3AAA-0B5D-4F07-869C-566996C7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10025"/>
            <a:ext cx="25527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55D659D-F364-4A0E-AA6B-5560766C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719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brew install </a:t>
            </a:r>
            <a:r>
              <a:rPr sz="1425">
                <a:solidFill>
                  <a:srgbClr val="E2E8F0"/>
                </a:solidFill>
              </a:rPr>
              <a:t>cmake</a:t>
            </a:r>
            <a:r>
              <a:rPr sz="1425">
                <a:solidFill>
                  <a:srgbClr val="E2E8F0"/>
                </a:solidFill>
              </a:rPr>
              <a:t> </a:t>
            </a:r>
            <a:r>
              <a:rPr sz="1425">
                <a:solidFill>
                  <a:srgbClr val="E2E8F0"/>
                </a:solidFill>
              </a:rPr>
              <a:t>raylib</a:t>
            </a:r>
            <a:endParaRPr sz="1425">
              <a:solidFill>
                <a:srgbClr val="E2E8F0"/>
              </a:solidFill>
            </a:endParaRPr>
          </a:p>
        </p:txBody>
      </p:sp>
      <p:sp>
        <p:nvSpPr>
          <p:cNvPr id="17" name="矩形: 圓角 16">
            <a:extLst xmlns:a="http://schemas.openxmlformats.org/drawingml/2006/main">
              <a:ext uri="{FF2B5EF4-FFF2-40B4-BE49-F238E27FC236}">
                <a16:creationId xmlns:a16="http://schemas.microsoft.com/office/drawing/2014/main" id="{15AA9A8A-25FA-4892-8544-D55C68DA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099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D1D603F-B2CA-4631-9182-8C0BADE1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479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48BB78"/>
                </a:solidFill>
              </a:defRPr>
            </a:pPr>
            <a:r>
              <a:rPr sz="1950" b="1">
                <a:solidFill>
                  <a:srgbClr val="48BB78"/>
                </a:solidFill>
              </a:rPr>
              <a:t>Linux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D5DD191-E09B-48EB-AD65-AD167B06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05150"/>
            <a:ext cx="25527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F2937"/>
                </a:solidFill>
              </a:defRPr>
            </a:pPr>
            <a:r>
              <a:rPr sz="1575">
                <a:solidFill>
                  <a:srgbClr val="1F2937"/>
                </a:solidFill>
              </a:rPr>
              <a:t>A C++ compiler</a:t>
            </a:r>
          </a:p>
          <a:p xmlns:a="http://schemas.openxmlformats.org/drawingml/2006/main">
            <a:pPr>
              <a:buNone/>
              <a:defRPr sz="1575">
                <a:solidFill>
                  <a:srgbClr val="1F2937"/>
                </a:solidFill>
              </a:defRPr>
            </a:pPr>
            <a:r>
              <a:rPr sz="1575">
                <a:solidFill>
                  <a:srgbClr val="1F2937"/>
                </a:solidFill>
              </a:rPr>
              <a:t>CMake + raylib-dev</a:t>
            </a:r>
          </a:p>
        </p:txBody>
      </p:sp>
      <p:sp>
        <p:nvSpPr>
          <p:cNvPr id="20" name="矩形: 圓角 19">
            <a:extLst xmlns:a="http://schemas.openxmlformats.org/drawingml/2006/main">
              <a:ext uri="{FF2B5EF4-FFF2-40B4-BE49-F238E27FC236}">
                <a16:creationId xmlns:a16="http://schemas.microsoft.com/office/drawing/2014/main" id="{F8BECF4D-8E73-4FD5-B7D3-17825D62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00500"/>
            <a:ext cx="25527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863BF59-5E5A-4B61-A290-BA4470C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719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sudo</a:t>
            </a:r>
            <a:r>
              <a:rPr sz="1425">
                <a:solidFill>
                  <a:srgbClr val="E2E8F0"/>
                </a:solidFill>
              </a:rPr>
              <a:t> apt install ...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541ED0C-1194-4549-BC66-76927107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Once the environment is ready, we start writing main.cpp together.</a:t>
            </a:r>
          </a:p>
        </p:txBody>
      </p:sp>
    </p:spTree>
    <p:extLst>
      <p:ext uri="{BB962C8B-B14F-4D97-AF65-F5344CB8AC3E}">
        <p14:creationId xmlns:p14="http://schemas.microsoft.com/office/powerpoint/2010/main" val="15943313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87B1E58-9D4A-4232-874F-1BD7491A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WINDOW LIFECYCLE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8AD3988-A4FA-449C-8719-DE428F2B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A Program Can Keep Running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B8B9AA48-2C4A-4A9D-931F-65A35B21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59721E4-B84D-4C88-BA23-6EA63EA2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609F21D-F51B-48D2-88EB-836CBBD6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9944D4B-2308-4819-B7DE-61417B9C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A window does not stay alive by itself. The loop keeps the program running until the user closes it.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38577C66-EB5A-452D-892E-62A9DCEA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47434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EF8A8D3-6E43-4830-99A0-16643520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43200"/>
            <a:ext cx="453390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InitWindow(...);</a:t>
            </a:r>
          </a:p>
          <a:p xmlns:a="http://schemas.openxmlformats.org/drawingml/2006/main">
            <a:endParaRPr sz="1425">
              <a:solidFill>
                <a:srgbClr val="E2E8F0"/>
              </a:solidFill>
            </a:endParaRP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while (!WindowShouldClose())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    // one frame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}</a:t>
            </a:r>
          </a:p>
          <a:p xmlns:a="http://schemas.openxmlformats.org/drawingml/2006/main">
            <a:endParaRPr sz="1425">
              <a:solidFill>
                <a:srgbClr val="E2E8F0"/>
              </a:solidFill>
            </a:endParaRP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CloseWindow();</a:t>
            </a:r>
          </a:p>
        </p:txBody>
      </p:sp>
      <p:sp>
        <p:nvSpPr>
          <p:cNvPr id="9" name="橢圓 8">
            <a:extLst xmlns:a="http://schemas.openxmlformats.org/drawingml/2006/main">
              <a:ext uri="{FF2B5EF4-FFF2-40B4-BE49-F238E27FC236}">
                <a16:creationId xmlns:a16="http://schemas.microsoft.com/office/drawing/2014/main" id="{9A81FA57-C457-4622-9662-45EDCA60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3D"/>
          </a:solidFill>
          <a:ln xmlns:a="http://schemas.openxmlformats.org/drawingml/2006/main" w="9525">
            <a:solidFill>
              <a:srgbClr val="FFC4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D2C6293-AD11-4DE7-B776-408B75BE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13D"/>
                </a:solidFill>
              </a:defRPr>
            </a:pPr>
            <a:r>
              <a:rPr sz="1650" b="1">
                <a:solidFill>
                  <a:srgbClr val="14213D"/>
                </a:solidFill>
              </a:rPr>
              <a:t>1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2B467B5-2A0E-44FA-8D90-55A81E1B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908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4213D"/>
                </a:solidFill>
              </a:defRPr>
            </a:pPr>
            <a:r>
              <a:rPr sz="1875" b="1">
                <a:solidFill>
                  <a:srgbClr val="14213D"/>
                </a:solidFill>
              </a:rPr>
              <a:t>InitWindow()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AFF6234-2382-446A-AC15-31C0AD2E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14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4748B"/>
                </a:solidFill>
              </a:defRPr>
            </a:pPr>
            <a:r>
              <a:rPr sz="1425">
                <a:solidFill>
                  <a:srgbClr val="64748B"/>
                </a:solidFill>
              </a:rPr>
              <a:t>Create the application window</a:t>
            </a:r>
          </a:p>
        </p:txBody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849242BB-68EF-4BBC-93D7-B3448C52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62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B78"/>
          </a:solidFill>
          <a:ln xmlns:a="http://schemas.openxmlformats.org/drawingml/2006/main" w="9525">
            <a:solidFill>
              <a:srgbClr val="48BB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0EE2C8A-F00E-4EBB-AD39-B4B5C80B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576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13D"/>
                </a:solidFill>
              </a:defRPr>
            </a:pPr>
            <a:r>
              <a:rPr sz="1650" b="1">
                <a:solidFill>
                  <a:srgbClr val="14213D"/>
                </a:solidFill>
              </a:rPr>
              <a:t>2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1D6F1BD6-80B6-4474-A25D-2844D806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433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4213D"/>
                </a:solidFill>
              </a:defRPr>
            </a:pPr>
            <a:r>
              <a:rPr sz="1875" b="1">
                <a:solidFill>
                  <a:srgbClr val="14213D"/>
                </a:solidFill>
              </a:rPr>
              <a:t>WindowShouldClose()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3DDA242-2664-4BED-B163-04913E0B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4748B"/>
                </a:solidFill>
              </a:defRPr>
            </a:pPr>
            <a:r>
              <a:rPr sz="1425">
                <a:solidFill>
                  <a:srgbClr val="64748B"/>
                </a:solidFill>
              </a:rPr>
              <a:t>Returns true when the loop should stop</a:t>
            </a:r>
          </a:p>
        </p:txBody>
      </p:sp>
      <p:sp>
        <p:nvSpPr>
          <p:cNvPr id="17" name="橢圓 16">
            <a:extLst xmlns:a="http://schemas.openxmlformats.org/drawingml/2006/main">
              <a:ext uri="{FF2B5EF4-FFF2-40B4-BE49-F238E27FC236}">
                <a16:creationId xmlns:a16="http://schemas.microsoft.com/office/drawing/2014/main" id="{6C6CA4C3-CEA0-4C22-AAC3-0E94D74D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B3ED"/>
          </a:solidFill>
          <a:ln xmlns:a="http://schemas.openxmlformats.org/drawingml/2006/main" w="9525">
            <a:solidFill>
              <a:srgbClr val="63B3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7CF135B-0A0B-4240-9399-5AA57DF7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13D"/>
                </a:solidFill>
              </a:defRPr>
            </a:pPr>
            <a:r>
              <a:rPr sz="1650" b="1">
                <a:solidFill>
                  <a:srgbClr val="14213D"/>
                </a:solidFill>
              </a:rPr>
              <a:t>3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B327E6D-777D-4688-B3CA-1CE726EB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958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4213D"/>
                </a:solidFill>
              </a:defRPr>
            </a:pPr>
            <a:r>
              <a:rPr sz="1875" b="1">
                <a:solidFill>
                  <a:srgbClr val="14213D"/>
                </a:solidFill>
              </a:rPr>
              <a:t>CloseWindow()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C706796-E9B9-4EE3-B730-10C60584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19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64748B"/>
                </a:solidFill>
              </a:defRPr>
            </a:pPr>
            <a:r>
              <a:rPr sz="1425">
                <a:solidFill>
                  <a:srgbClr val="64748B"/>
                </a:solidFill>
              </a:rPr>
              <a:t>Release the window resources</a:t>
            </a:r>
          </a:p>
        </p:txBody>
      </p:sp>
    </p:spTree>
    <p:extLst>
      <p:ext uri="{BB962C8B-B14F-4D97-AF65-F5344CB8AC3E}">
        <p14:creationId xmlns:p14="http://schemas.microsoft.com/office/powerpoint/2010/main" val="403112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F1D38A5-F08A-41B4-97BE-9374B0BC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01 · FRAME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BA6DACC-3F71-4C05-87A6-5097130B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One Frame Starts and Ends Here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393177F5-AEFA-4090-A588-5355AA0B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DD775A3-2E9A-4BEF-9FB8-5A835E2A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1D29928-C49D-4FDD-ABA7-73C57AB3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464A125-E6CF-483A-8282-2A5A02CF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Everything that should appear in one frame belongs between these two calls.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C811F000-A2C8-46C5-9A41-F27697B8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4108"/>
            <a:ext cx="2667000" cy="1102592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7DB"/>
          </a:solidFill>
          <a:ln xmlns:a="http://schemas.openxmlformats.org/drawingml/2006/main" w="9525">
            <a:solidFill>
              <a:srgbClr val="FFC4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38F076C-BEF6-4F75-A6D7-DE6A3268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14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BeginDrawing()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A521D2F-877E-42D4-A0E1-18DE3031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290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start a frame</a:t>
            </a:r>
          </a:p>
          <a:p xmlns:a="http://schemas.openxmlformats.org/drawingml/2006/main">
            <a:pPr algn="ctr">
              <a:buNone/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and prepare drawing</a:t>
            </a:r>
          </a:p>
        </p:txBody>
      </p:sp>
      <p:sp>
        <p:nvSpPr>
          <p:cNvPr id="10" name="矩形: 圓角 9">
            <a:extLst xmlns:a="http://schemas.openxmlformats.org/drawingml/2006/main">
              <a:ext uri="{FF2B5EF4-FFF2-40B4-BE49-F238E27FC236}">
                <a16:creationId xmlns:a16="http://schemas.microsoft.com/office/drawing/2014/main" id="{4CCC3CCE-80C4-4EA6-B8B5-754412D3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13890"/>
            <a:ext cx="2667000" cy="1634259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5962107-8BC4-4171-89CD-85EEA564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81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13D"/>
                </a:solidFill>
              </a:defRPr>
            </a:pPr>
            <a:r>
              <a:rPr sz="1875" b="1">
                <a:solidFill>
                  <a:srgbClr val="14213D"/>
                </a:solidFill>
              </a:rPr>
              <a:t>Draw...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E237C24-4BB0-42C5-B719-0CFA700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33750"/>
            <a:ext cx="190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1F2937"/>
                </a:solidFill>
              </a:defRPr>
            </a:pPr>
            <a:r>
              <a:rPr sz="1500">
                <a:solidFill>
                  <a:srgbClr val="1F2937"/>
                </a:solidFill>
              </a:rPr>
              <a:t>clear the background</a:t>
            </a:r>
          </a:p>
          <a:p xmlns:a="http://schemas.openxmlformats.org/drawingml/2006/main">
            <a:pPr algn="ctr">
              <a:buNone/>
              <a:defRPr sz="1500">
                <a:solidFill>
                  <a:srgbClr val="1F2937"/>
                </a:solidFill>
              </a:defRPr>
            </a:pPr>
            <a:r>
              <a:rPr sz="1500">
                <a:solidFill>
                  <a:srgbClr val="1F2937"/>
                </a:solidFill>
              </a:rPr>
              <a:t>draw shapes</a:t>
            </a:r>
          </a:p>
          <a:p xmlns:a="http://schemas.openxmlformats.org/drawingml/2006/main">
            <a:pPr algn="ctr">
              <a:buNone/>
              <a:defRPr sz="1500">
                <a:solidFill>
                  <a:srgbClr val="1F2937"/>
                </a:solidFill>
              </a:defRPr>
            </a:pPr>
            <a:r>
              <a:rPr sz="1500">
                <a:solidFill>
                  <a:srgbClr val="1F2937"/>
                </a:solidFill>
              </a:rPr>
              <a:t>draw text</a:t>
            </a:r>
          </a:p>
        </p:txBody>
      </p:sp>
      <p:sp>
        <p:nvSpPr>
          <p:cNvPr id="13" name="矩形: 圓角 12">
            <a:extLst xmlns:a="http://schemas.openxmlformats.org/drawingml/2006/main">
              <a:ext uri="{FF2B5EF4-FFF2-40B4-BE49-F238E27FC236}">
                <a16:creationId xmlns:a16="http://schemas.microsoft.com/office/drawing/2014/main" id="{C5519B24-A4A0-4900-BA33-71D8AECE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74108"/>
            <a:ext cx="2667000" cy="1102592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8EE"/>
          </a:solidFill>
          <a:ln xmlns:a="http://schemas.openxmlformats.org/drawingml/2006/main" w="9525">
            <a:solidFill>
              <a:srgbClr val="48BB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29E9793-6903-4097-B35D-B12830F3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14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EndDrawing()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C3F81C5-3E5F-4FA8-AD84-6AF05EAB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290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present the frame</a:t>
            </a:r>
          </a:p>
          <a:p xmlns:a="http://schemas.openxmlformats.org/drawingml/2006/main">
            <a:pPr algn="ctr">
              <a:buNone/>
              <a:defRPr sz="1275">
                <a:solidFill>
                  <a:srgbClr val="64748B"/>
                </a:solidFill>
              </a:defRPr>
            </a:pPr>
            <a:r>
              <a:rPr sz="1275">
                <a:solidFill>
                  <a:srgbClr val="64748B"/>
                </a:solidFill>
              </a:rPr>
              <a:t>and process events</a:t>
            </a:r>
          </a:p>
        </p:txBody>
      </p:sp>
      <p:sp>
        <p:nvSpPr>
          <p:cNvPr id="16" name="矩形: 圓角 15">
            <a:extLst xmlns:a="http://schemas.openxmlformats.org/drawingml/2006/main">
              <a:ext uri="{FF2B5EF4-FFF2-40B4-BE49-F238E27FC236}">
                <a16:creationId xmlns:a16="http://schemas.microsoft.com/office/drawing/2014/main" id="{A260C95B-1314-4E7F-8706-8462D174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673" y="4797138"/>
            <a:ext cx="4128654" cy="1794162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28E61C1-E710-41C4-9E74-6315D7EB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993408"/>
            <a:ext cx="5867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while (!</a:t>
            </a:r>
            <a:r>
              <a:rPr sz="1425">
                <a:solidFill>
                  <a:srgbClr val="E2E8F0"/>
                </a:solidFill>
              </a:rPr>
              <a:t>WindowShouldClose</a:t>
            </a:r>
            <a:r>
              <a:rPr sz="1425">
                <a:solidFill>
                  <a:srgbClr val="E2E8F0"/>
                </a:solidFill>
              </a:rPr>
              <a:t>())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    </a:t>
            </a:r>
            <a:r>
              <a:rPr sz="1425">
                <a:solidFill>
                  <a:srgbClr val="E2E8F0"/>
                </a:solidFill>
              </a:rPr>
              <a:t>BeginDrawing</a:t>
            </a:r>
            <a:r>
              <a:rPr sz="1425">
                <a:solidFill>
                  <a:srgbClr val="E2E8F0"/>
                </a:solidFill>
              </a:rPr>
              <a:t>();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    // draw here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    </a:t>
            </a:r>
            <a:r>
              <a:rPr sz="1425">
                <a:solidFill>
                  <a:srgbClr val="E2E8F0"/>
                </a:solidFill>
              </a:rPr>
              <a:t>EndDrawing</a:t>
            </a:r>
            <a:r>
              <a:rPr sz="1425">
                <a:solidFill>
                  <a:srgbClr val="E2E8F0"/>
                </a:solidFill>
              </a:rPr>
              <a:t>();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4870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5C16E7A-AC86-43A2-9239-B7ACCED9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 · COORDINATES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C5B233D-C0BF-4946-9E4D-C978FD67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The Window Uses Coordinates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FA8C4FBC-DBD9-444A-BD37-CA4DC792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1AFBDA8-49B7-44B9-8898-3FE28954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0D02239-1A66-4401-A4F7-DAC22181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77FD61A-43D3-4DB5-B118-44A099E5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Raylib places objects using pixel coordinates. The origin is in the top-left corner.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E748BFF8-D4B6-4F33-B2EE-3185E7FB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6191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直線接點 7">
            <a:extLst xmlns:a="http://schemas.openxmlformats.org/drawingml/2006/main">
              <a:ext uri="{FF2B5EF4-FFF2-40B4-BE49-F238E27FC236}">
                <a16:creationId xmlns:a16="http://schemas.microsoft.com/office/drawing/2014/main" id="{42A870F5-1120-4A23-AF4A-CB68F42A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048000"/>
            <a:ext cx="4191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421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8736F277-756C-4375-A99C-4277DD7B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048000"/>
            <a:ext cx="0" cy="180975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421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橢圓 9">
            <a:extLst xmlns:a="http://schemas.openxmlformats.org/drawingml/2006/main">
              <a:ext uri="{FF2B5EF4-FFF2-40B4-BE49-F238E27FC236}">
                <a16:creationId xmlns:a16="http://schemas.microsoft.com/office/drawing/2014/main" id="{FAEA0DC5-E494-4DEE-B1B8-54FF4E2D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430"/>
          </a:solidFill>
          <a:ln xmlns:a="http://schemas.openxmlformats.org/drawingml/2006/main">
            <a:solidFill>
              <a:srgbClr val="00E43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E771D9-336F-4EDF-93E4-F1A839A1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4213D"/>
                </a:solidFill>
              </a:defRPr>
            </a:pPr>
            <a:r>
              <a:rPr sz="1425" b="1">
                <a:solidFill>
                  <a:srgbClr val="14213D"/>
                </a:solidFill>
              </a:rPr>
              <a:t>(0, 0)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666E8FE-61A9-4C33-A269-F6494ED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146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4213D"/>
                </a:solidFill>
              </a:defRPr>
            </a:pPr>
            <a:r>
              <a:rPr sz="1500" b="1">
                <a:solidFill>
                  <a:srgbClr val="14213D"/>
                </a:solidFill>
              </a:rPr>
              <a:t>x →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78EB4A3-7E45-4D9C-B052-4CC6E579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4213D"/>
                </a:solidFill>
              </a:defRPr>
            </a:pPr>
            <a:r>
              <a:rPr sz="1500" b="1">
                <a:solidFill>
                  <a:srgbClr val="14213D"/>
                </a:solidFill>
              </a:rPr>
              <a:t>y 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9F4AF3A-37DC-45A7-99FD-F9C80AE8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14213D"/>
                </a:solidFill>
              </a:defRPr>
            </a:pPr>
            <a:r>
              <a:rPr sz="1350">
                <a:solidFill>
                  <a:srgbClr val="14213D"/>
                </a:solidFill>
              </a:rPr>
              <a:t>(400, 220)</a:t>
            </a:r>
          </a:p>
        </p:txBody>
      </p:sp>
    </p:spTree>
    <p:extLst>
      <p:ext uri="{BB962C8B-B14F-4D97-AF65-F5344CB8AC3E}">
        <p14:creationId xmlns:p14="http://schemas.microsoft.com/office/powerpoint/2010/main" val="13169624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9700243-6847-423D-9FA4-F6623B97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02 · DRAWING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778F46-416C-4E48-8D9D-693E52E0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Draw Simple Shapes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6812B0C5-A0D9-46FD-9195-A493DF94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67E10BB-6FB2-41C1-9100-504AAF7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768FD21-A52D-4D83-9457-98297617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6F06F7F-8765-474C-A4A1-D0345DEA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Start with a few primitives. Each function describes one thing to draw.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6B96E544-82A3-4BFA-9CF8-3CB373E5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7150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C32F6A5-CBE7-4DE9-9241-AADC3C0D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52959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ClearBackground</a:t>
            </a:r>
            <a:r>
              <a:rPr sz="1425">
                <a:solidFill>
                  <a:srgbClr val="E2E8F0"/>
                </a:solidFill>
              </a:rPr>
              <a:t>(</a:t>
            </a:r>
            <a:r>
              <a:rPr sz="1425">
                <a:solidFill>
                  <a:srgbClr val="E2E8F0"/>
                </a:solidFill>
              </a:rPr>
              <a:t>BLACK</a:t>
            </a:r>
            <a:r>
              <a:rPr sz="1425">
                <a:solidFill>
                  <a:srgbClr val="E2E8F0"/>
                </a:solidFill>
              </a:rPr>
              <a:t>);</a:t>
            </a:r>
            <a:r>
              <a:rPr sz="1425">
                <a:solidFill>
                  <a:srgbClr val="E2E8F0"/>
                </a:solidFill>
              </a:rPr>
              <a:t> //paint the wall</a:t>
            </a:r>
            <a:endParaRPr sz="1425">
              <a:solidFill>
                <a:srgbClr val="E2E8F0"/>
              </a:solidFill>
            </a:endParaRP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DrawLine</a:t>
            </a:r>
            <a:r>
              <a:rPr sz="1425">
                <a:solidFill>
                  <a:srgbClr val="E2E8F0"/>
                </a:solidFill>
              </a:rPr>
              <a:t>(80, 80, 420, 200, </a:t>
            </a:r>
            <a:r>
              <a:rPr sz="1425">
                <a:solidFill>
                  <a:srgbClr val="E2E8F0"/>
                </a:solidFill>
              </a:rPr>
              <a:t>GOLD</a:t>
            </a:r>
            <a:r>
              <a:rPr sz="1425">
                <a:solidFill>
                  <a:srgbClr val="E2E8F0"/>
                </a:solidFill>
              </a:rPr>
              <a:t>);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DrawCircleV</a:t>
            </a:r>
            <a:r>
              <a:rPr sz="1425">
                <a:solidFill>
                  <a:srgbClr val="E2E8F0"/>
                </a:solidFill>
              </a:rPr>
              <a:t>({</a:t>
            </a:r>
            <a:r>
              <a:rPr sz="1425">
                <a:solidFill>
                  <a:srgbClr val="E2E8F0"/>
                </a:solidFill>
              </a:rPr>
              <a:t>18</a:t>
            </a:r>
            <a:r>
              <a:rPr sz="1425">
                <a:solidFill>
                  <a:srgbClr val="E2E8F0"/>
                </a:solidFill>
              </a:rPr>
              <a:t>0, </a:t>
            </a:r>
            <a:r>
              <a:rPr sz="1425">
                <a:solidFill>
                  <a:srgbClr val="E2E8F0"/>
                </a:solidFill>
              </a:rPr>
              <a:t>12</a:t>
            </a:r>
            <a:r>
              <a:rPr sz="1425">
                <a:solidFill>
                  <a:srgbClr val="E2E8F0"/>
                </a:solidFill>
              </a:rPr>
              <a:t>0}, 70.0f, GREEN);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DrawRectangle</a:t>
            </a:r>
            <a:r>
              <a:rPr sz="1425">
                <a:solidFill>
                  <a:srgbClr val="E2E8F0"/>
                </a:solidFill>
              </a:rPr>
              <a:t>(880, 140, 180, 180, </a:t>
            </a:r>
            <a:r>
              <a:rPr sz="1425">
                <a:solidFill>
                  <a:srgbClr val="E2E8F0"/>
                </a:solidFill>
              </a:rPr>
              <a:t>SKYBLUE</a:t>
            </a:r>
            <a:r>
              <a:rPr sz="1425">
                <a:solidFill>
                  <a:srgbClr val="E2E8F0"/>
                </a:solidFill>
              </a:rPr>
              <a:t>);</a:t>
            </a:r>
          </a:p>
        </p:txBody>
      </p:sp>
      <p:sp>
        <p:nvSpPr>
          <p:cNvPr id="9" name="矩形: 圓角 8">
            <a:extLst xmlns:a="http://schemas.openxmlformats.org/drawingml/2006/main">
              <a:ext uri="{FF2B5EF4-FFF2-40B4-BE49-F238E27FC236}">
                <a16:creationId xmlns:a16="http://schemas.microsoft.com/office/drawing/2014/main" id="{152C4A03-561A-4FD0-AF52-9C2630F2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40005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直線接點 9">
            <a:extLst xmlns:a="http://schemas.openxmlformats.org/drawingml/2006/main">
              <a:ext uri="{FF2B5EF4-FFF2-40B4-BE49-F238E27FC236}">
                <a16:creationId xmlns:a16="http://schemas.microsoft.com/office/drawing/2014/main" id="{5A9812BD-EDB0-4703-8DDE-C01B3945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28950"/>
            <a:ext cx="1428750" cy="6477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FFCB00"/>
          </a:solidFill>
          <a:ln xmlns:a="http://schemas.openxmlformats.org/drawingml/2006/main">
            <a:solidFill>
              <a:srgbClr val="FFCB0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4928287D-51BF-41CD-BD60-2C6F0AB2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937" y="3114675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430"/>
          </a:solidFill>
          <a:ln xmlns:a="http://schemas.openxmlformats.org/drawingml/2006/main">
            <a:solidFill>
              <a:srgbClr val="00E43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86F6450-113A-498D-BBAB-E3DC2D0E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1432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BFFF"/>
          </a:solidFill>
          <a:ln xmlns:a="http://schemas.openxmlformats.org/drawingml/2006/main">
            <a:solidFill>
              <a:srgbClr val="66BFFF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DD8DF96-2198-4766-A319-C79D98CA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552700"/>
            <a:ext cx="1000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DrawLine()</a:t>
            </a:r>
          </a:p>
          <a:p xmlns:a="http://schemas.openxmlformats.org/drawingml/2006/main">
            <a:pPr algn="ctr">
              <a:buNone/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connects two points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1972D50-34DF-4622-9EA2-3579EA67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DrawCircleV()</a:t>
            </a:r>
          </a:p>
          <a:p xmlns:a="http://schemas.openxmlformats.org/drawingml/2006/main">
            <a:pPr algn="ctr">
              <a:buNone/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center + radius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135E479-EF88-4946-BD99-29CAB3FE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52700"/>
            <a:ext cx="114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DrawRectangle()</a:t>
            </a:r>
          </a:p>
          <a:p xmlns:a="http://schemas.openxmlformats.org/drawingml/2006/main">
            <a:pPr algn="ctr">
              <a:buNone/>
              <a:defRPr sz="1050">
                <a:solidFill>
                  <a:srgbClr val="64748B"/>
                </a:solidFill>
              </a:defRPr>
            </a:pPr>
            <a:r>
              <a:rPr sz="1050">
                <a:solidFill>
                  <a:srgbClr val="64748B"/>
                </a:solidFill>
              </a:rPr>
              <a:t>position + size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BDE3D1C-5FF1-46DB-BE05-30711972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ClearBackground() resets the frame before the other draw calls.</a:t>
            </a:r>
          </a:p>
        </p:txBody>
      </p:sp>
    </p:spTree>
    <p:extLst>
      <p:ext uri="{BB962C8B-B14F-4D97-AF65-F5344CB8AC3E}">
        <p14:creationId xmlns:p14="http://schemas.microsoft.com/office/powerpoint/2010/main" val="4435464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9C904A8-886D-49D5-978D-5554854F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 · MOUSE STATE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83ED227-657C-45EB-BC02-5672105C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Read the Mouse Position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7F90C1FB-0E2E-4DB9-A72C-B5ACABBF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8488352-5CC2-40AA-9542-FC6A70DE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B4A68D9-AF16-4FFE-873D-99A75179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9D6E93D-1A0D-420D-AE2A-047AD93D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GetMousePosition() gives us the cursor location for the current frame.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AE262A42-0897-443B-AB65-9CC8B483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4953000" cy="2462068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0E63473-6998-4A93-ACAF-1CCE9A4F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43200"/>
            <a:ext cx="45339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const Vector2 </a:t>
            </a:r>
            <a:r>
              <a:rPr sz="1425">
                <a:solidFill>
                  <a:srgbClr val="E2E8F0"/>
                </a:solidFill>
              </a:rPr>
              <a:t>mouse_position</a:t>
            </a:r>
            <a:r>
              <a:rPr sz="1425">
                <a:solidFill>
                  <a:srgbClr val="E2E8F0"/>
                </a:solidFill>
              </a:rPr>
              <a:t>= </a:t>
            </a:r>
            <a:r>
              <a:rPr sz="1425">
                <a:solidFill>
                  <a:srgbClr val="E2E8F0"/>
                </a:solidFill>
              </a:rPr>
              <a:t>GetMousePosition</a:t>
            </a:r>
            <a:r>
              <a:rPr sz="1425">
                <a:solidFill>
                  <a:srgbClr val="E2E8F0"/>
                </a:solidFill>
              </a:rPr>
              <a:t>();</a:t>
            </a:r>
          </a:p>
          <a:p xmlns:a="http://schemas.openxmlformats.org/drawingml/2006/main">
            <a:endParaRPr sz="1425">
              <a:solidFill>
                <a:srgbClr val="E2E8F0"/>
              </a:solidFill>
            </a:endParaRP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DrawCircleV</a:t>
            </a:r>
            <a:r>
              <a:rPr sz="1425">
                <a:solidFill>
                  <a:srgbClr val="E2E8F0"/>
                </a:solidFill>
              </a:rPr>
              <a:t>(mouse_position,70.0f, GREEN);</a:t>
            </a:r>
          </a:p>
        </p:txBody>
      </p:sp>
      <p:sp>
        <p:nvSpPr>
          <p:cNvPr id="9" name="矩形: 圓角 8">
            <a:extLst xmlns:a="http://schemas.openxmlformats.org/drawingml/2006/main">
              <a:ext uri="{FF2B5EF4-FFF2-40B4-BE49-F238E27FC236}">
                <a16:creationId xmlns:a16="http://schemas.microsoft.com/office/drawing/2014/main" id="{1B0D673B-857E-43DF-80AC-3BFA62BF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71750"/>
            <a:ext cx="3905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橢圓 9">
            <a:extLst xmlns:a="http://schemas.openxmlformats.org/drawingml/2006/main">
              <a:ext uri="{FF2B5EF4-FFF2-40B4-BE49-F238E27FC236}">
                <a16:creationId xmlns:a16="http://schemas.microsoft.com/office/drawing/2014/main" id="{6F20CE9E-8196-4C48-BF42-974DD002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430"/>
          </a:solidFill>
          <a:ln xmlns:a="http://schemas.openxmlformats.org/drawingml/2006/main">
            <a:solidFill>
              <a:srgbClr val="00E43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直線接點 10">
            <a:extLst xmlns:a="http://schemas.openxmlformats.org/drawingml/2006/main">
              <a:ext uri="{FF2B5EF4-FFF2-40B4-BE49-F238E27FC236}">
                <a16:creationId xmlns:a16="http://schemas.microsoft.com/office/drawing/2014/main" id="{3DFFE2D4-FEF7-410F-8591-8D686C23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48000"/>
            <a:ext cx="0" cy="147637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2D0A5BF8-660E-4421-8394-0070BD71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200025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D767E95-110C-432E-A10F-B1F66EA4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76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the circle follows the cursor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1DF21B1-CF31-4F3A-9316-5AB072A1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This is a state we can read every frame.</a:t>
            </a:r>
          </a:p>
        </p:txBody>
      </p:sp>
    </p:spTree>
    <p:extLst>
      <p:ext uri="{BB962C8B-B14F-4D97-AF65-F5344CB8AC3E}">
        <p14:creationId xmlns:p14="http://schemas.microsoft.com/office/powerpoint/2010/main" val="5019498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8FF29E1-CD6A-4ABD-8C05-71ABF786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03 · MOUSE EVENT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DFDCD55-A448-41EE-8CC3-9F667E66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React to a Mouse Click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6E0BCA1F-74DE-451F-A7CA-5D4B4BCD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8C6D994-809B-4DB3-B430-03FB15BB2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97C392B-EB98-4A21-BB02-78B2DD58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FBC2F11-D766-4E4D-A2D9-19BBA0B8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A click is different from a position: it happens once, on the frame where it is pressed.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10C74341-0FFD-4CE9-ABE0-E8D3A62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19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9117A75-CFB5-4728-9CBD-0F87AE9E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38450"/>
            <a:ext cx="57721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if (</a:t>
            </a:r>
            <a:r>
              <a:rPr sz="1425">
                <a:solidFill>
                  <a:srgbClr val="E2E8F0"/>
                </a:solidFill>
              </a:rPr>
              <a:t>IsMouseButtonPressed</a:t>
            </a:r>
            <a:r>
              <a:rPr sz="1425">
                <a:solidFill>
                  <a:srgbClr val="E2E8F0"/>
                </a:solidFill>
              </a:rPr>
              <a:t>(MOUSE_BUTTON_LEFT))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    std::</a:t>
            </a:r>
            <a:r>
              <a:rPr sz="1425">
                <a:solidFill>
                  <a:srgbClr val="E2E8F0"/>
                </a:solidFill>
              </a:rPr>
              <a:t>cout</a:t>
            </a:r>
            <a:r>
              <a:rPr sz="1425">
                <a:solidFill>
                  <a:srgbClr val="E2E8F0"/>
                </a:solidFill>
              </a:rPr>
              <a:t> &lt;&lt; "Mouse clicked";</a:t>
            </a:r>
          </a:p>
          <a:p xmlns:a="http://schemas.openxmlformats.org/drawingml/2006/main">
            <a:pPr>
              <a:buNone/>
              <a:defRPr sz="1425">
                <a:solidFill>
                  <a:srgbClr val="E2E8F0"/>
                </a:solidFill>
              </a:defRPr>
            </a:pPr>
            <a:r>
              <a:rPr sz="1425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9" name="矩形: 圓角 8">
            <a:extLst xmlns:a="http://schemas.openxmlformats.org/drawingml/2006/main">
              <a:ext uri="{FF2B5EF4-FFF2-40B4-BE49-F238E27FC236}">
                <a16:creationId xmlns:a16="http://schemas.microsoft.com/office/drawing/2014/main" id="{35750650-9E36-46A3-99BF-AFF6CE5C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6700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DB"/>
          </a:solidFill>
          <a:ln xmlns:a="http://schemas.openxmlformats.org/drawingml/2006/main" w="9525">
            <a:solidFill>
              <a:srgbClr val="FFC4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60D5B11-0E5B-4610-BB10-DD211143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13D"/>
                </a:solidFill>
              </a:defRPr>
            </a:pPr>
            <a:r>
              <a:rPr sz="1500" b="1">
                <a:solidFill>
                  <a:srgbClr val="14213D"/>
                </a:solidFill>
              </a:rPr>
              <a:t>POSITION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4A1C0C2-F389-4B55-BC4C-077D3513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86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continuous state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1CE5D74-FC3B-4C94-B11F-B0F98C11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76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13D"/>
                </a:solidFill>
              </a:defRPr>
            </a:pPr>
            <a:r>
              <a:rPr sz="1500" b="1">
                <a:solidFill>
                  <a:srgbClr val="14213D"/>
                </a:solidFill>
              </a:rPr>
              <a:t>CLICK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BCDB769-7921-47B2-8237-2E97F513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719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one-time event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B491EF3-FC6A-4BF3-BD20-57B73E65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The terminal output makes the invisible input event visible.</a:t>
            </a:r>
          </a:p>
        </p:txBody>
      </p:sp>
    </p:spTree>
    <p:extLst>
      <p:ext uri="{BB962C8B-B14F-4D97-AF65-F5344CB8AC3E}">
        <p14:creationId xmlns:p14="http://schemas.microsoft.com/office/powerpoint/2010/main" val="20877398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68482373-D9AB-4415-8BAB-DC6C941D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WRAP-UP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8AEAA0-997E-4340-A91D-34FF7A99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What We Learned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638B6C66-977B-4D45-B688-F3154527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5EC7BBC-702A-4860-B777-2D533599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C622DED-D26F-4CDE-AD61-236B2681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BF55E23-96A7-485F-913B-F3606A94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64748B"/>
                </a:solidFill>
              </a:defRPr>
            </a:pPr>
            <a:r>
              <a:rPr sz="1725">
                <a:solidFill>
                  <a:srgbClr val="64748B"/>
                </a:solidFill>
              </a:rPr>
              <a:t>A small raylib program has a simple, repeatable shape:</a:t>
            </a:r>
          </a:p>
        </p:txBody>
      </p:sp>
      <p:sp>
        <p:nvSpPr>
          <p:cNvPr id="7" name="矩形: 圓角 6">
            <a:extLst xmlns:a="http://schemas.openxmlformats.org/drawingml/2006/main">
              <a:ext uri="{FF2B5EF4-FFF2-40B4-BE49-F238E27FC236}">
                <a16:creationId xmlns:a16="http://schemas.microsoft.com/office/drawing/2014/main" id="{186967EC-C3D6-497A-996D-68133DB3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762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橢圓 7">
            <a:extLst xmlns:a="http://schemas.openxmlformats.org/drawingml/2006/main">
              <a:ext uri="{FF2B5EF4-FFF2-40B4-BE49-F238E27FC236}">
                <a16:creationId xmlns:a16="http://schemas.microsoft.com/office/drawing/2014/main" id="{981A3605-FF11-404F-96CC-9690D0B0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3D"/>
          </a:solidFill>
          <a:ln xmlns:a="http://schemas.openxmlformats.org/drawingml/2006/main" w="9525">
            <a:solidFill>
              <a:srgbClr val="FFC4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64E7204-DEE8-477E-AA01-E076AC75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4213D"/>
                </a:solidFill>
              </a:defRPr>
            </a:pPr>
            <a:r>
              <a:rPr sz="1350" b="1">
                <a:solidFill>
                  <a:srgbClr val="14213D"/>
                </a:solidFill>
              </a:rPr>
              <a:t>01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1F841C3-A052-4DF9-A235-03157BD9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86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Window lifecycle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4CD8240-371F-4AFC-805B-92636FA3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48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initialize → loop → close</a:t>
            </a:r>
          </a:p>
        </p:txBody>
      </p:sp>
      <p:sp>
        <p:nvSpPr>
          <p:cNvPr id="12" name="矩形: 圓角 11">
            <a:extLst xmlns:a="http://schemas.openxmlformats.org/drawingml/2006/main">
              <a:ext uri="{FF2B5EF4-FFF2-40B4-BE49-F238E27FC236}">
                <a16:creationId xmlns:a16="http://schemas.microsoft.com/office/drawing/2014/main" id="{CB8363CA-3BEF-473B-91B3-C7738161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76500"/>
            <a:ext cx="4762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E0E067E3-49E7-4F3D-8BF5-CD27E9F4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43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B78"/>
          </a:solidFill>
          <a:ln xmlns:a="http://schemas.openxmlformats.org/drawingml/2006/main" w="9525">
            <a:solidFill>
              <a:srgbClr val="48BB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1031684-0E6A-4873-A6F4-F59A648A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4213D"/>
                </a:solidFill>
              </a:defRPr>
            </a:pPr>
            <a:r>
              <a:rPr sz="1350" b="1">
                <a:solidFill>
                  <a:srgbClr val="14213D"/>
                </a:solidFill>
              </a:rPr>
              <a:t>02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A5191B0-63E1-4B0E-A52A-B3923F76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860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Frame loop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8FDB4DB-04AB-45C8-B3C5-0D7ACFA1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begin → draw → end</a:t>
            </a:r>
          </a:p>
        </p:txBody>
      </p:sp>
      <p:sp>
        <p:nvSpPr>
          <p:cNvPr id="17" name="矩形: 圓角 16">
            <a:extLst xmlns:a="http://schemas.openxmlformats.org/drawingml/2006/main">
              <a:ext uri="{FF2B5EF4-FFF2-40B4-BE49-F238E27FC236}">
                <a16:creationId xmlns:a16="http://schemas.microsoft.com/office/drawing/2014/main" id="{2F019B97-9490-490C-A199-BCBC07E7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762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橢圓 17">
            <a:extLst xmlns:a="http://schemas.openxmlformats.org/drawingml/2006/main">
              <a:ext uri="{FF2B5EF4-FFF2-40B4-BE49-F238E27FC236}">
                <a16:creationId xmlns:a16="http://schemas.microsoft.com/office/drawing/2014/main" id="{011D1F96-2F4B-4A2B-9E83-A17058BA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B3ED"/>
          </a:solidFill>
          <a:ln xmlns:a="http://schemas.openxmlformats.org/drawingml/2006/main" w="9525">
            <a:solidFill>
              <a:srgbClr val="63B3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08547F3-E217-4659-8BD1-EFA6D0EB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4213D"/>
                </a:solidFill>
              </a:defRPr>
            </a:pPr>
            <a:r>
              <a:rPr sz="1350" b="1">
                <a:solidFill>
                  <a:srgbClr val="14213D"/>
                </a:solidFill>
              </a:rPr>
              <a:t>03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7FFA56B-AD4A-476B-BDBB-2C42A3A4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Drawing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11BFAFA-2064-4F01-884B-92AB161C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coordinates + simple shapes</a:t>
            </a:r>
          </a:p>
        </p:txBody>
      </p:sp>
      <p:sp>
        <p:nvSpPr>
          <p:cNvPr id="22" name="矩形: 圓角 21">
            <a:extLst xmlns:a="http://schemas.openxmlformats.org/drawingml/2006/main">
              <a:ext uri="{FF2B5EF4-FFF2-40B4-BE49-F238E27FC236}">
                <a16:creationId xmlns:a16="http://schemas.microsoft.com/office/drawing/2014/main" id="{0BE22D60-2E02-41FD-AAA6-2A971787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05250"/>
            <a:ext cx="4762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橢圓 22">
            <a:extLst xmlns:a="http://schemas.openxmlformats.org/drawingml/2006/main">
              <a:ext uri="{FF2B5EF4-FFF2-40B4-BE49-F238E27FC236}">
                <a16:creationId xmlns:a16="http://schemas.microsoft.com/office/drawing/2014/main" id="{30BC67B5-3E93-4D43-8950-F0751338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71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3471B72-765D-4C98-9CBC-9AD155AF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86250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4213D"/>
                </a:solidFill>
              </a:defRPr>
            </a:pPr>
            <a:r>
              <a:rPr sz="1350" b="1">
                <a:solidFill>
                  <a:srgbClr val="14213D"/>
                </a:solidFill>
              </a:rPr>
              <a:t>04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0CE5AED3-BD0F-4584-8B01-CA7EAF9E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213D"/>
                </a:solidFill>
              </a:defRPr>
            </a:pPr>
            <a:r>
              <a:rPr sz="1800" b="1">
                <a:solidFill>
                  <a:srgbClr val="14213D"/>
                </a:solidFill>
              </a:rPr>
              <a:t>Mouse input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5F249487-A611-4266-93A9-BC94F8DA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state + click event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CE559F97-72A7-4ED6-857F-9BC5A2D1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4213D"/>
                </a:solidFill>
              </a:defRPr>
            </a:pPr>
            <a:r>
              <a:rPr sz="1650" b="1">
                <a:solidFill>
                  <a:srgbClr val="14213D"/>
                </a:solidFill>
              </a:rPr>
              <a:t>We are not introducing Input → Update → Render yet.</a:t>
            </a:r>
          </a:p>
        </p:txBody>
      </p:sp>
    </p:spTree>
    <p:extLst>
      <p:ext uri="{BB962C8B-B14F-4D97-AF65-F5344CB8AC3E}">
        <p14:creationId xmlns:p14="http://schemas.microsoft.com/office/powerpoint/2010/main" val="8978016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5BACE9E-7A8E-4282-A946-8C72F99D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OPTIONAL · ONLY IF WE HAVE TIME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B1CFA4D-3D75-42B0-85E4-115DFE83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4213D"/>
                </a:solidFill>
              </a:defRPr>
            </a:pPr>
            <a:r>
              <a:rPr sz="2850" b="1">
                <a:solidFill>
                  <a:srgbClr val="14213D"/>
                </a:solidFill>
              </a:rPr>
              <a:t>Optional Challenge: Complete Example</a:t>
            </a:r>
          </a:p>
        </p:txBody>
      </p:sp>
      <p:sp>
        <p:nvSpPr>
          <p:cNvPr id="3" name="直線接點 2">
            <a:extLst xmlns:a="http://schemas.openxmlformats.org/drawingml/2006/main">
              <a:ext uri="{FF2B5EF4-FFF2-40B4-BE49-F238E27FC236}">
                <a16:creationId xmlns:a16="http://schemas.microsoft.com/office/drawing/2014/main" id="{A812F60F-BFE1-4039-82D1-C1D33F02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F574911-0F7B-4B1C-B05E-BFB00F8F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Club · Raylib Introduction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5E2B5C4-B438-4442-8822-2A36B405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960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64748B"/>
                </a:solidFill>
              </a:defRPr>
            </a:pPr>
            <a:r>
              <a:rPr sz="975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6" name="矩形: 圓角 5">
            <a:extLst xmlns:a="http://schemas.openxmlformats.org/drawingml/2006/main">
              <a:ext uri="{FF2B5EF4-FFF2-40B4-BE49-F238E27FC236}">
                <a16:creationId xmlns:a16="http://schemas.microsoft.com/office/drawing/2014/main" id="{2B291E87-E48C-4816-A956-3B51B4BF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2836" y="1562102"/>
            <a:ext cx="7906328" cy="1571623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DB"/>
          </a:solidFill>
          <a:ln xmlns:a="http://schemas.openxmlformats.org/drawingml/2006/main" w="9525">
            <a:solidFill>
              <a:srgbClr val="FFC4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    </a:t>
            </a:r>
            <a:r>
              <a:rPr sz="1600"/>
              <a:t>const int font_size = 30;</a:t>
            </a:r>
          </a:p>
          <a:p xmlns:a="http://schemas.openxmlformats.org/drawingml/2006/main">
            <a:r>
              <a:rPr sz="1600"/>
              <a:t>    </a:t>
            </a:r>
            <a:r>
              <a:rPr sz="1600"/>
              <a:t> </a:t>
            </a:r>
            <a:r>
              <a:rPr sz="1600"/>
              <a:t>const char* FollowText = "Raylib“</a:t>
            </a:r>
            <a:br/>
            <a:r>
              <a:rPr sz="1600"/>
              <a:t>    const int text_width = MeasureText(FollowText, font_size);</a:t>
            </a:r>
          </a:p>
          <a:p xmlns:a="http://schemas.openxmlformats.org/drawingml/2006/main">
            <a:r>
              <a:rPr sz="1600"/>
              <a:t>    const int text_x = (window_width - text_width) / 2;</a:t>
            </a:r>
          </a:p>
          <a:p xmlns:a="http://schemas.openxmlformats.org/drawingml/2006/main">
            <a:r>
              <a:rPr sz="1600"/>
              <a:t>    const int text_y = (window_height - font_size) / 2;</a:t>
            </a:r>
          </a:p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99B338F-90E0-45EB-8240-1F9A51B6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64748B"/>
                </a:solidFill>
              </a:defRPr>
            </a:pPr>
            <a:r>
              <a:rPr sz="1350">
                <a:solidFill>
                  <a:srgbClr val="64748B"/>
                </a:solidFill>
              </a:rPr>
              <a:t>Reference: reference/Ex.cpp</a:t>
            </a:r>
          </a:p>
        </p:txBody>
      </p:sp>
      <p:sp>
        <p:nvSpPr>
          <p:cNvPr id="23" name="矩形: 圓角 22">
            <a:extLst xmlns:a="http://schemas.openxmlformats.org/drawingml/2006/main">
              <a:ext uri="{FF2B5EF4-FFF2-40B4-BE49-F238E27FC236}">
                <a16:creationId xmlns:a16="http://schemas.microsoft.com/office/drawing/2014/main" id="{98884769-B968-9242-95BB-E3E361C1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927" y="3419475"/>
            <a:ext cx="6640945" cy="1857375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While(…)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 …</a:t>
            </a:r>
          </a:p>
          <a:p xmlns:a="http://schemas.openxmlformats.org/drawingml/2006/main">
            <a:r>
              <a:rPr sz="1600"/>
              <a:t>     DrawText(FollowText, text_x, text_y, font_size, RAYWHITE);</a:t>
            </a:r>
            <a:endParaRPr sz="1600"/>
          </a:p>
          <a:p xmlns:a="http://schemas.openxmlformats.org/drawingml/2006/main">
            <a:r>
              <a:rPr sz="1600"/>
              <a:t>     </a:t>
            </a:r>
            <a:r>
              <a:rPr sz="1600"/>
              <a:t>EndDrawing();</a:t>
            </a:r>
            <a:br/>
            <a:r>
              <a:t>}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518397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2026-08-08T08:23:39.4750000Z</dcterms:created>
  <dcterms:modified xsi:type="dcterms:W3CDTF">2026-08-08T08:23:39.4750000Z</dcterms:modified>
</coreProperties>
</file>