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Show the completed game before discussing implementation.</a:t>
            </a:r>
          </a:p>
          <a:p>
            <a:endParaRPr/>
          </a:p>
          <a:p>
            <a:r>
              <a:t>Live coding</a:t>
            </a:r>
          </a:p>
          <a:p>
            <a:r>
              <a:t>Run a prepared copy of reference/05.cpp, or explain the illustrated board. Keep the starter unchanged until live coding begins.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Students can describe the board, turns, results and restart behavior.</a:t>
            </a:r>
          </a:p>
          <a:p>
            <a:endParaRPr/>
          </a:p>
          <a:p>
            <a:r>
              <a:t>Common mistake</a:t>
            </a:r>
          </a:p>
          <a:p>
            <a:r>
              <a:t>Do not begin with a large finished source file. Establish a concrete goal first.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1-TicTacToe/reference/05.cpp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Separate game rules from implementation. All three boards are valid reachable positions.</a:t>
            </a:r>
          </a:p>
          <a:p>
            <a:endParaRPr/>
          </a:p>
          <a:p>
            <a:r>
              <a:t>Live coding</a:t>
            </a:r>
          </a:p>
          <a:p>
            <a:r>
              <a:t>Ask students to count X and O marks and identify why each result is valid.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X wins after 5 moves, O wins after 6, draw after 9 with no winning line.</a:t>
            </a:r>
          </a:p>
          <a:p>
            <a:endParaRPr/>
          </a:p>
          <a:p>
            <a:r>
              <a:t>Common mistake</a:t>
            </a:r>
          </a:p>
          <a:p>
            <a:r>
              <a:t>A full board may also contain a winning move. A draw requires no winner.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1-TicTacToe/reference/04.cpp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Check that everyone can run the starter before teaching arrays.</a:t>
            </a:r>
          </a:p>
          <a:p>
            <a:endParaRPr/>
          </a:p>
          <a:p>
            <a:r>
              <a:t>Live coding</a:t>
            </a:r>
          </a:p>
          <a:p>
            <a:r>
              <a:t>Open 1-TicTacToe/main.cpp. It already contains InitWindow, SetTargetFPS, the drawing loop and CloseWindow. Use the setup guide for the chosen compiler.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A blank RAYWHITE window appears; closing it ends the program.</a:t>
            </a:r>
          </a:p>
          <a:p>
            <a:endParaRPr/>
          </a:p>
          <a:p>
            <a:r>
              <a:t>Common mistake</a:t>
            </a:r>
          </a:p>
          <a:p>
            <a:r>
              <a:t>Do not compile all reference files together: each contains its own main. Compare with a reference, or use it in an isolated copy.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r>
              <a:t>Additional source: 1-TicTacToe/main.cpp and 0-Introduction/README.md.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Contrast persistent game state with per-frame drawing.</a:t>
            </a:r>
          </a:p>
          <a:p>
            <a:endParaRPr/>
          </a:p>
          <a:p>
            <a:r>
              <a:t>Live coding</a:t>
            </a:r>
          </a:p>
          <a:p>
            <a:r>
              <a:t>Point to the existing loop. Identify the input location before BeginDrawing and the render location after ClearBackground.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Drawing repeats every frame. A move changes state only on a valid click.</a:t>
            </a:r>
          </a:p>
          <a:p>
            <a:endParaRPr/>
          </a:p>
          <a:p>
            <a:r>
              <a:t>Common mistake</a:t>
            </a:r>
          </a:p>
          <a:p>
            <a:r>
              <a:t>Initializing the board inside the while loop erases every move.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Introduce state without using additional classes or enums.</a:t>
            </a:r>
          </a:p>
          <a:p>
            <a:endParaRPr/>
          </a:p>
          <a:p>
            <a:r>
              <a:t>Live coding</a:t>
            </a:r>
          </a:p>
          <a:p>
            <a:r>
              <a:t>Add these declarations to main. Explain each char literal. Defer reading the array until reset_board is implemented.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The board remembers all moves; current_player and winner each remember one value.</a:t>
            </a:r>
          </a:p>
          <a:p>
            <a:endParaRPr/>
          </a:p>
          <a:p>
            <a:r>
              <a:t>Common mistake</a:t>
            </a:r>
          </a:p>
          <a:p>
            <a:r>
              <a:t>The winner variable also encodes the ongoing and draw states; D is never stored in a board cell.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Use a single row to separate indexing from two-dimensional layout.</a:t>
            </a:r>
          </a:p>
          <a:p>
            <a:endParaRPr/>
          </a:p>
          <a:p>
            <a:r>
              <a:t>Live coding</a:t>
            </a:r>
          </a:p>
          <a:p>
            <a:r>
              <a:t>Explain the initial O at index 1 and the assignment replacing it with X. This is an illustration, not additional game state to paste.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row[0] is X, row[1] becomes X, row[2] is empty.</a:t>
            </a:r>
          </a:p>
          <a:p>
            <a:endParaRPr/>
          </a:p>
          <a:p>
            <a:r>
              <a:t>Common mistake</a:t>
            </a:r>
          </a:p>
          <a:p>
            <a:r>
              <a:t>Size 3 means three elements, not a valid index of 3.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Read indices in their written order.</a:t>
            </a:r>
          </a:p>
          <a:p>
            <a:endParaRPr/>
          </a:p>
          <a:p>
            <a:r>
              <a:t>Live coding</a:t>
            </a:r>
          </a:p>
          <a:p>
            <a:r>
              <a:t>Ask students to identify board[2][0] and board[0][2] on the illustration. Do not add this temporary assignment to the unfinished game yet.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board[2][0] is bottom-left; board[0][2] is top-right.</a:t>
            </a:r>
          </a:p>
          <a:p>
            <a:endParaRPr/>
          </a:p>
          <a:p>
            <a:r>
              <a:t>Common mistake</a:t>
            </a:r>
          </a:p>
          <a:p>
            <a:r>
              <a:t>Swapping row and column causes marks to appear across the diagonal.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Explain why declaring a local char array does not establish meaningful game state.</a:t>
            </a:r>
          </a:p>
          <a:p>
            <a:endParaRPr/>
          </a:p>
          <a:p>
            <a:r>
              <a:t>Live coding</a:t>
            </a:r>
          </a:p>
          <a:p>
            <a:r>
              <a:t>Do not read board until the next page has defined and called reset_board. Explain that zero initialization would still not match our dash convention.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All nine cells must be dash characters, not zero bytes or arbitrary initial values.</a:t>
            </a:r>
          </a:p>
          <a:p>
            <a:endParaRPr/>
          </a:p>
          <a:p>
            <a:r>
              <a:t>Common mistake</a:t>
            </a:r>
          </a:p>
          <a:p>
            <a:r>
              <a:t>char board[3][3] = {} fills zeros, which are not the empty marker used by this game.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Trace outer and inner loops with a 3 by 3 sketch. void means no return value.</a:t>
            </a:r>
          </a:p>
          <a:p>
            <a:endParaRPr/>
          </a:p>
          <a:p>
            <a:r>
              <a:t>Live coding</a:t>
            </a:r>
          </a:p>
          <a:p>
            <a:r>
              <a:t>Define reset_board above main, then add reset_board(board) after the declarations. Trace row=0 through column=0,1,2.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The function changes the caller’s array. The inner loop restarts at zero for each row.</a:t>
            </a:r>
          </a:p>
          <a:p>
            <a:endParaRPr/>
          </a:p>
          <a:p>
            <a:r>
              <a:t>Common mistake</a:t>
            </a:r>
          </a:p>
          <a:p>
            <a:r>
              <a:t>Use &lt; 3, not &lt;= 3. Neither the declaration nor the reset call belongs inside the frame loop.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Map all eight lines to exact array accesses without introducing a generalized algorithm.</a:t>
            </a:r>
          </a:p>
          <a:p>
            <a:endParaRPr/>
          </a:p>
          <a:p>
            <a:r>
              <a:t>Live coding</a:t>
            </a:r>
          </a:p>
          <a:p>
            <a:r>
              <a:t>Point out the three rows, three columns and two diagonals. Have a student translate 10 11 12 to accesses on row 1.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For row 1: board[1][0], board[1][1], board[1][2].</a:t>
            </a:r>
          </a:p>
          <a:p>
            <a:endParaRPr/>
          </a:p>
          <a:p>
            <a:r>
              <a:t>Common mistake</a:t>
            </a:r>
          </a:p>
          <a:p>
            <a:r>
              <a:t>All three must match player. Testing only that cells equal one another would incorrectly accept three empty cells.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Explain the read-only board parameter, player argument and bool result.</a:t>
            </a:r>
          </a:p>
          <a:p>
            <a:endParaRPr/>
          </a:p>
          <a:p>
            <a:r>
              <a:t>Live coding</a:t>
            </a:r>
          </a:p>
          <a:p>
            <a:r>
              <a:t>Write the row-0 case, then expand seven more explicit if statements using page 10. Ask a student to supply row 1 before continuing. The comments are insertion guides, not a completed algorithm.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Any matching line returns immediately. Only after all eight fail do we return false.</a:t>
            </a:r>
          </a:p>
          <a:p>
            <a:endParaRPr/>
          </a:p>
          <a:p>
            <a:r>
              <a:t>Common mistake</a:t>
            </a:r>
          </a:p>
          <a:p>
            <a:r>
              <a:t>Do not leave the seven checks unwritten. Do not put return false inside the first condition or between conditions.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r>
              <a:t>Complete reference implementation for live coding:</a:t>
            </a:r>
          </a:p>
          <a:p>
            <a:r>
              <a:t>bool check_win(const char board[3][3], char player)</a:t>
            </a:r>
          </a:p>
          <a:p>
            <a:r>
              <a:t>{</a:t>
            </a:r>
          </a:p>
          <a:p>
            <a:r>
              <a:t>    if (board[0][0] == player &amp;&amp; board[0][1] == player &amp;&amp; board[0][2] == player) return true;</a:t>
            </a:r>
          </a:p>
          <a:p>
            <a:r>
              <a:t>    if (board[1][0] == player &amp;&amp; board[1][1] == player &amp;&amp; board[1][2] == player) return true;</a:t>
            </a:r>
          </a:p>
          <a:p>
            <a:r>
              <a:t>    if (board[2][0] == player &amp;&amp; board[2][1] == player &amp;&amp; board[2][2] == player) return true;</a:t>
            </a:r>
          </a:p>
          <a:p>
            <a:endParaRPr/>
          </a:p>
          <a:p>
            <a:r>
              <a:t>    if (board[0][0] == player &amp;&amp; board[1][0] == player &amp;&amp; board[2][0] == player) return true;</a:t>
            </a:r>
          </a:p>
          <a:p>
            <a:r>
              <a:t>    if (board[0][1] == player &amp;&amp; board[1][1] == player &amp;&amp; board[2][1] == player) return true;</a:t>
            </a:r>
          </a:p>
          <a:p>
            <a:r>
              <a:t>    if (board[0][2] == player &amp;&amp; board[1][2] == player &amp;&amp; board[2][2] == player) return true;</a:t>
            </a:r>
          </a:p>
          <a:p>
            <a:endParaRPr/>
          </a:p>
          <a:p>
            <a:r>
              <a:t>    if (board[0][0] == player &amp;&amp; board[1][1] == player &amp;&amp; board[2][2] == player) return true;</a:t>
            </a:r>
          </a:p>
          <a:p>
            <a:r>
              <a:t>    if (board[0][2] == player &amp;&amp; board[1][1] == player &amp;&amp; board[2][0] == player) return true;</a:t>
            </a:r>
          </a:p>
          <a:p>
            <a:endParaRPr/>
          </a:p>
          <a:p>
            <a:r>
              <a:t>    return false;</a:t>
            </a:r>
          </a:p>
          <a:p>
            <a:r>
              <a:t>}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Use early return to stop searching when an empty cell is found.</a:t>
            </a:r>
          </a:p>
          <a:p>
            <a:endParaRPr/>
          </a:p>
          <a:p>
            <a:r>
              <a:t>Live coding</a:t>
            </a:r>
          </a:p>
          <a:p>
            <a:r>
              <a:t>Define is_board_full. Trace one empty board and one full board. const prevents edits through this parameter.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Empty board returns false on the first cell. A full board reaches return true after visiting all nine.</a:t>
            </a:r>
          </a:p>
          <a:p>
            <a:endParaRPr/>
          </a:p>
          <a:p>
            <a:r>
              <a:t>Common mistake</a:t>
            </a:r>
          </a:p>
          <a:p>
            <a:r>
              <a:t>return true inside either loop would stop too early. Fullness alone does not establish a draw.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Verify logic before connecting input and rendering. This is a natural stopping point.</a:t>
            </a:r>
          </a:p>
          <a:p>
            <a:endParaRPr/>
          </a:p>
          <a:p>
            <a:r>
              <a:t>Live coding</a:t>
            </a:r>
          </a:p>
          <a:p>
            <a:r>
              <a:t>Add void draw_board(const char board[3][3]) {} above main, then call draw_board(board) after ClearBackground to match reference/01.cpp. For temporary tests include &lt;cassert&gt; and assert helper results before InitWindow. Set known test cells, then reset again. Remove temporary tests and their include before continuing.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On an empty board: !check_win(board, X), !check_win(board, O), !is_board_full(board). Test all eight triples for both players; the legal draw board XOXXOOOXX is full and has no winner.</a:t>
            </a:r>
          </a:p>
          <a:p>
            <a:endParaRPr/>
          </a:p>
          <a:p>
            <a:r>
              <a:t>Common mistake</a:t>
            </a:r>
          </a:p>
          <a:p>
            <a:r>
              <a:t>The empty draw_board function is intentional at this checkpoint; the other three helpers are fully implemented, not supplied as unexplained code.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1-TicTacToe/reference/01.cpp (repository source, not a web reference).</a:t>
            </a:r>
          </a:p>
          <a:p>
            <a:r>
              <a:t>Temporary empty-board assertions:</a:t>
            </a:r>
          </a:p>
          <a:p>
            <a:r>
              <a:t>assert(!check_win(board, 'X'));</a:t>
            </a:r>
          </a:p>
          <a:p>
            <a:r>
              <a:t>assert(!check_win(board, 'O'));</a:t>
            </a:r>
          </a:p>
          <a:p>
            <a:r>
              <a:t>assert(!is_board_full(board));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Connect array indices to pixel boundaries.</a:t>
            </a:r>
          </a:p>
          <a:p>
            <a:endParaRPr/>
          </a:p>
          <a:p>
            <a:r>
              <a:t>Live coding</a:t>
            </a:r>
          </a:p>
          <a:p>
            <a:r>
              <a:t>Calculate the rectangle for board[1][2] verbally. Do not place row- or column-dependent variables outside their loops.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x depends on column; y depends on row. The bottom-right boundary is 900, but an input pixel of 900 is outside.</a:t>
            </a:r>
          </a:p>
          <a:p>
            <a:endParaRPr/>
          </a:p>
          <a:p>
            <a:r>
              <a:t>Common mistake</a:t>
            </a:r>
          </a:p>
          <a:p>
            <a:r>
              <a:t>A grid line at x=900 is a drawing boundary, not a valid click coordinate.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1-TicTacToe/reference/02.cpp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Derive positions rather than hard-coding four unrelated lines.</a:t>
            </a:r>
          </a:p>
          <a:p>
            <a:endParaRPr/>
          </a:p>
          <a:p>
            <a:r>
              <a:t>Live coding</a:t>
            </a:r>
          </a:p>
          <a:p>
            <a:r>
              <a:t>Replace draw_board’s empty body with the loop. Keep its call after ClearBackground and before EndDrawing.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Two vertical and two horizontal lines create nine cells.</a:t>
            </a:r>
          </a:p>
          <a:p>
            <a:endParaRPr/>
          </a:p>
          <a:p>
            <a:r>
              <a:t>Common mistake</a:t>
            </a:r>
          </a:p>
          <a:p>
            <a:r>
              <a:t>Starting at zero draws the outer edge. Clearing the background after draw_board would erase the grid. The reference uses window_width for the vertical endpoint and window_height for the horizontal one; both are 900 here.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1-TicTacToe/reference/02.cpp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Explain the drawing geometry before embedding it in nested loops.</a:t>
            </a:r>
          </a:p>
          <a:p>
            <a:endParaRPr/>
          </a:p>
          <a:p>
            <a:r>
              <a:t>Live coding</a:t>
            </a:r>
          </a:p>
          <a:p>
            <a:r>
              <a:t>Use the boundaries from page 14. Have students identify the two diagonals and the center offset of 150. Insert these calls only in page 17’s matching branches.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left+150 and top+150 locate the center. 2.0f makes the radius expression floating point.</a:t>
            </a:r>
          </a:p>
          <a:p>
            <a:endParaRPr/>
          </a:p>
          <a:p>
            <a:r>
              <a:t>Common mistake</a:t>
            </a:r>
          </a:p>
          <a:p>
            <a:r>
              <a:t>These snippets require left, top, right and bottom from the current cell. Do not paste them at file scope.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1-TicTacToe/reference/02.cpp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Combine index traversal, screen geometry and branching.</a:t>
            </a:r>
          </a:p>
          <a:p>
            <a:endParaRPr/>
          </a:p>
          <a:p>
            <a:r>
              <a:t>Live coding</a:t>
            </a:r>
          </a:p>
          <a:p>
            <a:r>
              <a:t>Append these loops after the grid loop; insert the complete X and O calls from page 16 in place of the comments. The paired const declarations are equivalent to the separate declarations in reference/02.cpp.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Every frame draws the current stored board. Empty cells need no additional branch.</a:t>
            </a:r>
          </a:p>
          <a:p>
            <a:endParaRPr/>
          </a:p>
          <a:p>
            <a:r>
              <a:t>Common mistake</a:t>
            </a:r>
          </a:p>
          <a:p>
            <a:r>
              <a:t>Do not put reset_board in draw_board. Preserve the grid loop when adding the symbol loops.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1-TicTacToe/reference/02.cpp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Verify rendering independently of input.</a:t>
            </a:r>
          </a:p>
          <a:p>
            <a:endParaRPr/>
          </a:p>
          <a:p>
            <a:r>
              <a:t>Live coding</a:t>
            </a:r>
          </a:p>
          <a:p>
            <a:r>
              <a:t>Temporarily assign board[1][2] after reset_board during setup, before InitWindow. Confirm its location. Remove the assignment and rerun before moving on.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O is in the middle-right cell. No clicks do anything yet.</a:t>
            </a:r>
          </a:p>
          <a:p>
            <a:endParaRPr/>
          </a:p>
          <a:p>
            <a:r>
              <a:t>Common mistake</a:t>
            </a:r>
          </a:p>
          <a:p>
            <a:r>
              <a:t>If the O appears bottom-middle, row and column have been swapped. If it never appears, check draw order and the draw_board call.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1-TicTacToe/reference/02.cpp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A press is processed once; a finished game ignores moves.</a:t>
            </a:r>
          </a:p>
          <a:p>
            <a:endParaRPr/>
          </a:p>
          <a:p>
            <a:r>
              <a:t>Live coding</a:t>
            </a:r>
          </a:p>
          <a:p>
            <a:r>
              <a:t>Add the complete outer structure. The empty finished branch is intentional at reference/03.cpp. Keep all later move code inside the bounds-checked else path.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Negative coordinates or coordinates at least 900 never index the array. Holding the mouse does not repeatedly place pieces.</a:t>
            </a:r>
          </a:p>
          <a:p>
            <a:endParaRPr/>
          </a:p>
          <a:p>
            <a:r>
              <a:t>Common mistake</a:t>
            </a:r>
          </a:p>
          <a:p>
            <a:r>
              <a:t>Do not check only row/column after division: negative values near zero can truncate to zero in C++.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Apply integer division only after validating nonnegative input coordinates.</a:t>
            </a:r>
          </a:p>
          <a:p>
            <a:endParaRPr/>
          </a:p>
          <a:p>
            <a:r>
              <a:t>Live coding</a:t>
            </a:r>
          </a:p>
          <a:p>
            <a:r>
              <a:t>Insert these declarations into the bounds block. Ask where x=299, x=300 and x=899 land.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Columns are 0, 1 and 2 respectively; x=900 is rejected before conversion.</a:t>
            </a:r>
          </a:p>
          <a:p>
            <a:endParaRPr/>
          </a:p>
          <a:p>
            <a:r>
              <a:t>Common mistake</a:t>
            </a:r>
          </a:p>
          <a:p>
            <a:r>
              <a:t>The access order is board[row][column], even though the mouse gives x first.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Treat a move as a validated state change, not just a click.</a:t>
            </a:r>
          </a:p>
          <a:p>
            <a:endParaRPr/>
          </a:p>
          <a:p>
            <a:r>
              <a:t>Live coding</a:t>
            </a:r>
          </a:p>
          <a:p>
            <a:r>
              <a:t>Add the empty-cell branch. Do not add turn switching here yet; it will be added once, after result checks.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Only the current player can mark an empty cell. Clicking an occupied cell does nothing.</a:t>
            </a:r>
          </a:p>
          <a:p>
            <a:endParaRPr/>
          </a:p>
          <a:p>
            <a:r>
              <a:t>Common mistake</a:t>
            </a:r>
          </a:p>
          <a:p>
            <a:r>
              <a:t>Do not switch players outside this if. At this intermediate page the turn has not been implemented yet.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Show why branch order is part of the game rules.</a:t>
            </a:r>
          </a:p>
          <a:p>
            <a:endParaRPr/>
          </a:p>
          <a:p>
            <a:r>
              <a:t>Live coding</a:t>
            </a:r>
          </a:p>
          <a:p>
            <a:r>
              <a:t>Replace the page-21 comment with this result chain. Ask whether a full winning board should display Draw.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winner becomes the player on a win. Otherwise a full board becomes D. Otherwise play continues.</a:t>
            </a:r>
          </a:p>
          <a:p>
            <a:endParaRPr/>
          </a:p>
          <a:p>
            <a:r>
              <a:t>Common mistake</a:t>
            </a:r>
          </a:p>
          <a:p>
            <a:r>
              <a:t>Testing fullness first would misclassify a winning ninth move as a draw.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Read the ternary operator as a compact choice between two char values.</a:t>
            </a:r>
          </a:p>
          <a:p>
            <a:endParaRPr/>
          </a:p>
          <a:p>
            <a:r>
              <a:t>Live coding</a:t>
            </a:r>
          </a:p>
          <a:p>
            <a:r>
              <a:t>Append else without adding a separate if. Show the equivalent if/else verbally; retain the expression used by the reference.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Switch happens after a valid nonterminal move. Wins and draws leave current_player unchanged.</a:t>
            </a:r>
          </a:p>
          <a:p>
            <a:endParaRPr/>
          </a:p>
          <a:p>
            <a:r>
              <a:t>Common mistake</a:t>
            </a:r>
          </a:p>
          <a:p>
            <a:r>
              <a:t>The new else must belong to the page-22 result chain, not the outer click condition.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Reconstruct the nested scope in words rather than squeezing the whole implementation into tiny text.</a:t>
            </a:r>
          </a:p>
          <a:p>
            <a:endParaRPr/>
          </a:p>
          <a:p>
            <a:r>
              <a:t>Live coding</a:t>
            </a:r>
          </a:p>
          <a:p>
            <a:r>
              <a:t>Walk through the actual reference/03.cpp input block in the editor. Match each line of this map to its condition.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A rejected click reaches neither the piece assignment nor the turn switch.</a:t>
            </a:r>
          </a:p>
          <a:p>
            <a:endParaRPr/>
          </a:p>
          <a:p>
            <a:r>
              <a:t>Common mistake</a:t>
            </a:r>
          </a:p>
          <a:p>
            <a:r>
              <a:t>Use this map to check brace placement; it is not code to paste.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Validate state updates before adding result feedback.</a:t>
            </a:r>
          </a:p>
          <a:p>
            <a:endParaRPr/>
          </a:p>
          <a:p>
            <a:r>
              <a:t>Live coding</a:t>
            </a:r>
          </a:p>
          <a:p>
            <a:r>
              <a:t>Compare with reference/03.cpp. Add the Turn text after draw_board and before EndDrawing as shown. Page 26 replaces this with conditional status.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Winning positions lock the board even though the result is not displayed yet. Holding does not create repeated moves. The turn label shows the final player after a win.</a:t>
            </a:r>
          </a:p>
          <a:p>
            <a:endParaRPr/>
          </a:p>
          <a:p>
            <a:r>
              <a:t>Common mistake</a:t>
            </a:r>
          </a:p>
          <a:p>
            <a:r>
              <a:t>If a finished game keeps accepting moves, inspect the winner guard. If invalid clicks switch players, inspect scope.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1-TicTacToe/reference/03.cpp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Render from winner and current_player without changing either value.</a:t>
            </a:r>
          </a:p>
          <a:p>
            <a:endParaRPr/>
          </a:p>
          <a:p>
            <a:r>
              <a:t>Live coding</a:t>
            </a:r>
          </a:p>
          <a:p>
            <a:r>
              <a:t>Insert after draw_board. Replace any unconditional Turn label from reference/03.cpp. TextFormat substitutes a char for %c. Add restart handling on the next page.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During play show Turn. After a terminal move show the correct result and restart instruction.</a:t>
            </a:r>
          </a:p>
          <a:p>
            <a:endParaRPr/>
          </a:p>
          <a:p>
            <a:r>
              <a:t>Common mistake</a:t>
            </a:r>
          </a:p>
          <a:p>
            <a:r>
              <a:t>A restart instruction alone does not implement restart. Do not reset state in this rendering branch.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1-TicTacToe/reference/04.cpp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Reset all three parts of game state together.</a:t>
            </a:r>
          </a:p>
          <a:p>
            <a:endParaRPr/>
          </a:p>
          <a:p>
            <a:r>
              <a:t>Live coding</a:t>
            </a:r>
          </a:p>
          <a:p>
            <a:r>
              <a:t>Replace the finished branch introduced on page 19; preserve the enclosing click if and its existing else containing bounds and move logic. Do not add a second outer handler.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Click after a result clears the board and restores X; that same click places no piece. The next click makes the first move.</a:t>
            </a:r>
          </a:p>
          <a:p>
            <a:endParaRPr/>
          </a:p>
          <a:p>
            <a:r>
              <a:t>Common mistake</a:t>
            </a:r>
          </a:p>
          <a:p>
            <a:r>
              <a:t>Two independent if statements could let the same click restart and immediately place X. Missing the outer click guard causes an immediate automatic reset.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1-TicTacToe/reference/04.cpp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Run a compact acceptance pass and invite paired testing.</a:t>
            </a:r>
          </a:p>
          <a:p>
            <a:endParaRPr/>
          </a:p>
          <a:p>
            <a:r>
              <a:t>Live coding</a:t>
            </a:r>
          </a:p>
          <a:p>
            <a:r>
              <a:t>Have pairs test rows, columns and diagonals with legal alternating moves. Draw sequence in flattened indices: 0,1,2,4,3,5,7,6,8. Winning ninth-move sequence: 0,1,2,3,4,5,7,6,8.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The first sequence ends in a draw; the second ends with X on diagonal 0,4,8 even though the board is full.</a:t>
            </a:r>
          </a:p>
          <a:p>
            <a:endParaRPr/>
          </a:p>
          <a:p>
            <a:r>
              <a:t>Common mistake</a:t>
            </a:r>
          </a:p>
          <a:p>
            <a:r>
              <a:t>Count turns in test positions. Avoid claiming an impossible board as a valid gameplay test.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1-TicTacToe/reference/04.cpp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Treat polish as rendering work after correct behavior. The before/after drawings are editable schematic illustrations of the same valid X-winning board.</a:t>
            </a:r>
          </a:p>
          <a:p>
            <a:endParaRPr/>
          </a:p>
          <a:p>
            <a:r>
              <a:t>Live coding</a:t>
            </a:r>
          </a:p>
          <a:p>
            <a:r>
              <a:t>Replace both X diagonals, reduce the O radius and insert the two panel calls before the existing result text. Retain the status conditions. Compare with reference/05.cpp.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Pieces have 40-pixel margins. The result panel covers the grid behind its text. A valid win and restart work exactly as before.</a:t>
            </a:r>
          </a:p>
          <a:p>
            <a:endParaRPr/>
          </a:p>
          <a:p>
            <a:r>
              <a:t>Common mistake</a:t>
            </a:r>
          </a:p>
          <a:p>
            <a:r>
              <a:t>Drawing the panel after its text covers the text. Do not change win logic during this step.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1-TicTacToe/reference/05.cpp (repository source, not a web reference).</a:t>
            </a:r>
          </a:p>
          <a:p>
            <a:r>
              <a:t>X replacement calls:</a:t>
            </a:r>
          </a:p>
          <a:p>
            <a:r>
              <a:t>DrawLine(left + 40, top + 40, right - 40, bottom - 40, BLACK);</a:t>
            </a:r>
          </a:p>
          <a:p>
            <a:r>
              <a:t>DrawLine(right - 40, top + 40, left + 40, bottom - 40, BLACK);</a:t>
            </a:r>
          </a:p>
          <a:p>
            <a:r>
              <a:t>O replacement:</a:t>
            </a:r>
          </a:p>
          <a:p>
            <a:r>
              <a:t>DrawCircleLines(left + 300 / 2, top + 300 / 2, 300 / 2.0f - 40.0f, BLACK);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Use retrieval questions rather than re-reading every code block.</a:t>
            </a:r>
          </a:p>
          <a:p>
            <a:endParaRPr/>
          </a:p>
          <a:p>
            <a:r>
              <a:t>Live coding</a:t>
            </a:r>
          </a:p>
          <a:p>
            <a:r>
              <a:t>Ask students to answer without looking, then point to the relevant line in their own main.cpp.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1: board array. 2: integer division gives row 1 and column 2. 3: the turn switch is inside a valid empty-cell move. 4: a ninth move may win. 5: reset board, set current_player to X, set winner to dash; the following click places X.</a:t>
            </a:r>
          </a:p>
          <a:p>
            <a:endParaRPr/>
          </a:p>
          <a:p>
            <a:r>
              <a:t>Common mistake</a:t>
            </a:r>
          </a:p>
          <a:p>
            <a:r>
              <a:t>Students may memorize code while confusing update and render responsibilities. Ask for the reason behind the placement of each operation.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1-TicTacToe/reference/05.cpp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focus</a:t>
            </a:r>
          </a:p>
          <a:p>
            <a:r>
              <a:t>Offer independent practice at different levels without implying Gomoku is a five-minute change.</a:t>
            </a:r>
          </a:p>
          <a:p>
            <a:endParaRPr/>
          </a:p>
          <a:p>
            <a:r>
              <a:t>Live coding</a:t>
            </a:r>
          </a:p>
          <a:p>
            <a:r>
              <a:t>Recommend a visual change first. For scores, update on the move that creates the result, not every rendered frame. For Gomoku, derive cell size and scan four directions with bounds checks.</a:t>
            </a:r>
          </a:p>
          <a:p>
            <a:endParaRPr/>
          </a:p>
          <a:p>
            <a:r>
              <a:t>Expected answer / behavior</a:t>
            </a:r>
          </a:p>
          <a:p>
            <a:r>
              <a:t>Students choose one challenge and can identify which state, input or drawing code must change.</a:t>
            </a:r>
          </a:p>
          <a:p>
            <a:endParaRPr/>
          </a:p>
          <a:p>
            <a:r>
              <a:t>Common mistake</a:t>
            </a:r>
          </a:p>
          <a:p>
            <a:r>
              <a:t>The hard-coded eight checks apply only to 3 by 3. New board dimensions require updated loops, coordinate math and a different win algorithm.</a:t>
            </a:r>
          </a:p>
          <a:p>
            <a:endParaRPr/>
          </a:p>
          <a:p>
            <a:r>
              <a:t>Source</a:t>
            </a:r>
          </a:p>
          <a:p>
            <a:r>
              <a:t>1-TicTacToe/reference/05.cpp (repository source, not a web reference).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AYLIB · CLUB WORKSHOP">
            <a:extLst>
              <a:ext uri="{FF2B5EF4-FFF2-40B4-BE49-F238E27FC236}">
                <a16:creationId xmlns:a16="http://schemas.microsoft.com/office/drawing/2014/main" id="{C690D136-266D-41EF-9292-6AD68392279D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RAYLIB · CLUB WORKSHOP</a:t>
            </a:r>
          </a:p>
        </p:txBody>
      </p:sp>
      <p:sp>
        <p:nvSpPr>
          <p:cNvPr id="2" name="Build Tic Tac Toe">
            <a:extLst>
              <a:ext uri="{FF2B5EF4-FFF2-40B4-BE49-F238E27FC236}">
                <a16:creationId xmlns:a16="http://schemas.microsoft.com/office/drawing/2014/main" id="{2DB75828-9AB3-4270-943E-D1A83DDB902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Build Tic Tac Toe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51B224CB-C9FA-4524-9CFD-972D3D50722D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6D9A8C4C-664E-476C-AD5D-4232F2318C90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BE8B4C63-2387-400B-99A3-4A252CF9A85E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A complete game, built one step at a time.">
            <a:extLst>
              <a:ext uri="{FF2B5EF4-FFF2-40B4-BE49-F238E27FC236}">
                <a16:creationId xmlns:a16="http://schemas.microsoft.com/office/drawing/2014/main" id="{714E147B-2B01-4914-9551-4A36125E0B54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71437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 complete game, built one step at a time.</a:t>
            </a:r>
          </a:p>
        </p:txBody>
      </p:sp>
      <p:sp>
        <p:nvSpPr>
          <p:cNvPr id="7" name="Store a board in a 2D array.">
            <a:extLst>
              <a:ext uri="{FF2B5EF4-FFF2-40B4-BE49-F238E27FC236}">
                <a16:creationId xmlns:a16="http://schemas.microsoft.com/office/drawing/2014/main" id="{26CDDE13-B82E-4E80-81CE-AEB001FA8F34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Store a board in a 2D array.</a:t>
            </a:r>
          </a:p>
        </p:txBody>
      </p:sp>
      <p:sp>
        <p:nvSpPr>
          <p:cNvPr id="8" name="Turn a click into a valid move.">
            <a:extLst>
              <a:ext uri="{FF2B5EF4-FFF2-40B4-BE49-F238E27FC236}">
                <a16:creationId xmlns:a16="http://schemas.microsoft.com/office/drawing/2014/main" id="{401FE536-22FE-4859-90E2-F24CC40508BD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Turn a click into a valid move.</a:t>
            </a:r>
          </a:p>
        </p:txBody>
      </p:sp>
      <p:sp>
        <p:nvSpPr>
          <p:cNvPr id="9" name="Detect wins and draws.">
            <a:extLst>
              <a:ext uri="{FF2B5EF4-FFF2-40B4-BE49-F238E27FC236}">
                <a16:creationId xmlns:a16="http://schemas.microsoft.com/office/drawing/2014/main" id="{0563F2ED-5656-4F70-BC76-E987C37FEA7E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Detect wins and draws.</a:t>
            </a:r>
          </a:p>
        </p:txBody>
      </p:sp>
      <p:sp>
        <p:nvSpPr>
          <p:cNvPr id="10" name="Restart a finished game.">
            <a:extLst>
              <a:ext uri="{FF2B5EF4-FFF2-40B4-BE49-F238E27FC236}">
                <a16:creationId xmlns:a16="http://schemas.microsoft.com/office/drawing/2014/main" id="{E28CE430-FC6B-4E6D-A9A4-8F98D16C4D25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Restart a finished game.</a:t>
            </a:r>
          </a:p>
        </p:txBody>
      </p:sp>
      <p:sp>
        <p:nvSpPr>
          <p:cNvPr id="11" name="surface">
            <a:extLst>
              <a:ext uri="{FF2B5EF4-FFF2-40B4-BE49-F238E27FC236}">
                <a16:creationId xmlns:a16="http://schemas.microsoft.com/office/drawing/2014/main" id="{87AA4B6E-7D8F-4471-B0F0-A18C96F8F845}"/>
              </a:ext>
            </a:extLst>
          </p:cNvPr>
          <p:cNvSpPr>
            <a:spLocks noGrp="1"/>
          </p:cNvSpPr>
          <p:nvPr/>
        </p:nvSpPr>
        <p:spPr>
          <a:xfrm>
            <a:off x="8420100" y="230505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X">
            <a:extLst>
              <a:ext uri="{FF2B5EF4-FFF2-40B4-BE49-F238E27FC236}">
                <a16:creationId xmlns:a16="http://schemas.microsoft.com/office/drawing/2014/main" id="{31A7E6BE-35DE-4F4B-98B2-809588AD49E4}"/>
              </a:ext>
            </a:extLst>
          </p:cNvPr>
          <p:cNvSpPr>
            <a:spLocks noGrp="1"/>
          </p:cNvSpPr>
          <p:nvPr/>
        </p:nvSpPr>
        <p:spPr>
          <a:xfrm>
            <a:off x="8420100" y="2476976"/>
            <a:ext cx="904875" cy="5881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27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327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49B3C27F-1541-4DD8-8432-FF1D11DFE73C}"/>
              </a:ext>
            </a:extLst>
          </p:cNvPr>
          <p:cNvSpPr>
            <a:spLocks noGrp="1"/>
          </p:cNvSpPr>
          <p:nvPr/>
        </p:nvSpPr>
        <p:spPr>
          <a:xfrm>
            <a:off x="9324975" y="230505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X">
            <a:extLst>
              <a:ext uri="{FF2B5EF4-FFF2-40B4-BE49-F238E27FC236}">
                <a16:creationId xmlns:a16="http://schemas.microsoft.com/office/drawing/2014/main" id="{F6378F86-CDE5-4474-891D-4672E81177F5}"/>
              </a:ext>
            </a:extLst>
          </p:cNvPr>
          <p:cNvSpPr>
            <a:spLocks noGrp="1"/>
          </p:cNvSpPr>
          <p:nvPr/>
        </p:nvSpPr>
        <p:spPr>
          <a:xfrm>
            <a:off x="9324975" y="2476976"/>
            <a:ext cx="904875" cy="5881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27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327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0FC056C3-5F73-4013-817F-ABC6A1DED1A1}"/>
              </a:ext>
            </a:extLst>
          </p:cNvPr>
          <p:cNvSpPr>
            <a:spLocks noGrp="1"/>
          </p:cNvSpPr>
          <p:nvPr/>
        </p:nvSpPr>
        <p:spPr>
          <a:xfrm>
            <a:off x="10229850" y="230505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X">
            <a:extLst>
              <a:ext uri="{FF2B5EF4-FFF2-40B4-BE49-F238E27FC236}">
                <a16:creationId xmlns:a16="http://schemas.microsoft.com/office/drawing/2014/main" id="{FFB521A6-3F99-4AEE-8FB1-B1F9251656FB}"/>
              </a:ext>
            </a:extLst>
          </p:cNvPr>
          <p:cNvSpPr>
            <a:spLocks noGrp="1"/>
          </p:cNvSpPr>
          <p:nvPr/>
        </p:nvSpPr>
        <p:spPr>
          <a:xfrm>
            <a:off x="10229850" y="2476976"/>
            <a:ext cx="904875" cy="5881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27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327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7" name="surface">
            <a:extLst>
              <a:ext uri="{FF2B5EF4-FFF2-40B4-BE49-F238E27FC236}">
                <a16:creationId xmlns:a16="http://schemas.microsoft.com/office/drawing/2014/main" id="{44726A83-4F04-4D69-A55B-85BC98580C58}"/>
              </a:ext>
            </a:extLst>
          </p:cNvPr>
          <p:cNvSpPr>
            <a:spLocks noGrp="1"/>
          </p:cNvSpPr>
          <p:nvPr/>
        </p:nvSpPr>
        <p:spPr>
          <a:xfrm>
            <a:off x="8420100" y="3209925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O">
            <a:extLst>
              <a:ext uri="{FF2B5EF4-FFF2-40B4-BE49-F238E27FC236}">
                <a16:creationId xmlns:a16="http://schemas.microsoft.com/office/drawing/2014/main" id="{492FF858-10AD-4CDA-9BE4-435D67A9681C}"/>
              </a:ext>
            </a:extLst>
          </p:cNvPr>
          <p:cNvSpPr>
            <a:spLocks noGrp="1"/>
          </p:cNvSpPr>
          <p:nvPr/>
        </p:nvSpPr>
        <p:spPr>
          <a:xfrm>
            <a:off x="8420100" y="3381851"/>
            <a:ext cx="904875" cy="5881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27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327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96304AEA-013A-4464-BE23-7E03DB2E487C}"/>
              </a:ext>
            </a:extLst>
          </p:cNvPr>
          <p:cNvSpPr>
            <a:spLocks noGrp="1"/>
          </p:cNvSpPr>
          <p:nvPr/>
        </p:nvSpPr>
        <p:spPr>
          <a:xfrm>
            <a:off x="9324975" y="3209925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O">
            <a:extLst>
              <a:ext uri="{FF2B5EF4-FFF2-40B4-BE49-F238E27FC236}">
                <a16:creationId xmlns:a16="http://schemas.microsoft.com/office/drawing/2014/main" id="{03E26D1B-188C-45BD-8B84-B18D855362F0}"/>
              </a:ext>
            </a:extLst>
          </p:cNvPr>
          <p:cNvSpPr>
            <a:spLocks noGrp="1"/>
          </p:cNvSpPr>
          <p:nvPr/>
        </p:nvSpPr>
        <p:spPr>
          <a:xfrm>
            <a:off x="9324975" y="3381851"/>
            <a:ext cx="904875" cy="5881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27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327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21" name="surface">
            <a:extLst>
              <a:ext uri="{FF2B5EF4-FFF2-40B4-BE49-F238E27FC236}">
                <a16:creationId xmlns:a16="http://schemas.microsoft.com/office/drawing/2014/main" id="{0357BAF3-244A-4374-B5F7-FE554ADC9371}"/>
              </a:ext>
            </a:extLst>
          </p:cNvPr>
          <p:cNvSpPr>
            <a:spLocks noGrp="1"/>
          </p:cNvSpPr>
          <p:nvPr/>
        </p:nvSpPr>
        <p:spPr>
          <a:xfrm>
            <a:off x="10229850" y="3209925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urface">
            <a:extLst>
              <a:ext uri="{FF2B5EF4-FFF2-40B4-BE49-F238E27FC236}">
                <a16:creationId xmlns:a16="http://schemas.microsoft.com/office/drawing/2014/main" id="{BB12F100-078F-408A-AAEB-FD9FB08ABD19}"/>
              </a:ext>
            </a:extLst>
          </p:cNvPr>
          <p:cNvSpPr>
            <a:spLocks noGrp="1"/>
          </p:cNvSpPr>
          <p:nvPr/>
        </p:nvSpPr>
        <p:spPr>
          <a:xfrm>
            <a:off x="8420100" y="411480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135B8724-EECE-471A-980F-1012EAFFEDC7}"/>
              </a:ext>
            </a:extLst>
          </p:cNvPr>
          <p:cNvSpPr>
            <a:spLocks noGrp="1"/>
          </p:cNvSpPr>
          <p:nvPr/>
        </p:nvSpPr>
        <p:spPr>
          <a:xfrm>
            <a:off x="9324975" y="411480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urface">
            <a:extLst>
              <a:ext uri="{FF2B5EF4-FFF2-40B4-BE49-F238E27FC236}">
                <a16:creationId xmlns:a16="http://schemas.microsoft.com/office/drawing/2014/main" id="{33EA3081-94FE-44EA-875A-0D8A9F07DE59}"/>
              </a:ext>
            </a:extLst>
          </p:cNvPr>
          <p:cNvSpPr>
            <a:spLocks noGrp="1"/>
          </p:cNvSpPr>
          <p:nvPr/>
        </p:nvSpPr>
        <p:spPr>
          <a:xfrm>
            <a:off x="10229850" y="411480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Illustration: X wins">
            <a:extLst>
              <a:ext uri="{FF2B5EF4-FFF2-40B4-BE49-F238E27FC236}">
                <a16:creationId xmlns:a16="http://schemas.microsoft.com/office/drawing/2014/main" id="{CABF0BD4-0485-4BCA-B205-7A8AF4763D33}"/>
              </a:ext>
            </a:extLst>
          </p:cNvPr>
          <p:cNvSpPr>
            <a:spLocks noGrp="1"/>
          </p:cNvSpPr>
          <p:nvPr/>
        </p:nvSpPr>
        <p:spPr>
          <a:xfrm>
            <a:off x="8324850" y="5172075"/>
            <a:ext cx="29051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Illustration: X wins</a:t>
            </a:r>
          </a:p>
        </p:txBody>
      </p:sp>
      <p:sp>
        <p:nvSpPr>
          <p:cNvPr id="26" name="surface">
            <a:extLst>
              <a:ext uri="{FF2B5EF4-FFF2-40B4-BE49-F238E27FC236}">
                <a16:creationId xmlns:a16="http://schemas.microsoft.com/office/drawing/2014/main" id="{D6ADD694-ED15-42CA-9BF5-3EB58601CF9E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Five runnable checkpoints. Pause between them">
            <a:extLst>
              <a:ext uri="{FF2B5EF4-FFF2-40B4-BE49-F238E27FC236}">
                <a16:creationId xmlns:a16="http://schemas.microsoft.com/office/drawing/2014/main" id="{2C3AE895-61BE-4D17-8D77-4105A088A2E6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Five runnable checkpoints. Pause between them as needed.</a:t>
            </a:r>
          </a:p>
        </p:txBody>
      </p:sp>
    </p:spTree>
    <p:extLst>
      <p:ext uri="{BB962C8B-B14F-4D97-AF65-F5344CB8AC3E}">
        <p14:creationId xmlns:p14="http://schemas.microsoft.com/office/powerpoint/2010/main" val="209039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ROJECT GOAL">
            <a:extLst>
              <a:ext uri="{FF2B5EF4-FFF2-40B4-BE49-F238E27FC236}">
                <a16:creationId xmlns:a16="http://schemas.microsoft.com/office/drawing/2014/main" id="{01B58183-5598-407A-BD3C-57F8426EA62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PROJECT GOAL</a:t>
            </a:r>
          </a:p>
        </p:txBody>
      </p:sp>
      <p:sp>
        <p:nvSpPr>
          <p:cNvPr id="2" name="The rules and the finish line">
            <a:extLst>
              <a:ext uri="{FF2B5EF4-FFF2-40B4-BE49-F238E27FC236}">
                <a16:creationId xmlns:a16="http://schemas.microsoft.com/office/drawing/2014/main" id="{E9A8D8FB-4DDC-40D5-909F-299396107F9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rules and the finish line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957E2208-23E4-4E97-8ABB-14B082CBFEB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DCC25EF2-294E-4C72-BD7F-F3BACDF2A35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D9557F2E-A557-4402-8831-C540E8ADA7F8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X moves first. Choose an empty cell.">
            <a:extLst>
              <a:ext uri="{FF2B5EF4-FFF2-40B4-BE49-F238E27FC236}">
                <a16:creationId xmlns:a16="http://schemas.microsoft.com/office/drawing/2014/main" id="{BDB6FAE7-99E3-4C4A-B294-448C950F0C7E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 moves first. Choose an empty cell.</a:t>
            </a:r>
          </a:p>
        </p:txBody>
      </p:sp>
      <p:sp>
        <p:nvSpPr>
          <p:cNvPr id="7" name="Three matching pieces in a line win.">
            <a:extLst>
              <a:ext uri="{FF2B5EF4-FFF2-40B4-BE49-F238E27FC236}">
                <a16:creationId xmlns:a16="http://schemas.microsoft.com/office/drawing/2014/main" id="{0740EA10-3DE3-4B26-AE85-A2BE851EC625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Three matching pieces in a line win.</a:t>
            </a:r>
          </a:p>
        </p:txBody>
      </p:sp>
      <p:sp>
        <p:nvSpPr>
          <p:cNvPr id="8" name="A full board without a winner is a draw.">
            <a:extLst>
              <a:ext uri="{FF2B5EF4-FFF2-40B4-BE49-F238E27FC236}">
                <a16:creationId xmlns:a16="http://schemas.microsoft.com/office/drawing/2014/main" id="{F8AB4ADD-B4A6-4048-8306-0ED53820535F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 full board without a winner is a draw.</a:t>
            </a:r>
          </a:p>
        </p:txBody>
      </p:sp>
      <p:sp>
        <p:nvSpPr>
          <p:cNvPr id="9" name="After the result, click to play again.">
            <a:extLst>
              <a:ext uri="{FF2B5EF4-FFF2-40B4-BE49-F238E27FC236}">
                <a16:creationId xmlns:a16="http://schemas.microsoft.com/office/drawing/2014/main" id="{76D88A6B-9D72-48FB-8944-93C8F7C0E6ED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After the result, click to play again.</a:t>
            </a:r>
          </a:p>
        </p:txBody>
      </p:sp>
      <p:sp>
        <p:nvSpPr>
          <p:cNvPr id="10" name="surface">
            <a:extLst>
              <a:ext uri="{FF2B5EF4-FFF2-40B4-BE49-F238E27FC236}">
                <a16:creationId xmlns:a16="http://schemas.microsoft.com/office/drawing/2014/main" id="{BB5DE7D4-1FEF-4E30-8CD8-AF4CCF4B1413}"/>
              </a:ext>
            </a:extLst>
          </p:cNvPr>
          <p:cNvSpPr>
            <a:spLocks noGrp="1"/>
          </p:cNvSpPr>
          <p:nvPr/>
        </p:nvSpPr>
        <p:spPr>
          <a:xfrm>
            <a:off x="1143000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X">
            <a:extLst>
              <a:ext uri="{FF2B5EF4-FFF2-40B4-BE49-F238E27FC236}">
                <a16:creationId xmlns:a16="http://schemas.microsoft.com/office/drawing/2014/main" id="{6BF2C2E5-38C9-4CED-A542-93C37BBA959D}"/>
              </a:ext>
            </a:extLst>
          </p:cNvPr>
          <p:cNvSpPr>
            <a:spLocks noGrp="1"/>
          </p:cNvSpPr>
          <p:nvPr/>
        </p:nvSpPr>
        <p:spPr>
          <a:xfrm>
            <a:off x="1143000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2" name="surface">
            <a:extLst>
              <a:ext uri="{FF2B5EF4-FFF2-40B4-BE49-F238E27FC236}">
                <a16:creationId xmlns:a16="http://schemas.microsoft.com/office/drawing/2014/main" id="{16A1EE7F-CDEC-43C1-933D-BAFB14EE52EF}"/>
              </a:ext>
            </a:extLst>
          </p:cNvPr>
          <p:cNvSpPr>
            <a:spLocks noGrp="1"/>
          </p:cNvSpPr>
          <p:nvPr/>
        </p:nvSpPr>
        <p:spPr>
          <a:xfrm>
            <a:off x="1752600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X">
            <a:extLst>
              <a:ext uri="{FF2B5EF4-FFF2-40B4-BE49-F238E27FC236}">
                <a16:creationId xmlns:a16="http://schemas.microsoft.com/office/drawing/2014/main" id="{3080451C-C45A-4A30-908E-7E31FBA95AF9}"/>
              </a:ext>
            </a:extLst>
          </p:cNvPr>
          <p:cNvSpPr>
            <a:spLocks noGrp="1"/>
          </p:cNvSpPr>
          <p:nvPr/>
        </p:nvSpPr>
        <p:spPr>
          <a:xfrm>
            <a:off x="1752600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4" name="surface">
            <a:extLst>
              <a:ext uri="{FF2B5EF4-FFF2-40B4-BE49-F238E27FC236}">
                <a16:creationId xmlns:a16="http://schemas.microsoft.com/office/drawing/2014/main" id="{13636800-694A-43FE-B8B2-7642362DAD0D}"/>
              </a:ext>
            </a:extLst>
          </p:cNvPr>
          <p:cNvSpPr>
            <a:spLocks noGrp="1"/>
          </p:cNvSpPr>
          <p:nvPr/>
        </p:nvSpPr>
        <p:spPr>
          <a:xfrm>
            <a:off x="2362200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X">
            <a:extLst>
              <a:ext uri="{FF2B5EF4-FFF2-40B4-BE49-F238E27FC236}">
                <a16:creationId xmlns:a16="http://schemas.microsoft.com/office/drawing/2014/main" id="{7CAB4185-2344-4AE8-8B35-1AC34C46FBF4}"/>
              </a:ext>
            </a:extLst>
          </p:cNvPr>
          <p:cNvSpPr>
            <a:spLocks noGrp="1"/>
          </p:cNvSpPr>
          <p:nvPr/>
        </p:nvSpPr>
        <p:spPr>
          <a:xfrm>
            <a:off x="2362200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6" name="surface">
            <a:extLst>
              <a:ext uri="{FF2B5EF4-FFF2-40B4-BE49-F238E27FC236}">
                <a16:creationId xmlns:a16="http://schemas.microsoft.com/office/drawing/2014/main" id="{5D13B251-1FBB-4A10-B016-CF9E17037773}"/>
              </a:ext>
            </a:extLst>
          </p:cNvPr>
          <p:cNvSpPr>
            <a:spLocks noGrp="1"/>
          </p:cNvSpPr>
          <p:nvPr/>
        </p:nvSpPr>
        <p:spPr>
          <a:xfrm>
            <a:off x="1143000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O">
            <a:extLst>
              <a:ext uri="{FF2B5EF4-FFF2-40B4-BE49-F238E27FC236}">
                <a16:creationId xmlns:a16="http://schemas.microsoft.com/office/drawing/2014/main" id="{31B2191F-2901-42F8-BAF9-2DC0251B430D}"/>
              </a:ext>
            </a:extLst>
          </p:cNvPr>
          <p:cNvSpPr>
            <a:spLocks noGrp="1"/>
          </p:cNvSpPr>
          <p:nvPr/>
        </p:nvSpPr>
        <p:spPr>
          <a:xfrm>
            <a:off x="1143000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D66AC08C-C44B-4865-9D73-6CAC6598F345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O">
            <a:extLst>
              <a:ext uri="{FF2B5EF4-FFF2-40B4-BE49-F238E27FC236}">
                <a16:creationId xmlns:a16="http://schemas.microsoft.com/office/drawing/2014/main" id="{4A4A8D81-63E0-4860-849D-6F4DED2B614A}"/>
              </a:ext>
            </a:extLst>
          </p:cNvPr>
          <p:cNvSpPr>
            <a:spLocks noGrp="1"/>
          </p:cNvSpPr>
          <p:nvPr/>
        </p:nvSpPr>
        <p:spPr>
          <a:xfrm>
            <a:off x="1752600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20" name="surface">
            <a:extLst>
              <a:ext uri="{FF2B5EF4-FFF2-40B4-BE49-F238E27FC236}">
                <a16:creationId xmlns:a16="http://schemas.microsoft.com/office/drawing/2014/main" id="{F089D41B-BBD5-4BEC-9F96-21FA0818FF67}"/>
              </a:ext>
            </a:extLst>
          </p:cNvPr>
          <p:cNvSpPr>
            <a:spLocks noGrp="1"/>
          </p:cNvSpPr>
          <p:nvPr/>
        </p:nvSpPr>
        <p:spPr>
          <a:xfrm>
            <a:off x="2362200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urface">
            <a:extLst>
              <a:ext uri="{FF2B5EF4-FFF2-40B4-BE49-F238E27FC236}">
                <a16:creationId xmlns:a16="http://schemas.microsoft.com/office/drawing/2014/main" id="{E2CD80E5-71F2-4464-A733-6A7A6292C11D}"/>
              </a:ext>
            </a:extLst>
          </p:cNvPr>
          <p:cNvSpPr>
            <a:spLocks noGrp="1"/>
          </p:cNvSpPr>
          <p:nvPr/>
        </p:nvSpPr>
        <p:spPr>
          <a:xfrm>
            <a:off x="1143000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urface">
            <a:extLst>
              <a:ext uri="{FF2B5EF4-FFF2-40B4-BE49-F238E27FC236}">
                <a16:creationId xmlns:a16="http://schemas.microsoft.com/office/drawing/2014/main" id="{8505E3DB-D667-4ED4-9AF3-4C7478049455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F56FEF5B-DD0B-40B0-965A-746DB9BA7191}"/>
              </a:ext>
            </a:extLst>
          </p:cNvPr>
          <p:cNvSpPr>
            <a:spLocks noGrp="1"/>
          </p:cNvSpPr>
          <p:nvPr/>
        </p:nvSpPr>
        <p:spPr>
          <a:xfrm>
            <a:off x="2362200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X wins">
            <a:extLst>
              <a:ext uri="{FF2B5EF4-FFF2-40B4-BE49-F238E27FC236}">
                <a16:creationId xmlns:a16="http://schemas.microsoft.com/office/drawing/2014/main" id="{78A15841-94F6-4133-8FF7-55DE10BBAC16}"/>
              </a:ext>
            </a:extLst>
          </p:cNvPr>
          <p:cNvSpPr>
            <a:spLocks noGrp="1"/>
          </p:cNvSpPr>
          <p:nvPr/>
        </p:nvSpPr>
        <p:spPr>
          <a:xfrm>
            <a:off x="1047750" y="5581650"/>
            <a:ext cx="20193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X wins</a:t>
            </a:r>
          </a:p>
        </p:txBody>
      </p:sp>
      <p:sp>
        <p:nvSpPr>
          <p:cNvPr id="25" name="surface">
            <a:extLst>
              <a:ext uri="{FF2B5EF4-FFF2-40B4-BE49-F238E27FC236}">
                <a16:creationId xmlns:a16="http://schemas.microsoft.com/office/drawing/2014/main" id="{EBC0A422-37B2-4FE3-A50B-0FB28DCD7032}"/>
              </a:ext>
            </a:extLst>
          </p:cNvPr>
          <p:cNvSpPr>
            <a:spLocks noGrp="1"/>
          </p:cNvSpPr>
          <p:nvPr/>
        </p:nvSpPr>
        <p:spPr>
          <a:xfrm>
            <a:off x="5143500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X">
            <a:extLst>
              <a:ext uri="{FF2B5EF4-FFF2-40B4-BE49-F238E27FC236}">
                <a16:creationId xmlns:a16="http://schemas.microsoft.com/office/drawing/2014/main" id="{D23648DA-F760-40A5-AFF5-40DA83571BB3}"/>
              </a:ext>
            </a:extLst>
          </p:cNvPr>
          <p:cNvSpPr>
            <a:spLocks noGrp="1"/>
          </p:cNvSpPr>
          <p:nvPr/>
        </p:nvSpPr>
        <p:spPr>
          <a:xfrm>
            <a:off x="5143500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7" name="surface">
            <a:extLst>
              <a:ext uri="{FF2B5EF4-FFF2-40B4-BE49-F238E27FC236}">
                <a16:creationId xmlns:a16="http://schemas.microsoft.com/office/drawing/2014/main" id="{8F7CAB52-1AF6-4316-B8E3-BF3130D85B81}"/>
              </a:ext>
            </a:extLst>
          </p:cNvPr>
          <p:cNvSpPr>
            <a:spLocks noGrp="1"/>
          </p:cNvSpPr>
          <p:nvPr/>
        </p:nvSpPr>
        <p:spPr>
          <a:xfrm>
            <a:off x="5753100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X">
            <a:extLst>
              <a:ext uri="{FF2B5EF4-FFF2-40B4-BE49-F238E27FC236}">
                <a16:creationId xmlns:a16="http://schemas.microsoft.com/office/drawing/2014/main" id="{46BD6493-AF7C-4FA0-9DF4-475E33398F88}"/>
              </a:ext>
            </a:extLst>
          </p:cNvPr>
          <p:cNvSpPr>
            <a:spLocks noGrp="1"/>
          </p:cNvSpPr>
          <p:nvPr/>
        </p:nvSpPr>
        <p:spPr>
          <a:xfrm>
            <a:off x="5753100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9" name="surface">
            <a:extLst>
              <a:ext uri="{FF2B5EF4-FFF2-40B4-BE49-F238E27FC236}">
                <a16:creationId xmlns:a16="http://schemas.microsoft.com/office/drawing/2014/main" id="{050C5028-436C-4E58-BCF5-46724C5554B1}"/>
              </a:ext>
            </a:extLst>
          </p:cNvPr>
          <p:cNvSpPr>
            <a:spLocks noGrp="1"/>
          </p:cNvSpPr>
          <p:nvPr/>
        </p:nvSpPr>
        <p:spPr>
          <a:xfrm>
            <a:off x="6362700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urface">
            <a:extLst>
              <a:ext uri="{FF2B5EF4-FFF2-40B4-BE49-F238E27FC236}">
                <a16:creationId xmlns:a16="http://schemas.microsoft.com/office/drawing/2014/main" id="{E7B21783-6556-4438-ADD4-F2523E8E341D}"/>
              </a:ext>
            </a:extLst>
          </p:cNvPr>
          <p:cNvSpPr>
            <a:spLocks noGrp="1"/>
          </p:cNvSpPr>
          <p:nvPr/>
        </p:nvSpPr>
        <p:spPr>
          <a:xfrm>
            <a:off x="5143500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O">
            <a:extLst>
              <a:ext uri="{FF2B5EF4-FFF2-40B4-BE49-F238E27FC236}">
                <a16:creationId xmlns:a16="http://schemas.microsoft.com/office/drawing/2014/main" id="{6BE01B43-500C-49DF-AB3F-CF9EEB863933}"/>
              </a:ext>
            </a:extLst>
          </p:cNvPr>
          <p:cNvSpPr>
            <a:spLocks noGrp="1"/>
          </p:cNvSpPr>
          <p:nvPr/>
        </p:nvSpPr>
        <p:spPr>
          <a:xfrm>
            <a:off x="5143500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2" name="surface">
            <a:extLst>
              <a:ext uri="{FF2B5EF4-FFF2-40B4-BE49-F238E27FC236}">
                <a16:creationId xmlns:a16="http://schemas.microsoft.com/office/drawing/2014/main" id="{6333E2DA-E4C7-4358-A325-6E707D10B4B5}"/>
              </a:ext>
            </a:extLst>
          </p:cNvPr>
          <p:cNvSpPr>
            <a:spLocks noGrp="1"/>
          </p:cNvSpPr>
          <p:nvPr/>
        </p:nvSpPr>
        <p:spPr>
          <a:xfrm>
            <a:off x="5753100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O">
            <a:extLst>
              <a:ext uri="{FF2B5EF4-FFF2-40B4-BE49-F238E27FC236}">
                <a16:creationId xmlns:a16="http://schemas.microsoft.com/office/drawing/2014/main" id="{AD410194-ED06-4A86-98B2-62FE814244DB}"/>
              </a:ext>
            </a:extLst>
          </p:cNvPr>
          <p:cNvSpPr>
            <a:spLocks noGrp="1"/>
          </p:cNvSpPr>
          <p:nvPr/>
        </p:nvSpPr>
        <p:spPr>
          <a:xfrm>
            <a:off x="5753100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4" name="surface">
            <a:extLst>
              <a:ext uri="{FF2B5EF4-FFF2-40B4-BE49-F238E27FC236}">
                <a16:creationId xmlns:a16="http://schemas.microsoft.com/office/drawing/2014/main" id="{668EF5B6-1BDE-4F48-A738-B7D16F7FEA2F}"/>
              </a:ext>
            </a:extLst>
          </p:cNvPr>
          <p:cNvSpPr>
            <a:spLocks noGrp="1"/>
          </p:cNvSpPr>
          <p:nvPr/>
        </p:nvSpPr>
        <p:spPr>
          <a:xfrm>
            <a:off x="6362700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O">
            <a:extLst>
              <a:ext uri="{FF2B5EF4-FFF2-40B4-BE49-F238E27FC236}">
                <a16:creationId xmlns:a16="http://schemas.microsoft.com/office/drawing/2014/main" id="{970A0178-6663-49C2-9113-5C12E7F767F5}"/>
              </a:ext>
            </a:extLst>
          </p:cNvPr>
          <p:cNvSpPr>
            <a:spLocks noGrp="1"/>
          </p:cNvSpPr>
          <p:nvPr/>
        </p:nvSpPr>
        <p:spPr>
          <a:xfrm>
            <a:off x="6362700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36" name="surface">
            <a:extLst>
              <a:ext uri="{FF2B5EF4-FFF2-40B4-BE49-F238E27FC236}">
                <a16:creationId xmlns:a16="http://schemas.microsoft.com/office/drawing/2014/main" id="{887BA153-1A10-4E45-996A-F8AF20D27B57}"/>
              </a:ext>
            </a:extLst>
          </p:cNvPr>
          <p:cNvSpPr>
            <a:spLocks noGrp="1"/>
          </p:cNvSpPr>
          <p:nvPr/>
        </p:nvSpPr>
        <p:spPr>
          <a:xfrm>
            <a:off x="5143500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X">
            <a:extLst>
              <a:ext uri="{FF2B5EF4-FFF2-40B4-BE49-F238E27FC236}">
                <a16:creationId xmlns:a16="http://schemas.microsoft.com/office/drawing/2014/main" id="{3569CB6A-50D5-4C51-90C5-B0B1349D8202}"/>
              </a:ext>
            </a:extLst>
          </p:cNvPr>
          <p:cNvSpPr>
            <a:spLocks noGrp="1"/>
          </p:cNvSpPr>
          <p:nvPr/>
        </p:nvSpPr>
        <p:spPr>
          <a:xfrm>
            <a:off x="5143500" y="49354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38" name="surface">
            <a:extLst>
              <a:ext uri="{FF2B5EF4-FFF2-40B4-BE49-F238E27FC236}">
                <a16:creationId xmlns:a16="http://schemas.microsoft.com/office/drawing/2014/main" id="{CC367430-783A-4F4D-A890-A8A8AF971246}"/>
              </a:ext>
            </a:extLst>
          </p:cNvPr>
          <p:cNvSpPr>
            <a:spLocks noGrp="1"/>
          </p:cNvSpPr>
          <p:nvPr/>
        </p:nvSpPr>
        <p:spPr>
          <a:xfrm>
            <a:off x="5753100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urface">
            <a:extLst>
              <a:ext uri="{FF2B5EF4-FFF2-40B4-BE49-F238E27FC236}">
                <a16:creationId xmlns:a16="http://schemas.microsoft.com/office/drawing/2014/main" id="{B6B7CE5D-C16E-44EC-A7C3-19FBAABCF6DE}"/>
              </a:ext>
            </a:extLst>
          </p:cNvPr>
          <p:cNvSpPr>
            <a:spLocks noGrp="1"/>
          </p:cNvSpPr>
          <p:nvPr/>
        </p:nvSpPr>
        <p:spPr>
          <a:xfrm>
            <a:off x="6362700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O wins">
            <a:extLst>
              <a:ext uri="{FF2B5EF4-FFF2-40B4-BE49-F238E27FC236}">
                <a16:creationId xmlns:a16="http://schemas.microsoft.com/office/drawing/2014/main" id="{0BAE5A00-5A75-4208-BB82-279D145FD3C0}"/>
              </a:ext>
            </a:extLst>
          </p:cNvPr>
          <p:cNvSpPr>
            <a:spLocks noGrp="1"/>
          </p:cNvSpPr>
          <p:nvPr/>
        </p:nvSpPr>
        <p:spPr>
          <a:xfrm>
            <a:off x="5048250" y="5581650"/>
            <a:ext cx="20193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O wins</a:t>
            </a:r>
          </a:p>
        </p:txBody>
      </p:sp>
      <p:sp>
        <p:nvSpPr>
          <p:cNvPr id="41" name="surface">
            <a:extLst>
              <a:ext uri="{FF2B5EF4-FFF2-40B4-BE49-F238E27FC236}">
                <a16:creationId xmlns:a16="http://schemas.microsoft.com/office/drawing/2014/main" id="{AE6D925F-9C33-49D3-B1F4-2B2716C568C2}"/>
              </a:ext>
            </a:extLst>
          </p:cNvPr>
          <p:cNvSpPr>
            <a:spLocks noGrp="1"/>
          </p:cNvSpPr>
          <p:nvPr/>
        </p:nvSpPr>
        <p:spPr>
          <a:xfrm>
            <a:off x="9115425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X">
            <a:extLst>
              <a:ext uri="{FF2B5EF4-FFF2-40B4-BE49-F238E27FC236}">
                <a16:creationId xmlns:a16="http://schemas.microsoft.com/office/drawing/2014/main" id="{579AF38A-439A-4F79-942B-AE3743D75621}"/>
              </a:ext>
            </a:extLst>
          </p:cNvPr>
          <p:cNvSpPr>
            <a:spLocks noGrp="1"/>
          </p:cNvSpPr>
          <p:nvPr/>
        </p:nvSpPr>
        <p:spPr>
          <a:xfrm>
            <a:off x="9115425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43" name="surface">
            <a:extLst>
              <a:ext uri="{FF2B5EF4-FFF2-40B4-BE49-F238E27FC236}">
                <a16:creationId xmlns:a16="http://schemas.microsoft.com/office/drawing/2014/main" id="{4581D327-F891-4476-B834-A5C37A48D15F}"/>
              </a:ext>
            </a:extLst>
          </p:cNvPr>
          <p:cNvSpPr>
            <a:spLocks noGrp="1"/>
          </p:cNvSpPr>
          <p:nvPr/>
        </p:nvSpPr>
        <p:spPr>
          <a:xfrm>
            <a:off x="9725025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O">
            <a:extLst>
              <a:ext uri="{FF2B5EF4-FFF2-40B4-BE49-F238E27FC236}">
                <a16:creationId xmlns:a16="http://schemas.microsoft.com/office/drawing/2014/main" id="{E3C9FB5B-1A2D-470C-919D-5BD5D13E6AA1}"/>
              </a:ext>
            </a:extLst>
          </p:cNvPr>
          <p:cNvSpPr>
            <a:spLocks noGrp="1"/>
          </p:cNvSpPr>
          <p:nvPr/>
        </p:nvSpPr>
        <p:spPr>
          <a:xfrm>
            <a:off x="9725025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45" name="surface">
            <a:extLst>
              <a:ext uri="{FF2B5EF4-FFF2-40B4-BE49-F238E27FC236}">
                <a16:creationId xmlns:a16="http://schemas.microsoft.com/office/drawing/2014/main" id="{D5C52DB2-9791-4A4C-9F37-C2127DAF8408}"/>
              </a:ext>
            </a:extLst>
          </p:cNvPr>
          <p:cNvSpPr>
            <a:spLocks noGrp="1"/>
          </p:cNvSpPr>
          <p:nvPr/>
        </p:nvSpPr>
        <p:spPr>
          <a:xfrm>
            <a:off x="10334625" y="36004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X">
            <a:extLst>
              <a:ext uri="{FF2B5EF4-FFF2-40B4-BE49-F238E27FC236}">
                <a16:creationId xmlns:a16="http://schemas.microsoft.com/office/drawing/2014/main" id="{A315981D-4A2A-4D22-BE82-9B631A4C94FE}"/>
              </a:ext>
            </a:extLst>
          </p:cNvPr>
          <p:cNvSpPr>
            <a:spLocks noGrp="1"/>
          </p:cNvSpPr>
          <p:nvPr/>
        </p:nvSpPr>
        <p:spPr>
          <a:xfrm>
            <a:off x="10334625" y="37162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47" name="surface">
            <a:extLst>
              <a:ext uri="{FF2B5EF4-FFF2-40B4-BE49-F238E27FC236}">
                <a16:creationId xmlns:a16="http://schemas.microsoft.com/office/drawing/2014/main" id="{CBDF4B75-0D8A-4A85-97CC-8890219A71BC}"/>
              </a:ext>
            </a:extLst>
          </p:cNvPr>
          <p:cNvSpPr>
            <a:spLocks noGrp="1"/>
          </p:cNvSpPr>
          <p:nvPr/>
        </p:nvSpPr>
        <p:spPr>
          <a:xfrm>
            <a:off x="9115425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X">
            <a:extLst>
              <a:ext uri="{FF2B5EF4-FFF2-40B4-BE49-F238E27FC236}">
                <a16:creationId xmlns:a16="http://schemas.microsoft.com/office/drawing/2014/main" id="{40D7C1C7-C82C-476E-AF26-A064CABC237A}"/>
              </a:ext>
            </a:extLst>
          </p:cNvPr>
          <p:cNvSpPr>
            <a:spLocks noGrp="1"/>
          </p:cNvSpPr>
          <p:nvPr/>
        </p:nvSpPr>
        <p:spPr>
          <a:xfrm>
            <a:off x="9115425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49" name="surface">
            <a:extLst>
              <a:ext uri="{FF2B5EF4-FFF2-40B4-BE49-F238E27FC236}">
                <a16:creationId xmlns:a16="http://schemas.microsoft.com/office/drawing/2014/main" id="{B6227964-24D1-4D2D-9808-3351E560E959}"/>
              </a:ext>
            </a:extLst>
          </p:cNvPr>
          <p:cNvSpPr>
            <a:spLocks noGrp="1"/>
          </p:cNvSpPr>
          <p:nvPr/>
        </p:nvSpPr>
        <p:spPr>
          <a:xfrm>
            <a:off x="9725025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O">
            <a:extLst>
              <a:ext uri="{FF2B5EF4-FFF2-40B4-BE49-F238E27FC236}">
                <a16:creationId xmlns:a16="http://schemas.microsoft.com/office/drawing/2014/main" id="{2D6DF373-6D12-419D-AEF8-6B3E91B36486}"/>
              </a:ext>
            </a:extLst>
          </p:cNvPr>
          <p:cNvSpPr>
            <a:spLocks noGrp="1"/>
          </p:cNvSpPr>
          <p:nvPr/>
        </p:nvSpPr>
        <p:spPr>
          <a:xfrm>
            <a:off x="9725025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51" name="surface">
            <a:extLst>
              <a:ext uri="{FF2B5EF4-FFF2-40B4-BE49-F238E27FC236}">
                <a16:creationId xmlns:a16="http://schemas.microsoft.com/office/drawing/2014/main" id="{A73B8FDB-0C3D-4FE5-8287-1A62A6BAAD59}"/>
              </a:ext>
            </a:extLst>
          </p:cNvPr>
          <p:cNvSpPr>
            <a:spLocks noGrp="1"/>
          </p:cNvSpPr>
          <p:nvPr/>
        </p:nvSpPr>
        <p:spPr>
          <a:xfrm>
            <a:off x="10334625" y="42100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O">
            <a:extLst>
              <a:ext uri="{FF2B5EF4-FFF2-40B4-BE49-F238E27FC236}">
                <a16:creationId xmlns:a16="http://schemas.microsoft.com/office/drawing/2014/main" id="{6182B51C-3758-455D-8621-CEDFCB549986}"/>
              </a:ext>
            </a:extLst>
          </p:cNvPr>
          <p:cNvSpPr>
            <a:spLocks noGrp="1"/>
          </p:cNvSpPr>
          <p:nvPr/>
        </p:nvSpPr>
        <p:spPr>
          <a:xfrm>
            <a:off x="10334625" y="43258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53" name="surface">
            <a:extLst>
              <a:ext uri="{FF2B5EF4-FFF2-40B4-BE49-F238E27FC236}">
                <a16:creationId xmlns:a16="http://schemas.microsoft.com/office/drawing/2014/main" id="{D6937A18-7604-4FF6-9846-10542AA9A144}"/>
              </a:ext>
            </a:extLst>
          </p:cNvPr>
          <p:cNvSpPr>
            <a:spLocks noGrp="1"/>
          </p:cNvSpPr>
          <p:nvPr/>
        </p:nvSpPr>
        <p:spPr>
          <a:xfrm>
            <a:off x="9115425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O">
            <a:extLst>
              <a:ext uri="{FF2B5EF4-FFF2-40B4-BE49-F238E27FC236}">
                <a16:creationId xmlns:a16="http://schemas.microsoft.com/office/drawing/2014/main" id="{A89CB8E3-C95C-46AB-9BFC-0E7C8DD5D6C5}"/>
              </a:ext>
            </a:extLst>
          </p:cNvPr>
          <p:cNvSpPr>
            <a:spLocks noGrp="1"/>
          </p:cNvSpPr>
          <p:nvPr/>
        </p:nvSpPr>
        <p:spPr>
          <a:xfrm>
            <a:off x="9115425" y="49354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55" name="surface">
            <a:extLst>
              <a:ext uri="{FF2B5EF4-FFF2-40B4-BE49-F238E27FC236}">
                <a16:creationId xmlns:a16="http://schemas.microsoft.com/office/drawing/2014/main" id="{49D48151-1B95-4D24-B1E2-C21D0CD49361}"/>
              </a:ext>
            </a:extLst>
          </p:cNvPr>
          <p:cNvSpPr>
            <a:spLocks noGrp="1"/>
          </p:cNvSpPr>
          <p:nvPr/>
        </p:nvSpPr>
        <p:spPr>
          <a:xfrm>
            <a:off x="9725025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X">
            <a:extLst>
              <a:ext uri="{FF2B5EF4-FFF2-40B4-BE49-F238E27FC236}">
                <a16:creationId xmlns:a16="http://schemas.microsoft.com/office/drawing/2014/main" id="{3FD9DE64-2D4E-43F1-9959-49DDF63918B9}"/>
              </a:ext>
            </a:extLst>
          </p:cNvPr>
          <p:cNvSpPr>
            <a:spLocks noGrp="1"/>
          </p:cNvSpPr>
          <p:nvPr/>
        </p:nvSpPr>
        <p:spPr>
          <a:xfrm>
            <a:off x="9725025" y="49354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57" name="surface">
            <a:extLst>
              <a:ext uri="{FF2B5EF4-FFF2-40B4-BE49-F238E27FC236}">
                <a16:creationId xmlns:a16="http://schemas.microsoft.com/office/drawing/2014/main" id="{CB4B230D-E2C7-4D0D-9E66-8E7D03F8F773}"/>
              </a:ext>
            </a:extLst>
          </p:cNvPr>
          <p:cNvSpPr>
            <a:spLocks noGrp="1"/>
          </p:cNvSpPr>
          <p:nvPr/>
        </p:nvSpPr>
        <p:spPr>
          <a:xfrm>
            <a:off x="10334625" y="4819650"/>
            <a:ext cx="6096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X">
            <a:extLst>
              <a:ext uri="{FF2B5EF4-FFF2-40B4-BE49-F238E27FC236}">
                <a16:creationId xmlns:a16="http://schemas.microsoft.com/office/drawing/2014/main" id="{A3FEAE64-7347-47EB-BB15-7BAB616B26D4}"/>
              </a:ext>
            </a:extLst>
          </p:cNvPr>
          <p:cNvSpPr>
            <a:spLocks noGrp="1"/>
          </p:cNvSpPr>
          <p:nvPr/>
        </p:nvSpPr>
        <p:spPr>
          <a:xfrm>
            <a:off x="10334625" y="4935474"/>
            <a:ext cx="609600" cy="396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0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0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59" name="Draw">
            <a:extLst>
              <a:ext uri="{FF2B5EF4-FFF2-40B4-BE49-F238E27FC236}">
                <a16:creationId xmlns:a16="http://schemas.microsoft.com/office/drawing/2014/main" id="{A329F0B9-E555-463A-AD82-36693E0B4C51}"/>
              </a:ext>
            </a:extLst>
          </p:cNvPr>
          <p:cNvSpPr>
            <a:spLocks noGrp="1"/>
          </p:cNvSpPr>
          <p:nvPr/>
        </p:nvSpPr>
        <p:spPr>
          <a:xfrm>
            <a:off x="9020175" y="5581650"/>
            <a:ext cx="20193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Draw</a:t>
            </a:r>
          </a:p>
        </p:txBody>
      </p:sp>
    </p:spTree>
    <p:extLst>
      <p:ext uri="{BB962C8B-B14F-4D97-AF65-F5344CB8AC3E}">
        <p14:creationId xmlns:p14="http://schemas.microsoft.com/office/powerpoint/2010/main" val="209039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TUP">
            <a:extLst>
              <a:ext uri="{FF2B5EF4-FFF2-40B4-BE49-F238E27FC236}">
                <a16:creationId xmlns:a16="http://schemas.microsoft.com/office/drawing/2014/main" id="{FC9484A8-E756-437F-B7BC-A79B2178CE11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2" name="Open the starter and run it">
            <a:extLst>
              <a:ext uri="{FF2B5EF4-FFF2-40B4-BE49-F238E27FC236}">
                <a16:creationId xmlns:a16="http://schemas.microsoft.com/office/drawing/2014/main" id="{96551D64-9C2E-4CCE-A5AA-39EC71E57B8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Open the starter and run it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1F7F8420-8727-493E-9951-18743AC831ED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13563AA4-C860-46C1-84E7-592D57817F1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9D85B9DD-042A-4B62-9144-A5D0EDA39F07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6" name="1  Open the 1-TicTacToe project folder.">
            <a:extLst>
              <a:ext uri="{FF2B5EF4-FFF2-40B4-BE49-F238E27FC236}">
                <a16:creationId xmlns:a16="http://schemas.microsoft.com/office/drawing/2014/main" id="{CF1AE2ED-9152-4866-A930-DD5F9647298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1  Open the 1-TicTacToe project folder.</a:t>
            </a:r>
          </a:p>
        </p:txBody>
      </p:sp>
      <p:sp>
        <p:nvSpPr>
          <p:cNvPr id="7" name="2  Build and run with your configured C++ too">
            <a:extLst>
              <a:ext uri="{FF2B5EF4-FFF2-40B4-BE49-F238E27FC236}">
                <a16:creationId xmlns:a16="http://schemas.microsoft.com/office/drawing/2014/main" id="{134D9D1F-4C43-4DE1-BA8B-DEA25508FDCE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2  Build and run with your configured C++ toolchain.</a:t>
            </a:r>
          </a:p>
        </p:txBody>
      </p:sp>
      <p:sp>
        <p:nvSpPr>
          <p:cNvPr id="8" name="3  Confirm that a blank 900 × 900 window open">
            <a:extLst>
              <a:ext uri="{FF2B5EF4-FFF2-40B4-BE49-F238E27FC236}">
                <a16:creationId xmlns:a16="http://schemas.microsoft.com/office/drawing/2014/main" id="{45F386C0-72AF-4831-9853-59E6DEAA649D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3  Confirm that a blank 900 × 900 window opens.</a:t>
            </a:r>
          </a:p>
        </p:txBody>
      </p:sp>
      <p:sp>
        <p:nvSpPr>
          <p:cNvPr id="9" name="4  Edit main.cpp together during the workshop">
            <a:extLst>
              <a:ext uri="{FF2B5EF4-FFF2-40B4-BE49-F238E27FC236}">
                <a16:creationId xmlns:a16="http://schemas.microsoft.com/office/drawing/2014/main" id="{B595217A-B8B1-4B75-AD39-A4694CCA00A3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4  Edit main.cpp together during the workshop.</a:t>
            </a:r>
          </a:p>
        </p:txBody>
      </p:sp>
      <p:sp>
        <p:nvSpPr>
          <p:cNvPr id="10" name="surface">
            <a:extLst>
              <a:ext uri="{FF2B5EF4-FFF2-40B4-BE49-F238E27FC236}">
                <a16:creationId xmlns:a16="http://schemas.microsoft.com/office/drawing/2014/main" id="{A91A1905-C05B-4AA0-89A8-DA7F6122917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1104900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main.cpp">
            <a:extLst>
              <a:ext uri="{FF2B5EF4-FFF2-40B4-BE49-F238E27FC236}">
                <a16:creationId xmlns:a16="http://schemas.microsoft.com/office/drawing/2014/main" id="{B8BDCC92-933F-4514-A32C-3141ED2C7943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72235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172235"/>
                </a:solidFill>
                <a:latin typeface="Consolas"/>
                <a:ea typeface="Consolas"/>
                <a:cs typeface="Consolas"/>
              </a:rPr>
              <a:t>main.cpp</a:t>
            </a:r>
          </a:p>
        </p:txBody>
      </p:sp>
      <p:sp>
        <p:nvSpPr>
          <p:cNvPr id="12" name="Our live coding file">
            <a:extLst>
              <a:ext uri="{FF2B5EF4-FFF2-40B4-BE49-F238E27FC236}">
                <a16:creationId xmlns:a16="http://schemas.microsoft.com/office/drawing/2014/main" id="{43868C34-EF2F-4B9F-99E2-D332780BBF70}"/>
              </a:ext>
            </a:extLst>
          </p:cNvPr>
          <p:cNvSpPr>
            <a:spLocks noGrp="1"/>
          </p:cNvSpPr>
          <p:nvPr/>
        </p:nvSpPr>
        <p:spPr>
          <a:xfrm>
            <a:off x="838200" y="506730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Our live coding file</a:t>
            </a:r>
          </a:p>
        </p:txBody>
      </p:sp>
      <p:sp>
        <p:nvSpPr>
          <p:cNvPr id="13" name="reference/01.cpp … 05.cpp">
            <a:extLst>
              <a:ext uri="{FF2B5EF4-FFF2-40B4-BE49-F238E27FC236}">
                <a16:creationId xmlns:a16="http://schemas.microsoft.com/office/drawing/2014/main" id="{D2E5E426-5B9A-49B0-BB16-C9109558A348}"/>
              </a:ext>
            </a:extLst>
          </p:cNvPr>
          <p:cNvSpPr>
            <a:spLocks noGrp="1"/>
          </p:cNvSpPr>
          <p:nvPr/>
        </p:nvSpPr>
        <p:spPr>
          <a:xfrm>
            <a:off x="5924550" y="462915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72235"/>
                </a:solidFill>
                <a:latin typeface="Consolas"/>
                <a:ea typeface="Consolas"/>
                <a:cs typeface="Consolas"/>
              </a:rPr>
              <a:t>reference/01.cpp … 05.cpp</a:t>
            </a:r>
          </a:p>
        </p:txBody>
      </p:sp>
      <p:sp>
        <p:nvSpPr>
          <p:cNvPr id="14" name="Completed checkpoints for comparison">
            <a:extLst>
              <a:ext uri="{FF2B5EF4-FFF2-40B4-BE49-F238E27FC236}">
                <a16:creationId xmlns:a16="http://schemas.microsoft.com/office/drawing/2014/main" id="{FF73C349-9DC0-46C3-8FBF-F4F7A411332B}"/>
              </a:ext>
            </a:extLst>
          </p:cNvPr>
          <p:cNvSpPr>
            <a:spLocks noGrp="1"/>
          </p:cNvSpPr>
          <p:nvPr/>
        </p:nvSpPr>
        <p:spPr>
          <a:xfrm>
            <a:off x="5924550" y="50673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Completed checkpoints for comparison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4A11C817-B15E-4028-AD3F-C8246FB522B7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etup help: 0-Introduction/README.md. Open th">
            <a:extLst>
              <a:ext uri="{FF2B5EF4-FFF2-40B4-BE49-F238E27FC236}">
                <a16:creationId xmlns:a16="http://schemas.microsoft.com/office/drawing/2014/main" id="{9BCE3524-11FC-41D0-A51E-1DC79424DF9F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Setup help: 0-Introduction/README.md. Open this project, not the repo root.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AME LOOP">
            <a:extLst>
              <a:ext uri="{FF2B5EF4-FFF2-40B4-BE49-F238E27FC236}">
                <a16:creationId xmlns:a16="http://schemas.microsoft.com/office/drawing/2014/main" id="{D1AE2115-C1BB-4983-8701-B788EA20E4E2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GAME LOOP</a:t>
            </a:r>
          </a:p>
        </p:txBody>
      </p:sp>
      <p:sp>
        <p:nvSpPr>
          <p:cNvPr id="2" name="The loop reads, updates and draws">
            <a:extLst>
              <a:ext uri="{FF2B5EF4-FFF2-40B4-BE49-F238E27FC236}">
                <a16:creationId xmlns:a16="http://schemas.microsoft.com/office/drawing/2014/main" id="{7F726EAA-7E63-48FE-90B5-5F645CD5439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loop reads, updates and draws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DE62D637-DE8D-4854-B69A-2F24B6C9102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D8A7A0A5-E0CB-4E5A-800B-90A2495D5DE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AB7C8D30-F358-44A6-B740-36CBD77079C8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6" name="LOCATE: existing while loop in main()">
            <a:extLst>
              <a:ext uri="{FF2B5EF4-FFF2-40B4-BE49-F238E27FC236}">
                <a16:creationId xmlns:a16="http://schemas.microsoft.com/office/drawing/2014/main" id="{FA779AAF-E80D-44EC-910D-40AE5D6BE2DE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LOCATE: existing while loop in main()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F406307E-CB1A-4E9C-96AD-2995A9A6DBD1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620000" cy="2661949"/>
          </a:xfrm>
          <a:prstGeom prst="roundRect">
            <a:avLst>
              <a:gd name="adj" fmla="val 286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while (!WindowShouldClose())">
            <a:extLst>
              <a:ext uri="{FF2B5EF4-FFF2-40B4-BE49-F238E27FC236}">
                <a16:creationId xmlns:a16="http://schemas.microsoft.com/office/drawing/2014/main" id="{5F9AD778-3FED-4C42-A8F0-3F3EA0E38537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while (!WindowShouldClose())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004A5B15-89BD-4A62-8529-467ED7DDD399}"/>
              </a:ext>
            </a:extLst>
          </p:cNvPr>
          <p:cNvSpPr>
            <a:spLocks noGrp="1"/>
          </p:cNvSpPr>
          <p:nvPr/>
        </p:nvSpPr>
        <p:spPr>
          <a:xfrm>
            <a:off x="800100" y="2399669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// Input and state updates go here.">
            <a:extLst>
              <a:ext uri="{FF2B5EF4-FFF2-40B4-BE49-F238E27FC236}">
                <a16:creationId xmlns:a16="http://schemas.microsoft.com/office/drawing/2014/main" id="{E0A25185-C62C-4E62-BF0E-3875FD220858}"/>
              </a:ext>
            </a:extLst>
          </p:cNvPr>
          <p:cNvSpPr>
            <a:spLocks noGrp="1"/>
          </p:cNvSpPr>
          <p:nvPr/>
        </p:nvSpPr>
        <p:spPr>
          <a:xfrm>
            <a:off x="800100" y="2694312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// Input and state updates go here.</a:t>
            </a:r>
          </a:p>
        </p:txBody>
      </p:sp>
      <p:sp>
        <p:nvSpPr>
          <p:cNvPr id="11" name="    BeginDrawing();">
            <a:extLst>
              <a:ext uri="{FF2B5EF4-FFF2-40B4-BE49-F238E27FC236}">
                <a16:creationId xmlns:a16="http://schemas.microsoft.com/office/drawing/2014/main" id="{376020C7-BE6A-451E-B5E5-1EBFF760EAE8}"/>
              </a:ext>
            </a:extLst>
          </p:cNvPr>
          <p:cNvSpPr>
            <a:spLocks noGrp="1"/>
          </p:cNvSpPr>
          <p:nvPr/>
        </p:nvSpPr>
        <p:spPr>
          <a:xfrm>
            <a:off x="800100" y="2988956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BeginDrawing();</a:t>
            </a:r>
          </a:p>
        </p:txBody>
      </p:sp>
      <p:sp>
        <p:nvSpPr>
          <p:cNvPr id="12" name="    ClearBackground(RAYWHITE);">
            <a:extLst>
              <a:ext uri="{FF2B5EF4-FFF2-40B4-BE49-F238E27FC236}">
                <a16:creationId xmlns:a16="http://schemas.microsoft.com/office/drawing/2014/main" id="{244B5DC6-209B-4DEF-9E72-71E710AE8D36}"/>
              </a:ext>
            </a:extLst>
          </p:cNvPr>
          <p:cNvSpPr>
            <a:spLocks noGrp="1"/>
          </p:cNvSpPr>
          <p:nvPr/>
        </p:nvSpPr>
        <p:spPr>
          <a:xfrm>
            <a:off x="800100" y="3283600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ClearBackground(RAYWHITE);</a:t>
            </a:r>
          </a:p>
        </p:txBody>
      </p:sp>
      <p:sp>
        <p:nvSpPr>
          <p:cNvPr id="13" name="    // Board and result drawing go here.">
            <a:extLst>
              <a:ext uri="{FF2B5EF4-FFF2-40B4-BE49-F238E27FC236}">
                <a16:creationId xmlns:a16="http://schemas.microsoft.com/office/drawing/2014/main" id="{2113C595-E13A-4E39-8817-77A466D68050}"/>
              </a:ext>
            </a:extLst>
          </p:cNvPr>
          <p:cNvSpPr>
            <a:spLocks noGrp="1"/>
          </p:cNvSpPr>
          <p:nvPr/>
        </p:nvSpPr>
        <p:spPr>
          <a:xfrm>
            <a:off x="800100" y="3578243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// Board and result drawing go here.</a:t>
            </a:r>
          </a:p>
        </p:txBody>
      </p:sp>
      <p:sp>
        <p:nvSpPr>
          <p:cNvPr id="14" name="    EndDrawing();">
            <a:extLst>
              <a:ext uri="{FF2B5EF4-FFF2-40B4-BE49-F238E27FC236}">
                <a16:creationId xmlns:a16="http://schemas.microsoft.com/office/drawing/2014/main" id="{BF4F1331-3282-4F7A-9D3D-DCBE6944F685}"/>
              </a:ext>
            </a:extLst>
          </p:cNvPr>
          <p:cNvSpPr>
            <a:spLocks noGrp="1"/>
          </p:cNvSpPr>
          <p:nvPr/>
        </p:nvSpPr>
        <p:spPr>
          <a:xfrm>
            <a:off x="800100" y="3872887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EndDrawing();</a:t>
            </a:r>
          </a:p>
        </p:txBody>
      </p:sp>
      <p:sp>
        <p:nvSpPr>
          <p:cNvPr id="15" name="}">
            <a:extLst>
              <a:ext uri="{FF2B5EF4-FFF2-40B4-BE49-F238E27FC236}">
                <a16:creationId xmlns:a16="http://schemas.microsoft.com/office/drawing/2014/main" id="{3EDC858D-CCB6-47A8-8DB7-7FF4CF46A1DB}"/>
              </a:ext>
            </a:extLst>
          </p:cNvPr>
          <p:cNvSpPr>
            <a:spLocks noGrp="1"/>
          </p:cNvSpPr>
          <p:nvPr/>
        </p:nvSpPr>
        <p:spPr>
          <a:xfrm>
            <a:off x="800100" y="4167531"/>
            <a:ext cx="7239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Input">
            <a:extLst>
              <a:ext uri="{FF2B5EF4-FFF2-40B4-BE49-F238E27FC236}">
                <a16:creationId xmlns:a16="http://schemas.microsoft.com/office/drawing/2014/main" id="{7461B836-C591-43C7-B99D-48CE3C3FB640}"/>
              </a:ext>
            </a:extLst>
          </p:cNvPr>
          <p:cNvSpPr>
            <a:spLocks noGrp="1"/>
          </p:cNvSpPr>
          <p:nvPr/>
        </p:nvSpPr>
        <p:spPr>
          <a:xfrm>
            <a:off x="8572500" y="19335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7" name="Read a new click.">
            <a:extLst>
              <a:ext uri="{FF2B5EF4-FFF2-40B4-BE49-F238E27FC236}">
                <a16:creationId xmlns:a16="http://schemas.microsoft.com/office/drawing/2014/main" id="{45DFE5D7-4066-4D40-B40A-982F0FC488AD}"/>
              </a:ext>
            </a:extLst>
          </p:cNvPr>
          <p:cNvSpPr>
            <a:spLocks noGrp="1"/>
          </p:cNvSpPr>
          <p:nvPr/>
        </p:nvSpPr>
        <p:spPr>
          <a:xfrm>
            <a:off x="8572500" y="23526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Read a new click.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1E1109-8BA1-4D66-9C4D-5771E766A8C0}"/>
              </a:ext>
            </a:extLst>
          </p:cNvPr>
          <p:cNvSpPr>
            <a:spLocks noGrp="1"/>
          </p:cNvSpPr>
          <p:nvPr/>
        </p:nvSpPr>
        <p:spPr>
          <a:xfrm>
            <a:off x="8572500" y="27717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endParaRPr/>
          </a:p>
        </p:txBody>
      </p:sp>
      <p:sp>
        <p:nvSpPr>
          <p:cNvPr id="19" name="Update">
            <a:extLst>
              <a:ext uri="{FF2B5EF4-FFF2-40B4-BE49-F238E27FC236}">
                <a16:creationId xmlns:a16="http://schemas.microsoft.com/office/drawing/2014/main" id="{9AE7090B-11C7-421F-A236-1297E81D53AB}"/>
              </a:ext>
            </a:extLst>
          </p:cNvPr>
          <p:cNvSpPr>
            <a:spLocks noGrp="1"/>
          </p:cNvSpPr>
          <p:nvPr/>
        </p:nvSpPr>
        <p:spPr>
          <a:xfrm>
            <a:off x="8572500" y="31908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20" name="Change stored values.">
            <a:extLst>
              <a:ext uri="{FF2B5EF4-FFF2-40B4-BE49-F238E27FC236}">
                <a16:creationId xmlns:a16="http://schemas.microsoft.com/office/drawing/2014/main" id="{04CCCE7D-DDA5-4B2E-8993-979EE1997100}"/>
              </a:ext>
            </a:extLst>
          </p:cNvPr>
          <p:cNvSpPr>
            <a:spLocks noGrp="1"/>
          </p:cNvSpPr>
          <p:nvPr/>
        </p:nvSpPr>
        <p:spPr>
          <a:xfrm>
            <a:off x="8572500" y="36099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Change stored values.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B3B481-443E-4005-B6D4-D4FEB83D3A07}"/>
              </a:ext>
            </a:extLst>
          </p:cNvPr>
          <p:cNvSpPr>
            <a:spLocks noGrp="1"/>
          </p:cNvSpPr>
          <p:nvPr/>
        </p:nvSpPr>
        <p:spPr>
          <a:xfrm>
            <a:off x="8572500" y="40290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endParaRPr/>
          </a:p>
        </p:txBody>
      </p:sp>
      <p:sp>
        <p:nvSpPr>
          <p:cNvPr id="22" name="Render">
            <a:extLst>
              <a:ext uri="{FF2B5EF4-FFF2-40B4-BE49-F238E27FC236}">
                <a16:creationId xmlns:a16="http://schemas.microsoft.com/office/drawing/2014/main" id="{E6A85BE8-25F6-40BE-AC88-7CCBB42F221E}"/>
              </a:ext>
            </a:extLst>
          </p:cNvPr>
          <p:cNvSpPr>
            <a:spLocks noGrp="1"/>
          </p:cNvSpPr>
          <p:nvPr/>
        </p:nvSpPr>
        <p:spPr>
          <a:xfrm>
            <a:off x="8572500" y="44481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Render</a:t>
            </a:r>
          </a:p>
        </p:txBody>
      </p:sp>
      <p:sp>
        <p:nvSpPr>
          <p:cNvPr id="23" name="Read values to draw.">
            <a:extLst>
              <a:ext uri="{FF2B5EF4-FFF2-40B4-BE49-F238E27FC236}">
                <a16:creationId xmlns:a16="http://schemas.microsoft.com/office/drawing/2014/main" id="{4E6308C8-F586-4DB0-A120-53F0F536F03D}"/>
              </a:ext>
            </a:extLst>
          </p:cNvPr>
          <p:cNvSpPr>
            <a:spLocks noGrp="1"/>
          </p:cNvSpPr>
          <p:nvPr/>
        </p:nvSpPr>
        <p:spPr>
          <a:xfrm>
            <a:off x="8572500" y="4867275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Read values to draw.</a:t>
            </a:r>
          </a:p>
        </p:txBody>
      </p:sp>
      <p:sp>
        <p:nvSpPr>
          <p:cNvPr id="24" name="surface">
            <a:extLst>
              <a:ext uri="{FF2B5EF4-FFF2-40B4-BE49-F238E27FC236}">
                <a16:creationId xmlns:a16="http://schemas.microsoft.com/office/drawing/2014/main" id="{19BFC0DA-0D63-4F7F-8150-E8C0FAB0BDF8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Initialize game state once, before this loop.">
            <a:extLst>
              <a:ext uri="{FF2B5EF4-FFF2-40B4-BE49-F238E27FC236}">
                <a16:creationId xmlns:a16="http://schemas.microsoft.com/office/drawing/2014/main" id="{B8BF66F6-C31B-418F-BC45-E921D0FE716B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Initialize game state once, before this loop.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EP 1 · STATE">
            <a:extLst>
              <a:ext uri="{FF2B5EF4-FFF2-40B4-BE49-F238E27FC236}">
                <a16:creationId xmlns:a16="http://schemas.microsoft.com/office/drawing/2014/main" id="{A047487F-D5C5-4908-AA33-0341B4E91F12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STATE</a:t>
            </a:r>
          </a:p>
        </p:txBody>
      </p:sp>
      <p:sp>
        <p:nvSpPr>
          <p:cNvPr id="2" name="What the game remembers">
            <a:extLst>
              <a:ext uri="{FF2B5EF4-FFF2-40B4-BE49-F238E27FC236}">
                <a16:creationId xmlns:a16="http://schemas.microsoft.com/office/drawing/2014/main" id="{7E68932A-33F4-49A9-954C-21B4DF23310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What the game remembers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8C543199-0275-4B86-AAE0-408E5136B22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47A55764-5387-4EBA-ADEB-DCB9C0C5197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5C81105E-511A-4F21-9A32-111B63B3FE51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6" name="ADD: at the start of main(), before InitWindo">
            <a:extLst>
              <a:ext uri="{FF2B5EF4-FFF2-40B4-BE49-F238E27FC236}">
                <a16:creationId xmlns:a16="http://schemas.microsoft.com/office/drawing/2014/main" id="{1C1F4996-80B7-442B-9E3E-27C3BEAAE57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ADD: at the start of main(), before InitWindow()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A762FBBE-FF40-4940-A68F-8D047F6FB1B5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188731"/>
          </a:xfrm>
          <a:prstGeom prst="roundRect">
            <a:avLst>
              <a:gd name="adj" fmla="val 6410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har board[3][3];">
            <a:extLst>
              <a:ext uri="{FF2B5EF4-FFF2-40B4-BE49-F238E27FC236}">
                <a16:creationId xmlns:a16="http://schemas.microsoft.com/office/drawing/2014/main" id="{E36617EB-4E56-43C6-8379-0BCDF5FE9D9A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board[3][3];</a:t>
            </a:r>
          </a:p>
        </p:txBody>
      </p:sp>
      <p:sp>
        <p:nvSpPr>
          <p:cNvPr id="9" name="char current_player = 'X';">
            <a:extLst>
              <a:ext uri="{FF2B5EF4-FFF2-40B4-BE49-F238E27FC236}">
                <a16:creationId xmlns:a16="http://schemas.microsoft.com/office/drawing/2014/main" id="{FD62D2A0-DC48-4704-B8E7-085E249C8AFC}"/>
              </a:ext>
            </a:extLst>
          </p:cNvPr>
          <p:cNvSpPr>
            <a:spLocks noGrp="1"/>
          </p:cNvSpPr>
          <p:nvPr/>
        </p:nvSpPr>
        <p:spPr>
          <a:xfrm>
            <a:off x="800100" y="239966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current_player = 'X';</a:t>
            </a:r>
          </a:p>
        </p:txBody>
      </p:sp>
      <p:sp>
        <p:nvSpPr>
          <p:cNvPr id="10" name="char winner = '-';">
            <a:extLst>
              <a:ext uri="{FF2B5EF4-FFF2-40B4-BE49-F238E27FC236}">
                <a16:creationId xmlns:a16="http://schemas.microsoft.com/office/drawing/2014/main" id="{33E9C748-5B6C-4384-8A1F-A0F87141575E}"/>
              </a:ext>
            </a:extLst>
          </p:cNvPr>
          <p:cNvSpPr>
            <a:spLocks noGrp="1"/>
          </p:cNvSpPr>
          <p:nvPr/>
        </p:nvSpPr>
        <p:spPr>
          <a:xfrm>
            <a:off x="800100" y="269431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winner = '-';</a:t>
            </a:r>
          </a:p>
        </p:txBody>
      </p:sp>
      <p:sp>
        <p:nvSpPr>
          <p:cNvPr id="11" name="board: each cell is '-', 'X' or 'O'.">
            <a:extLst>
              <a:ext uri="{FF2B5EF4-FFF2-40B4-BE49-F238E27FC236}">
                <a16:creationId xmlns:a16="http://schemas.microsoft.com/office/drawing/2014/main" id="{D2B8E0FF-01FC-4462-9A65-60BA45427E1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8585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board: each cell is '-', 'X' or 'O'.</a:t>
            </a:r>
          </a:p>
        </p:txBody>
      </p:sp>
      <p:sp>
        <p:nvSpPr>
          <p:cNvPr id="12" name="current_player: whose move is next.">
            <a:extLst>
              <a:ext uri="{FF2B5EF4-FFF2-40B4-BE49-F238E27FC236}">
                <a16:creationId xmlns:a16="http://schemas.microsoft.com/office/drawing/2014/main" id="{186052B4-4295-4777-917D-6B46408D1396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108585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current_player: whose move is next.</a:t>
            </a:r>
          </a:p>
        </p:txBody>
      </p:sp>
      <p:sp>
        <p:nvSpPr>
          <p:cNvPr id="13" name="winner: '-' = playing, 'X' / 'O' = winner, 'D">
            <a:extLst>
              <a:ext uri="{FF2B5EF4-FFF2-40B4-BE49-F238E27FC236}">
                <a16:creationId xmlns:a16="http://schemas.microsoft.com/office/drawing/2014/main" id="{0FC0BFE9-EEE5-4B29-91E7-0B8939C89289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8585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winner: '-' = playing, 'X' / 'O' = winner, 'D' = draw.</a:t>
            </a:r>
          </a:p>
        </p:txBody>
      </p:sp>
      <p:sp>
        <p:nvSpPr>
          <p:cNvPr id="14" name="surface">
            <a:extLst>
              <a:ext uri="{FF2B5EF4-FFF2-40B4-BE49-F238E27FC236}">
                <a16:creationId xmlns:a16="http://schemas.microsoft.com/office/drawing/2014/main" id="{FA5FFA7E-777B-489B-B5FC-522086021194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he board is declared here. We will fill its ">
            <a:extLst>
              <a:ext uri="{FF2B5EF4-FFF2-40B4-BE49-F238E27FC236}">
                <a16:creationId xmlns:a16="http://schemas.microsoft.com/office/drawing/2014/main" id="{F0DA6DEE-9DE8-481B-B759-A33D7B81995A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board is declared here. We will fill its cells before reading them.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EP 1 · ARRAYS">
            <a:extLst>
              <a:ext uri="{FF2B5EF4-FFF2-40B4-BE49-F238E27FC236}">
                <a16:creationId xmlns:a16="http://schemas.microsoft.com/office/drawing/2014/main" id="{EBD406CC-7BC7-43FF-98B4-C7EF4440504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ARRAYS</a:t>
            </a:r>
          </a:p>
        </p:txBody>
      </p:sp>
      <p:sp>
        <p:nvSpPr>
          <p:cNvPr id="2" name="An array gives related values one name">
            <a:extLst>
              <a:ext uri="{FF2B5EF4-FFF2-40B4-BE49-F238E27FC236}">
                <a16:creationId xmlns:a16="http://schemas.microsoft.com/office/drawing/2014/main" id="{EEB3569D-759F-4CA2-BB00-D7C4274A6A0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An array gives related values one name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4CC51C6D-6CA5-4745-8BCB-79B5FE80602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82D32EE1-DB0F-46D8-9CF4-6228BD5ADD6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C9B52289-CA40-4106-9676-1159366C9B01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6" name="EXAMPLE ONLY: one row, before the 2D board">
            <a:extLst>
              <a:ext uri="{FF2B5EF4-FFF2-40B4-BE49-F238E27FC236}">
                <a16:creationId xmlns:a16="http://schemas.microsoft.com/office/drawing/2014/main" id="{94AF2B21-EE8A-457F-814A-43433A22486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EXAMPLE ONLY: one row, before the 2D board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9C082CF0-A6F7-4BE0-855F-21FE0967F42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894087"/>
          </a:xfrm>
          <a:prstGeom prst="roundRect">
            <a:avLst>
              <a:gd name="adj" fmla="val 852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har row[3] = {'X', 'O', '-'};">
            <a:extLst>
              <a:ext uri="{FF2B5EF4-FFF2-40B4-BE49-F238E27FC236}">
                <a16:creationId xmlns:a16="http://schemas.microsoft.com/office/drawing/2014/main" id="{72944DE2-5A9C-4A3D-A186-E1C5B42B5ACA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row[3] = {'X', 'O', '-'};</a:t>
            </a:r>
          </a:p>
        </p:txBody>
      </p:sp>
      <p:sp>
        <p:nvSpPr>
          <p:cNvPr id="9" name="row[1] = 'X';">
            <a:extLst>
              <a:ext uri="{FF2B5EF4-FFF2-40B4-BE49-F238E27FC236}">
                <a16:creationId xmlns:a16="http://schemas.microsoft.com/office/drawing/2014/main" id="{57DA0D0B-7AE6-4B7D-8A23-71E8E08CE76B}"/>
              </a:ext>
            </a:extLst>
          </p:cNvPr>
          <p:cNvSpPr>
            <a:spLocks noGrp="1"/>
          </p:cNvSpPr>
          <p:nvPr/>
        </p:nvSpPr>
        <p:spPr>
          <a:xfrm>
            <a:off x="800100" y="239966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row[1] = 'X';</a:t>
            </a:r>
          </a:p>
        </p:txBody>
      </p:sp>
      <p:sp>
        <p:nvSpPr>
          <p:cNvPr id="10" name="index 0">
            <a:extLst>
              <a:ext uri="{FF2B5EF4-FFF2-40B4-BE49-F238E27FC236}">
                <a16:creationId xmlns:a16="http://schemas.microsoft.com/office/drawing/2014/main" id="{E047F399-9F73-42FA-8B85-62E9F4910F48}"/>
              </a:ext>
            </a:extLst>
          </p:cNvPr>
          <p:cNvSpPr>
            <a:spLocks noGrp="1"/>
          </p:cNvSpPr>
          <p:nvPr/>
        </p:nvSpPr>
        <p:spPr>
          <a:xfrm>
            <a:off x="1600200" y="32861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index 0</a:t>
            </a:r>
          </a:p>
        </p:txBody>
      </p:sp>
      <p:sp>
        <p:nvSpPr>
          <p:cNvPr id="11" name="surface">
            <a:extLst>
              <a:ext uri="{FF2B5EF4-FFF2-40B4-BE49-F238E27FC236}">
                <a16:creationId xmlns:a16="http://schemas.microsoft.com/office/drawing/2014/main" id="{10DEADBE-0BD7-4C35-8271-84DAE7BFC3DB}"/>
              </a:ext>
            </a:extLst>
          </p:cNvPr>
          <p:cNvSpPr>
            <a:spLocks noGrp="1"/>
          </p:cNvSpPr>
          <p:nvPr/>
        </p:nvSpPr>
        <p:spPr>
          <a:xfrm>
            <a:off x="1772959" y="3781425"/>
            <a:ext cx="1535633" cy="1057275"/>
          </a:xfrm>
          <a:prstGeom prst="rect">
            <a:avLst/>
          </a:prstGeom>
          <a:solidFill>
            <a:srgbClr val="EFF5FA"/>
          </a:solidFill>
          <a:ln w="11430">
            <a:solidFill>
              <a:srgbClr val="DC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X">
            <a:extLst>
              <a:ext uri="{FF2B5EF4-FFF2-40B4-BE49-F238E27FC236}">
                <a16:creationId xmlns:a16="http://schemas.microsoft.com/office/drawing/2014/main" id="{47184137-BF1B-402C-BFD9-AEEAF5BA65BA}"/>
              </a:ext>
            </a:extLst>
          </p:cNvPr>
          <p:cNvSpPr>
            <a:spLocks noGrp="1"/>
          </p:cNvSpPr>
          <p:nvPr/>
        </p:nvSpPr>
        <p:spPr>
          <a:xfrm>
            <a:off x="1207857" y="3954138"/>
            <a:ext cx="2619375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3" name="index 1">
            <a:extLst>
              <a:ext uri="{FF2B5EF4-FFF2-40B4-BE49-F238E27FC236}">
                <a16:creationId xmlns:a16="http://schemas.microsoft.com/office/drawing/2014/main" id="{2863E909-BEA8-46E6-85C3-E3DF3BE871EF}"/>
              </a:ext>
            </a:extLst>
          </p:cNvPr>
          <p:cNvSpPr>
            <a:spLocks noGrp="1"/>
          </p:cNvSpPr>
          <p:nvPr/>
        </p:nvSpPr>
        <p:spPr>
          <a:xfrm>
            <a:off x="4886325" y="32861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index 1</a:t>
            </a:r>
          </a:p>
        </p:txBody>
      </p:sp>
      <p:sp>
        <p:nvSpPr>
          <p:cNvPr id="14" name="surface">
            <a:extLst>
              <a:ext uri="{FF2B5EF4-FFF2-40B4-BE49-F238E27FC236}">
                <a16:creationId xmlns:a16="http://schemas.microsoft.com/office/drawing/2014/main" id="{70E694A5-11DB-42A8-B5C9-FE1B173C647D}"/>
              </a:ext>
            </a:extLst>
          </p:cNvPr>
          <p:cNvSpPr>
            <a:spLocks noGrp="1"/>
          </p:cNvSpPr>
          <p:nvPr/>
        </p:nvSpPr>
        <p:spPr>
          <a:xfrm>
            <a:off x="5332838" y="3781425"/>
            <a:ext cx="1312268" cy="1057275"/>
          </a:xfrm>
          <a:prstGeom prst="rect">
            <a:avLst/>
          </a:prstGeom>
          <a:solidFill>
            <a:srgbClr val="FFF6D8"/>
          </a:solidFill>
          <a:ln w="11430">
            <a:solidFill>
              <a:srgbClr val="DC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X">
            <a:extLst>
              <a:ext uri="{FF2B5EF4-FFF2-40B4-BE49-F238E27FC236}">
                <a16:creationId xmlns:a16="http://schemas.microsoft.com/office/drawing/2014/main" id="{6B0D062E-C95A-49F0-9337-527E27D28D8A}"/>
              </a:ext>
            </a:extLst>
          </p:cNvPr>
          <p:cNvSpPr>
            <a:spLocks noGrp="1"/>
          </p:cNvSpPr>
          <p:nvPr/>
        </p:nvSpPr>
        <p:spPr>
          <a:xfrm>
            <a:off x="4619625" y="3905250"/>
            <a:ext cx="2619375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6" name="index 2">
            <a:extLst>
              <a:ext uri="{FF2B5EF4-FFF2-40B4-BE49-F238E27FC236}">
                <a16:creationId xmlns:a16="http://schemas.microsoft.com/office/drawing/2014/main" id="{1EEEB810-133A-4282-9693-BF3FA7B1EC0A}"/>
              </a:ext>
            </a:extLst>
          </p:cNvPr>
          <p:cNvSpPr>
            <a:spLocks noGrp="1"/>
          </p:cNvSpPr>
          <p:nvPr/>
        </p:nvSpPr>
        <p:spPr>
          <a:xfrm>
            <a:off x="8172450" y="32861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index 2</a:t>
            </a:r>
          </a:p>
        </p:txBody>
      </p:sp>
      <p:sp>
        <p:nvSpPr>
          <p:cNvPr id="17" name="surface">
            <a:extLst>
              <a:ext uri="{FF2B5EF4-FFF2-40B4-BE49-F238E27FC236}">
                <a16:creationId xmlns:a16="http://schemas.microsoft.com/office/drawing/2014/main" id="{AD633A4B-6791-47B4-9D86-111630035912}"/>
              </a:ext>
            </a:extLst>
          </p:cNvPr>
          <p:cNvSpPr>
            <a:spLocks noGrp="1"/>
          </p:cNvSpPr>
          <p:nvPr/>
        </p:nvSpPr>
        <p:spPr>
          <a:xfrm>
            <a:off x="8550033" y="3781425"/>
            <a:ext cx="1375744" cy="1057275"/>
          </a:xfrm>
          <a:prstGeom prst="rect">
            <a:avLst/>
          </a:prstGeom>
          <a:solidFill>
            <a:srgbClr val="EFF5FA"/>
          </a:solidFill>
          <a:ln w="11430">
            <a:solidFill>
              <a:srgbClr val="DCE3E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-">
            <a:extLst>
              <a:ext uri="{FF2B5EF4-FFF2-40B4-BE49-F238E27FC236}">
                <a16:creationId xmlns:a16="http://schemas.microsoft.com/office/drawing/2014/main" id="{47BA31A7-6494-485A-9615-A1CC0B519B84}"/>
              </a:ext>
            </a:extLst>
          </p:cNvPr>
          <p:cNvSpPr>
            <a:spLocks noGrp="1"/>
          </p:cNvSpPr>
          <p:nvPr/>
        </p:nvSpPr>
        <p:spPr>
          <a:xfrm>
            <a:off x="7905750" y="3905250"/>
            <a:ext cx="2619375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A6BE414C-E6CA-423C-89ED-AB87E3B5E9AF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Valid indices are 0, 1 and 2. row[3] is outsi">
            <a:extLst>
              <a:ext uri="{FF2B5EF4-FFF2-40B4-BE49-F238E27FC236}">
                <a16:creationId xmlns:a16="http://schemas.microsoft.com/office/drawing/2014/main" id="{0F591000-A21E-4331-8CF8-CD550392839C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Valid indices are 0, 1 and 2. row[3] is outside this array.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TEP 1 · 2D ARRAYS">
            <a:extLst>
              <a:ext uri="{FF2B5EF4-FFF2-40B4-BE49-F238E27FC236}">
                <a16:creationId xmlns:a16="http://schemas.microsoft.com/office/drawing/2014/main" id="{9CC94C31-13E8-4CB5-B20C-488D9E2CC537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2D ARRAYS</a:t>
            </a:r>
          </a:p>
        </p:txBody>
      </p:sp>
      <p:sp>
        <p:nvSpPr>
          <p:cNvPr id="2" name="A board needs a row and a column">
            <a:extLst>
              <a:ext uri="{FF2B5EF4-FFF2-40B4-BE49-F238E27FC236}">
                <a16:creationId xmlns:a16="http://schemas.microsoft.com/office/drawing/2014/main" id="{FAD70F24-ABC6-49AA-92CA-CF2BDDAA78E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 board needs a row and a column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BB197037-0762-483E-98B0-52B108D821F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2AECF352-AECE-4A6F-AC45-1C121BF365C3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D94D6376-1D9E-4AF3-ABA8-8D9560F56A7B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6" name="EXAMPLE ONLY: array access order">
            <a:extLst>
              <a:ext uri="{FF2B5EF4-FFF2-40B4-BE49-F238E27FC236}">
                <a16:creationId xmlns:a16="http://schemas.microsoft.com/office/drawing/2014/main" id="{DD3D5A5B-5B3D-488D-8D03-180833D2D8A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EXAMPLE ONLY: array access order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E5D2D663-CB42-4B25-93E8-EE5964D6F212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6810375" cy="894087"/>
          </a:xfrm>
          <a:prstGeom prst="roundRect">
            <a:avLst>
              <a:gd name="adj" fmla="val 852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oard[1][2] = 'O';">
            <a:extLst>
              <a:ext uri="{FF2B5EF4-FFF2-40B4-BE49-F238E27FC236}">
                <a16:creationId xmlns:a16="http://schemas.microsoft.com/office/drawing/2014/main" id="{75CB72D4-73CD-4254-A585-EB1EA3A338D8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6429375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board[1][2] = 'O';</a:t>
            </a:r>
          </a:p>
        </p:txBody>
      </p:sp>
      <p:sp>
        <p:nvSpPr>
          <p:cNvPr id="9" name="//    row  column">
            <a:extLst>
              <a:ext uri="{FF2B5EF4-FFF2-40B4-BE49-F238E27FC236}">
                <a16:creationId xmlns:a16="http://schemas.microsoft.com/office/drawing/2014/main" id="{D4EECF2C-4B53-44F9-BED3-B8846EBE486B}"/>
              </a:ext>
            </a:extLst>
          </p:cNvPr>
          <p:cNvSpPr>
            <a:spLocks noGrp="1"/>
          </p:cNvSpPr>
          <p:nvPr/>
        </p:nvSpPr>
        <p:spPr>
          <a:xfrm>
            <a:off x="800100" y="2580644"/>
            <a:ext cx="6429375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//    row  column</a:t>
            </a:r>
          </a:p>
        </p:txBody>
      </p:sp>
      <p:sp>
        <p:nvSpPr>
          <p:cNvPr id="10" name="The first index selects the row.">
            <a:extLst>
              <a:ext uri="{FF2B5EF4-FFF2-40B4-BE49-F238E27FC236}">
                <a16:creationId xmlns:a16="http://schemas.microsoft.com/office/drawing/2014/main" id="{602BBE51-7362-4034-9924-8A9FF23A7DFC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676275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first index selects the row.</a:t>
            </a:r>
          </a:p>
        </p:txBody>
      </p:sp>
      <p:sp>
        <p:nvSpPr>
          <p:cNvPr id="11" name="The second selects the column.">
            <a:extLst>
              <a:ext uri="{FF2B5EF4-FFF2-40B4-BE49-F238E27FC236}">
                <a16:creationId xmlns:a16="http://schemas.microsoft.com/office/drawing/2014/main" id="{A814CE71-8010-42E9-A86B-D5EBC1A91209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676275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second selects the column.</a:t>
            </a:r>
          </a:p>
        </p:txBody>
      </p:sp>
      <p:sp>
        <p:nvSpPr>
          <p:cNvPr id="12" name="Both indices range from 0 to 2.">
            <a:extLst>
              <a:ext uri="{FF2B5EF4-FFF2-40B4-BE49-F238E27FC236}">
                <a16:creationId xmlns:a16="http://schemas.microsoft.com/office/drawing/2014/main" id="{EF6EC41C-4939-4B99-B8A7-3B9397270101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676275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Both indices range from 0 to 2.</a:t>
            </a:r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48395B45-CAD6-4E1B-97BA-F9EA124EA8BF}"/>
              </a:ext>
            </a:extLst>
          </p:cNvPr>
          <p:cNvSpPr>
            <a:spLocks noGrp="1"/>
          </p:cNvSpPr>
          <p:nvPr/>
        </p:nvSpPr>
        <p:spPr>
          <a:xfrm>
            <a:off x="8458200" y="22574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X">
            <a:extLst>
              <a:ext uri="{FF2B5EF4-FFF2-40B4-BE49-F238E27FC236}">
                <a16:creationId xmlns:a16="http://schemas.microsoft.com/office/drawing/2014/main" id="{ED79E474-00FA-443B-8E82-22498CFFF788}"/>
              </a:ext>
            </a:extLst>
          </p:cNvPr>
          <p:cNvSpPr>
            <a:spLocks noGrp="1"/>
          </p:cNvSpPr>
          <p:nvPr/>
        </p:nvSpPr>
        <p:spPr>
          <a:xfrm>
            <a:off x="8458200" y="2431161"/>
            <a:ext cx="914400" cy="594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312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3312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6DBE8B4A-1957-42B2-AC95-098A220518D5}"/>
              </a:ext>
            </a:extLst>
          </p:cNvPr>
          <p:cNvSpPr>
            <a:spLocks noGrp="1"/>
          </p:cNvSpPr>
          <p:nvPr/>
        </p:nvSpPr>
        <p:spPr>
          <a:xfrm>
            <a:off x="9372600" y="22574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urface">
            <a:extLst>
              <a:ext uri="{FF2B5EF4-FFF2-40B4-BE49-F238E27FC236}">
                <a16:creationId xmlns:a16="http://schemas.microsoft.com/office/drawing/2014/main" id="{7A96615E-16E3-42C2-B611-3C85D3D64F98}"/>
              </a:ext>
            </a:extLst>
          </p:cNvPr>
          <p:cNvSpPr>
            <a:spLocks noGrp="1"/>
          </p:cNvSpPr>
          <p:nvPr/>
        </p:nvSpPr>
        <p:spPr>
          <a:xfrm>
            <a:off x="10287000" y="22574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O">
            <a:extLst>
              <a:ext uri="{FF2B5EF4-FFF2-40B4-BE49-F238E27FC236}">
                <a16:creationId xmlns:a16="http://schemas.microsoft.com/office/drawing/2014/main" id="{A20F11F9-4058-415C-A7A7-0420E9FD9869}"/>
              </a:ext>
            </a:extLst>
          </p:cNvPr>
          <p:cNvSpPr>
            <a:spLocks noGrp="1"/>
          </p:cNvSpPr>
          <p:nvPr/>
        </p:nvSpPr>
        <p:spPr>
          <a:xfrm>
            <a:off x="10287000" y="2431161"/>
            <a:ext cx="914400" cy="594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312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3312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D6E17DA9-EEF8-48D9-92FE-D11C2DAE3925}"/>
              </a:ext>
            </a:extLst>
          </p:cNvPr>
          <p:cNvSpPr>
            <a:spLocks noGrp="1"/>
          </p:cNvSpPr>
          <p:nvPr/>
        </p:nvSpPr>
        <p:spPr>
          <a:xfrm>
            <a:off x="8458200" y="31718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A846B887-543E-4A0A-892A-63B84D46028C}"/>
              </a:ext>
            </a:extLst>
          </p:cNvPr>
          <p:cNvSpPr>
            <a:spLocks noGrp="1"/>
          </p:cNvSpPr>
          <p:nvPr/>
        </p:nvSpPr>
        <p:spPr>
          <a:xfrm>
            <a:off x="9372600" y="31718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X">
            <a:extLst>
              <a:ext uri="{FF2B5EF4-FFF2-40B4-BE49-F238E27FC236}">
                <a16:creationId xmlns:a16="http://schemas.microsoft.com/office/drawing/2014/main" id="{0B4182A2-0CE0-4355-B890-087186EC3186}"/>
              </a:ext>
            </a:extLst>
          </p:cNvPr>
          <p:cNvSpPr>
            <a:spLocks noGrp="1"/>
          </p:cNvSpPr>
          <p:nvPr/>
        </p:nvSpPr>
        <p:spPr>
          <a:xfrm>
            <a:off x="9372600" y="3345561"/>
            <a:ext cx="914400" cy="594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312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3312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1" name="surface">
            <a:extLst>
              <a:ext uri="{FF2B5EF4-FFF2-40B4-BE49-F238E27FC236}">
                <a16:creationId xmlns:a16="http://schemas.microsoft.com/office/drawing/2014/main" id="{773F8466-1FDA-4788-818C-1C89DC19BD2E}"/>
              </a:ext>
            </a:extLst>
          </p:cNvPr>
          <p:cNvSpPr>
            <a:spLocks noGrp="1"/>
          </p:cNvSpPr>
          <p:nvPr/>
        </p:nvSpPr>
        <p:spPr>
          <a:xfrm>
            <a:off x="10287000" y="31718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O">
            <a:extLst>
              <a:ext uri="{FF2B5EF4-FFF2-40B4-BE49-F238E27FC236}">
                <a16:creationId xmlns:a16="http://schemas.microsoft.com/office/drawing/2014/main" id="{5423EBFF-0307-4208-B3FA-597798720ED5}"/>
              </a:ext>
            </a:extLst>
          </p:cNvPr>
          <p:cNvSpPr>
            <a:spLocks noGrp="1"/>
          </p:cNvSpPr>
          <p:nvPr/>
        </p:nvSpPr>
        <p:spPr>
          <a:xfrm>
            <a:off x="10287000" y="3345561"/>
            <a:ext cx="914400" cy="594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312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3312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B104CD3E-C0FF-48B9-BE0A-B997142D7633}"/>
              </a:ext>
            </a:extLst>
          </p:cNvPr>
          <p:cNvSpPr>
            <a:spLocks noGrp="1"/>
          </p:cNvSpPr>
          <p:nvPr/>
        </p:nvSpPr>
        <p:spPr>
          <a:xfrm>
            <a:off x="8458200" y="40862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urface">
            <a:extLst>
              <a:ext uri="{FF2B5EF4-FFF2-40B4-BE49-F238E27FC236}">
                <a16:creationId xmlns:a16="http://schemas.microsoft.com/office/drawing/2014/main" id="{5E5AA85A-134A-4C66-943D-150C17B789F6}"/>
              </a:ext>
            </a:extLst>
          </p:cNvPr>
          <p:cNvSpPr>
            <a:spLocks noGrp="1"/>
          </p:cNvSpPr>
          <p:nvPr/>
        </p:nvSpPr>
        <p:spPr>
          <a:xfrm>
            <a:off x="9372600" y="40862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urface">
            <a:extLst>
              <a:ext uri="{FF2B5EF4-FFF2-40B4-BE49-F238E27FC236}">
                <a16:creationId xmlns:a16="http://schemas.microsoft.com/office/drawing/2014/main" id="{738E6A6D-DCBF-4DC9-A487-FB801458156C}"/>
              </a:ext>
            </a:extLst>
          </p:cNvPr>
          <p:cNvSpPr>
            <a:spLocks noGrp="1"/>
          </p:cNvSpPr>
          <p:nvPr/>
        </p:nvSpPr>
        <p:spPr>
          <a:xfrm>
            <a:off x="10287000" y="4086225"/>
            <a:ext cx="9144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X">
            <a:extLst>
              <a:ext uri="{FF2B5EF4-FFF2-40B4-BE49-F238E27FC236}">
                <a16:creationId xmlns:a16="http://schemas.microsoft.com/office/drawing/2014/main" id="{A781AF35-8840-421B-9C74-FD580FDC138F}"/>
              </a:ext>
            </a:extLst>
          </p:cNvPr>
          <p:cNvSpPr>
            <a:spLocks noGrp="1"/>
          </p:cNvSpPr>
          <p:nvPr/>
        </p:nvSpPr>
        <p:spPr>
          <a:xfrm>
            <a:off x="10287000" y="4259961"/>
            <a:ext cx="914400" cy="594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312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3312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7" name="0">
            <a:extLst>
              <a:ext uri="{FF2B5EF4-FFF2-40B4-BE49-F238E27FC236}">
                <a16:creationId xmlns:a16="http://schemas.microsoft.com/office/drawing/2014/main" id="{E02DBCA9-3B7D-4940-A72F-F6BF1A5F930D}"/>
              </a:ext>
            </a:extLst>
          </p:cNvPr>
          <p:cNvSpPr>
            <a:spLocks noGrp="1"/>
          </p:cNvSpPr>
          <p:nvPr/>
        </p:nvSpPr>
        <p:spPr>
          <a:xfrm>
            <a:off x="8458200" y="195262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8" name="0">
            <a:extLst>
              <a:ext uri="{FF2B5EF4-FFF2-40B4-BE49-F238E27FC236}">
                <a16:creationId xmlns:a16="http://schemas.microsoft.com/office/drawing/2014/main" id="{C877F2D8-89E5-450E-A1BD-AD90447AEA82}"/>
              </a:ext>
            </a:extLst>
          </p:cNvPr>
          <p:cNvSpPr>
            <a:spLocks noGrp="1"/>
          </p:cNvSpPr>
          <p:nvPr/>
        </p:nvSpPr>
        <p:spPr>
          <a:xfrm>
            <a:off x="8124825" y="2550033"/>
            <a:ext cx="285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9" name="1">
            <a:extLst>
              <a:ext uri="{FF2B5EF4-FFF2-40B4-BE49-F238E27FC236}">
                <a16:creationId xmlns:a16="http://schemas.microsoft.com/office/drawing/2014/main" id="{C5DE9813-7DDE-49DF-A51B-DB5B46ED4CBE}"/>
              </a:ext>
            </a:extLst>
          </p:cNvPr>
          <p:cNvSpPr>
            <a:spLocks noGrp="1"/>
          </p:cNvSpPr>
          <p:nvPr/>
        </p:nvSpPr>
        <p:spPr>
          <a:xfrm>
            <a:off x="9372600" y="195262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0" name="1">
            <a:extLst>
              <a:ext uri="{FF2B5EF4-FFF2-40B4-BE49-F238E27FC236}">
                <a16:creationId xmlns:a16="http://schemas.microsoft.com/office/drawing/2014/main" id="{DFE6FC71-EC42-498F-8F7B-34D44D9ACD62}"/>
              </a:ext>
            </a:extLst>
          </p:cNvPr>
          <p:cNvSpPr>
            <a:spLocks noGrp="1"/>
          </p:cNvSpPr>
          <p:nvPr/>
        </p:nvSpPr>
        <p:spPr>
          <a:xfrm>
            <a:off x="8124825" y="3464433"/>
            <a:ext cx="285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1" name="2">
            <a:extLst>
              <a:ext uri="{FF2B5EF4-FFF2-40B4-BE49-F238E27FC236}">
                <a16:creationId xmlns:a16="http://schemas.microsoft.com/office/drawing/2014/main" id="{83213A2C-B36A-46D7-83BC-0F541661165A}"/>
              </a:ext>
            </a:extLst>
          </p:cNvPr>
          <p:cNvSpPr>
            <a:spLocks noGrp="1"/>
          </p:cNvSpPr>
          <p:nvPr/>
        </p:nvSpPr>
        <p:spPr>
          <a:xfrm>
            <a:off x="10287000" y="195262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2" name="2">
            <a:extLst>
              <a:ext uri="{FF2B5EF4-FFF2-40B4-BE49-F238E27FC236}">
                <a16:creationId xmlns:a16="http://schemas.microsoft.com/office/drawing/2014/main" id="{55F431FA-3777-4FC6-A75E-D62A5DDF4C39}"/>
              </a:ext>
            </a:extLst>
          </p:cNvPr>
          <p:cNvSpPr>
            <a:spLocks noGrp="1"/>
          </p:cNvSpPr>
          <p:nvPr/>
        </p:nvSpPr>
        <p:spPr>
          <a:xfrm>
            <a:off x="8124825" y="4378833"/>
            <a:ext cx="285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3" name="Illustration: board[1][2]">
            <a:extLst>
              <a:ext uri="{FF2B5EF4-FFF2-40B4-BE49-F238E27FC236}">
                <a16:creationId xmlns:a16="http://schemas.microsoft.com/office/drawing/2014/main" id="{61C801B5-87B8-44D1-8FB4-A4472F72BA78}"/>
              </a:ext>
            </a:extLst>
          </p:cNvPr>
          <p:cNvSpPr>
            <a:spLocks noGrp="1"/>
          </p:cNvSpPr>
          <p:nvPr/>
        </p:nvSpPr>
        <p:spPr>
          <a:xfrm>
            <a:off x="8362950" y="5153025"/>
            <a:ext cx="2933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Illustration: board[1][2]</a:t>
            </a:r>
          </a:p>
        </p:txBody>
      </p:sp>
      <p:sp>
        <p:nvSpPr>
          <p:cNvPr id="34" name="surface">
            <a:extLst>
              <a:ext uri="{FF2B5EF4-FFF2-40B4-BE49-F238E27FC236}">
                <a16:creationId xmlns:a16="http://schemas.microsoft.com/office/drawing/2014/main" id="{C153A435-1BBA-4B48-9987-474047F8C634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Array access is [row][column]. Screen positio">
            <a:extLst>
              <a:ext uri="{FF2B5EF4-FFF2-40B4-BE49-F238E27FC236}">
                <a16:creationId xmlns:a16="http://schemas.microsoft.com/office/drawing/2014/main" id="{B5375A24-944D-47B4-BC87-2766FE03F870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Array access is [row][column]. Screen positions will use (x, y).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EP 1 · INITIALIZATION">
            <a:extLst>
              <a:ext uri="{FF2B5EF4-FFF2-40B4-BE49-F238E27FC236}">
                <a16:creationId xmlns:a16="http://schemas.microsoft.com/office/drawing/2014/main" id="{A255C0DE-A445-48D2-9EC6-6E1444B9CCC8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INITIALIZATION</a:t>
            </a:r>
          </a:p>
        </p:txBody>
      </p:sp>
      <p:sp>
        <p:nvSpPr>
          <p:cNvPr id="2" name="Every cell starts empty">
            <a:extLst>
              <a:ext uri="{FF2B5EF4-FFF2-40B4-BE49-F238E27FC236}">
                <a16:creationId xmlns:a16="http://schemas.microsoft.com/office/drawing/2014/main" id="{A3046F56-F2DB-4E47-9F0E-75A1E0E6406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Every cell starts empty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A0638D05-F125-4E80-A2D3-40C83EE22AB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146F5A1D-82C4-48AA-8744-FD6C69C0D0D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8">
            <a:extLst>
              <a:ext uri="{FF2B5EF4-FFF2-40B4-BE49-F238E27FC236}">
                <a16:creationId xmlns:a16="http://schemas.microsoft.com/office/drawing/2014/main" id="{E6627A18-2D28-4EBE-BC2A-15FD92200F65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6" name="LOCATE: board declaration at the start of mai">
            <a:extLst>
              <a:ext uri="{FF2B5EF4-FFF2-40B4-BE49-F238E27FC236}">
                <a16:creationId xmlns:a16="http://schemas.microsoft.com/office/drawing/2014/main" id="{A79662FF-E04E-4E4D-8898-D759AB03877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LOCATE: board declaration at the start of main()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181371BE-DC04-489E-9F0A-6599C54BE9E8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894087"/>
          </a:xfrm>
          <a:prstGeom prst="roundRect">
            <a:avLst>
              <a:gd name="adj" fmla="val 852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har board[3][3];">
            <a:extLst>
              <a:ext uri="{FF2B5EF4-FFF2-40B4-BE49-F238E27FC236}">
                <a16:creationId xmlns:a16="http://schemas.microsoft.com/office/drawing/2014/main" id="{A99A4081-2D2C-4607-BC6B-082737A11CF4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board[3][3];</a:t>
            </a:r>
          </a:p>
        </p:txBody>
      </p:sp>
      <p:sp>
        <p:nvSpPr>
          <p:cNvPr id="9" name="// This does not fill the cells with '-'.">
            <a:extLst>
              <a:ext uri="{FF2B5EF4-FFF2-40B4-BE49-F238E27FC236}">
                <a16:creationId xmlns:a16="http://schemas.microsoft.com/office/drawing/2014/main" id="{49E0B873-B17A-4CC9-BDD4-5A1B25D294B8}"/>
              </a:ext>
            </a:extLst>
          </p:cNvPr>
          <p:cNvSpPr>
            <a:spLocks noGrp="1"/>
          </p:cNvSpPr>
          <p:nvPr/>
        </p:nvSpPr>
        <p:spPr>
          <a:xfrm>
            <a:off x="800100" y="242824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// This does not fill the cells with '-'.</a:t>
            </a:r>
          </a:p>
        </p:txBody>
      </p:sp>
      <p:sp>
        <p:nvSpPr>
          <p:cNvPr id="10" name="Our empty-cell value is '-'.">
            <a:extLst>
              <a:ext uri="{FF2B5EF4-FFF2-40B4-BE49-F238E27FC236}">
                <a16:creationId xmlns:a16="http://schemas.microsoft.com/office/drawing/2014/main" id="{2F10B37C-C2E5-4079-BFE9-BFE0FCD8AE69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9061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Our empty-cell value is '-'.</a:t>
            </a:r>
          </a:p>
        </p:txBody>
      </p:sp>
      <p:sp>
        <p:nvSpPr>
          <p:cNvPr id="11" name="Set all nine cells before any draw or result ">
            <a:extLst>
              <a:ext uri="{FF2B5EF4-FFF2-40B4-BE49-F238E27FC236}">
                <a16:creationId xmlns:a16="http://schemas.microsoft.com/office/drawing/2014/main" id="{EECB86EC-3DF0-40C6-A2C8-E16F33FCEF79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109061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Set all nine cells before any draw or result check.</a:t>
            </a:r>
          </a:p>
        </p:txBody>
      </p:sp>
      <p:sp>
        <p:nvSpPr>
          <p:cNvPr id="12" name="We will reuse the same operation when restart">
            <a:extLst>
              <a:ext uri="{FF2B5EF4-FFF2-40B4-BE49-F238E27FC236}">
                <a16:creationId xmlns:a16="http://schemas.microsoft.com/office/drawing/2014/main" id="{FFA420DA-DC27-488C-A935-82973919C81F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9061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We will reuse the same operation when restarting.</a:t>
            </a:r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458D653F-0D33-4ABC-BB11-135F2C1ED3A4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Define reset_board() above main(), then call ">
            <a:extLst>
              <a:ext uri="{FF2B5EF4-FFF2-40B4-BE49-F238E27FC236}">
                <a16:creationId xmlns:a16="http://schemas.microsoft.com/office/drawing/2014/main" id="{19BD7C9B-1BCD-4B83-96C1-2CFCC7487F7D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Define reset_board() above main(), then call it once during setup.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TEP 1 · RESET_BOARD">
            <a:extLst>
              <a:ext uri="{FF2B5EF4-FFF2-40B4-BE49-F238E27FC236}">
                <a16:creationId xmlns:a16="http://schemas.microsoft.com/office/drawing/2014/main" id="{56085483-C7A1-4958-92BF-ECF048A6CD22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RESET_BOARD</a:t>
            </a:r>
          </a:p>
        </p:txBody>
      </p:sp>
      <p:sp>
        <p:nvSpPr>
          <p:cNvPr id="2" name="Reset the board with two loops">
            <a:extLst>
              <a:ext uri="{FF2B5EF4-FFF2-40B4-BE49-F238E27FC236}">
                <a16:creationId xmlns:a16="http://schemas.microsoft.com/office/drawing/2014/main" id="{58113056-EEAF-4CD9-893E-8524A44B8C4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Reset the board with two loops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FC17453C-DC48-4770-BCA7-029B3428CB8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6CB66EBF-BBF8-4C73-8EFF-1E240B31275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6D324865-3ED3-4AE7-97E4-E97509A0CE6F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6" name="ADD: function above main(); call after the th">
            <a:extLst>
              <a:ext uri="{FF2B5EF4-FFF2-40B4-BE49-F238E27FC236}">
                <a16:creationId xmlns:a16="http://schemas.microsoft.com/office/drawing/2014/main" id="{EB2109A9-6921-4FC1-ABFF-959C10800F8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ADD: function above main(); call after the three state declarations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962116EC-2EF1-42A0-9AEB-32A7C2190143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8382000" cy="3251237"/>
          </a:xfrm>
          <a:prstGeom prst="roundRect">
            <a:avLst>
              <a:gd name="adj" fmla="val 2344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void reset_board(char board[3][3])">
            <a:extLst>
              <a:ext uri="{FF2B5EF4-FFF2-40B4-BE49-F238E27FC236}">
                <a16:creationId xmlns:a16="http://schemas.microsoft.com/office/drawing/2014/main" id="{E2E46145-B8AA-4E05-A020-EFB63AA641D5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reset_board(char board[3][3])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2903535C-CDCD-4390-A6F6-2C7D3D64A2AA}"/>
              </a:ext>
            </a:extLst>
          </p:cNvPr>
          <p:cNvSpPr>
            <a:spLocks noGrp="1"/>
          </p:cNvSpPr>
          <p:nvPr/>
        </p:nvSpPr>
        <p:spPr>
          <a:xfrm>
            <a:off x="800100" y="2342519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for (int row = 0; row &lt; 3; ++row)">
            <a:extLst>
              <a:ext uri="{FF2B5EF4-FFF2-40B4-BE49-F238E27FC236}">
                <a16:creationId xmlns:a16="http://schemas.microsoft.com/office/drawing/2014/main" id="{45206106-6B13-4634-A6B1-EF6854C03686}"/>
              </a:ext>
            </a:extLst>
          </p:cNvPr>
          <p:cNvSpPr>
            <a:spLocks noGrp="1"/>
          </p:cNvSpPr>
          <p:nvPr/>
        </p:nvSpPr>
        <p:spPr>
          <a:xfrm>
            <a:off x="800100" y="2637162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row = 0; row &lt; 3; ++row)</a:t>
            </a:r>
          </a:p>
        </p:txBody>
      </p:sp>
      <p:sp>
        <p:nvSpPr>
          <p:cNvPr id="11" name="    {">
            <a:extLst>
              <a:ext uri="{FF2B5EF4-FFF2-40B4-BE49-F238E27FC236}">
                <a16:creationId xmlns:a16="http://schemas.microsoft.com/office/drawing/2014/main" id="{EB777122-4029-4922-A778-DAC3C310381C}"/>
              </a:ext>
            </a:extLst>
          </p:cNvPr>
          <p:cNvSpPr>
            <a:spLocks noGrp="1"/>
          </p:cNvSpPr>
          <p:nvPr/>
        </p:nvSpPr>
        <p:spPr>
          <a:xfrm>
            <a:off x="800100" y="2931806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</a:t>
            </a:r>
          </a:p>
        </p:txBody>
      </p:sp>
      <p:sp>
        <p:nvSpPr>
          <p:cNvPr id="12" name="        for (int column = 0; column &lt; 3; ++co">
            <a:extLst>
              <a:ext uri="{FF2B5EF4-FFF2-40B4-BE49-F238E27FC236}">
                <a16:creationId xmlns:a16="http://schemas.microsoft.com/office/drawing/2014/main" id="{8D476F1D-0AF3-4EDC-858F-A32507A84482}"/>
              </a:ext>
            </a:extLst>
          </p:cNvPr>
          <p:cNvSpPr>
            <a:spLocks noGrp="1"/>
          </p:cNvSpPr>
          <p:nvPr/>
        </p:nvSpPr>
        <p:spPr>
          <a:xfrm>
            <a:off x="800100" y="3226450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column = 0; column &lt; 3; ++column)</a:t>
            </a:r>
          </a:p>
        </p:txBody>
      </p:sp>
      <p:sp>
        <p:nvSpPr>
          <p:cNvPr id="13" name="        {">
            <a:extLst>
              <a:ext uri="{FF2B5EF4-FFF2-40B4-BE49-F238E27FC236}">
                <a16:creationId xmlns:a16="http://schemas.microsoft.com/office/drawing/2014/main" id="{59E71B75-C084-48D6-84B9-79BCD5FA3877}"/>
              </a:ext>
            </a:extLst>
          </p:cNvPr>
          <p:cNvSpPr>
            <a:spLocks noGrp="1"/>
          </p:cNvSpPr>
          <p:nvPr/>
        </p:nvSpPr>
        <p:spPr>
          <a:xfrm>
            <a:off x="800100" y="3521093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{</a:t>
            </a:r>
          </a:p>
        </p:txBody>
      </p:sp>
      <p:sp>
        <p:nvSpPr>
          <p:cNvPr id="14" name="            board[row][column] = '-';">
            <a:extLst>
              <a:ext uri="{FF2B5EF4-FFF2-40B4-BE49-F238E27FC236}">
                <a16:creationId xmlns:a16="http://schemas.microsoft.com/office/drawing/2014/main" id="{A90F15F0-84CE-4E7C-8578-B3366AAA6A1B}"/>
              </a:ext>
            </a:extLst>
          </p:cNvPr>
          <p:cNvSpPr>
            <a:spLocks noGrp="1"/>
          </p:cNvSpPr>
          <p:nvPr/>
        </p:nvSpPr>
        <p:spPr>
          <a:xfrm>
            <a:off x="800100" y="3815737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board[row][column] = '-';</a:t>
            </a:r>
          </a:p>
        </p:txBody>
      </p:sp>
      <p:sp>
        <p:nvSpPr>
          <p:cNvPr id="15" name="        }">
            <a:extLst>
              <a:ext uri="{FF2B5EF4-FFF2-40B4-BE49-F238E27FC236}">
                <a16:creationId xmlns:a16="http://schemas.microsoft.com/office/drawing/2014/main" id="{519D8D1B-50CE-4922-9F3D-EF1BAC759985}"/>
              </a:ext>
            </a:extLst>
          </p:cNvPr>
          <p:cNvSpPr>
            <a:spLocks noGrp="1"/>
          </p:cNvSpPr>
          <p:nvPr/>
        </p:nvSpPr>
        <p:spPr>
          <a:xfrm>
            <a:off x="800100" y="4110381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6" name="    }">
            <a:extLst>
              <a:ext uri="{FF2B5EF4-FFF2-40B4-BE49-F238E27FC236}">
                <a16:creationId xmlns:a16="http://schemas.microsoft.com/office/drawing/2014/main" id="{CB19783A-8806-455E-8CD7-D7084B1B7CFB}"/>
              </a:ext>
            </a:extLst>
          </p:cNvPr>
          <p:cNvSpPr>
            <a:spLocks noGrp="1"/>
          </p:cNvSpPr>
          <p:nvPr/>
        </p:nvSpPr>
        <p:spPr>
          <a:xfrm>
            <a:off x="800100" y="4405024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7" name="}">
            <a:extLst>
              <a:ext uri="{FF2B5EF4-FFF2-40B4-BE49-F238E27FC236}">
                <a16:creationId xmlns:a16="http://schemas.microsoft.com/office/drawing/2014/main" id="{CB668F30-C8CD-4DD5-8B82-4E28BBA01B36}"/>
              </a:ext>
            </a:extLst>
          </p:cNvPr>
          <p:cNvSpPr>
            <a:spLocks noGrp="1"/>
          </p:cNvSpPr>
          <p:nvPr/>
        </p:nvSpPr>
        <p:spPr>
          <a:xfrm>
            <a:off x="800100" y="4699668"/>
            <a:ext cx="80010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Outer loop:">
            <a:extLst>
              <a:ext uri="{FF2B5EF4-FFF2-40B4-BE49-F238E27FC236}">
                <a16:creationId xmlns:a16="http://schemas.microsoft.com/office/drawing/2014/main" id="{4163C4E1-D668-4C93-BEFD-5A2AB1D85273}"/>
              </a:ext>
            </a:extLst>
          </p:cNvPr>
          <p:cNvSpPr>
            <a:spLocks noGrp="1"/>
          </p:cNvSpPr>
          <p:nvPr/>
        </p:nvSpPr>
        <p:spPr>
          <a:xfrm>
            <a:off x="9315450" y="218122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Outer loop:</a:t>
            </a:r>
          </a:p>
        </p:txBody>
      </p:sp>
      <p:sp>
        <p:nvSpPr>
          <p:cNvPr id="19" name="choose a row.">
            <a:extLst>
              <a:ext uri="{FF2B5EF4-FFF2-40B4-BE49-F238E27FC236}">
                <a16:creationId xmlns:a16="http://schemas.microsoft.com/office/drawing/2014/main" id="{6991E97C-1D5C-478F-A425-3006D26F4812}"/>
              </a:ext>
            </a:extLst>
          </p:cNvPr>
          <p:cNvSpPr>
            <a:spLocks noGrp="1"/>
          </p:cNvSpPr>
          <p:nvPr/>
        </p:nvSpPr>
        <p:spPr>
          <a:xfrm>
            <a:off x="9315450" y="261937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choose a row.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57E088-62FB-4C38-8610-9392DB517755}"/>
              </a:ext>
            </a:extLst>
          </p:cNvPr>
          <p:cNvSpPr>
            <a:spLocks noGrp="1"/>
          </p:cNvSpPr>
          <p:nvPr/>
        </p:nvSpPr>
        <p:spPr>
          <a:xfrm>
            <a:off x="9315450" y="305752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endParaRPr/>
          </a:p>
        </p:txBody>
      </p:sp>
      <p:sp>
        <p:nvSpPr>
          <p:cNvPr id="21" name="Inner loop:">
            <a:extLst>
              <a:ext uri="{FF2B5EF4-FFF2-40B4-BE49-F238E27FC236}">
                <a16:creationId xmlns:a16="http://schemas.microsoft.com/office/drawing/2014/main" id="{2E276C17-59BF-43AD-BB68-2FB14369D794}"/>
              </a:ext>
            </a:extLst>
          </p:cNvPr>
          <p:cNvSpPr>
            <a:spLocks noGrp="1"/>
          </p:cNvSpPr>
          <p:nvPr/>
        </p:nvSpPr>
        <p:spPr>
          <a:xfrm>
            <a:off x="9315450" y="349567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Inner loop:</a:t>
            </a:r>
          </a:p>
        </p:txBody>
      </p:sp>
      <p:sp>
        <p:nvSpPr>
          <p:cNvPr id="22" name="visit its cells.">
            <a:extLst>
              <a:ext uri="{FF2B5EF4-FFF2-40B4-BE49-F238E27FC236}">
                <a16:creationId xmlns:a16="http://schemas.microsoft.com/office/drawing/2014/main" id="{9E516C6A-861D-4D2B-86CD-F438278821F3}"/>
              </a:ext>
            </a:extLst>
          </p:cNvPr>
          <p:cNvSpPr>
            <a:spLocks noGrp="1"/>
          </p:cNvSpPr>
          <p:nvPr/>
        </p:nvSpPr>
        <p:spPr>
          <a:xfrm>
            <a:off x="9315450" y="393382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visit its cells.</a:t>
            </a:r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3817E302-E89A-4D16-9DB1-EDF4F8FFD1BA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In main(), after winner is declared: reset_bo">
            <a:extLst>
              <a:ext uri="{FF2B5EF4-FFF2-40B4-BE49-F238E27FC236}">
                <a16:creationId xmlns:a16="http://schemas.microsoft.com/office/drawing/2014/main" id="{874B4DCC-60A1-433A-8623-1A5E06BE25AE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In main(), after winner is declared: reset_board(board);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TEP 1 · WIN CONDITIONS">
            <a:extLst>
              <a:ext uri="{FF2B5EF4-FFF2-40B4-BE49-F238E27FC236}">
                <a16:creationId xmlns:a16="http://schemas.microsoft.com/office/drawing/2014/main" id="{3D1BA91C-126B-4A87-B744-FA6357A2447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WIN CONDITIONS</a:t>
            </a:r>
          </a:p>
        </p:txBody>
      </p:sp>
      <p:sp>
        <p:nvSpPr>
          <p:cNvPr id="2" name="Eight possible winning lines">
            <a:extLst>
              <a:ext uri="{FF2B5EF4-FFF2-40B4-BE49-F238E27FC236}">
                <a16:creationId xmlns:a16="http://schemas.microsoft.com/office/drawing/2014/main" id="{98339893-9F11-44BA-97A4-0FD6BAD8FBF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Eight possible winning lines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134FBB9E-7E9C-4429-966C-64BC1328EC8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DDF08CFA-ED06-4372-BD67-AAE6349FBF23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169BE81E-5DDB-4C9B-AF7E-A3ED99D610A6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6" name="All three cells must match the player we are ">
            <a:extLst>
              <a:ext uri="{FF2B5EF4-FFF2-40B4-BE49-F238E27FC236}">
                <a16:creationId xmlns:a16="http://schemas.microsoft.com/office/drawing/2014/main" id="{56974589-9DE2-4E99-B67D-09C45720BA1A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All three cells must match the player we are checking.</a:t>
            </a:r>
          </a:p>
        </p:txBody>
      </p:sp>
      <p:sp>
        <p:nvSpPr>
          <p:cNvPr id="7" name="Row 0">
            <a:extLst>
              <a:ext uri="{FF2B5EF4-FFF2-40B4-BE49-F238E27FC236}">
                <a16:creationId xmlns:a16="http://schemas.microsoft.com/office/drawing/2014/main" id="{97F54AFB-4B53-48D7-BFB0-42247447B1BE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Row 0</a:t>
            </a:r>
          </a:p>
        </p:txBody>
      </p:sp>
      <p:sp>
        <p:nvSpPr>
          <p:cNvPr id="8" name="surface">
            <a:extLst>
              <a:ext uri="{FF2B5EF4-FFF2-40B4-BE49-F238E27FC236}">
                <a16:creationId xmlns:a16="http://schemas.microsoft.com/office/drawing/2014/main" id="{6AE84A2C-FAD8-46F3-8DBA-AC8739F50BD6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urface">
            <a:extLst>
              <a:ext uri="{FF2B5EF4-FFF2-40B4-BE49-F238E27FC236}">
                <a16:creationId xmlns:a16="http://schemas.microsoft.com/office/drawing/2014/main" id="{AF92B23A-F79B-4790-A340-83F545BC7415}"/>
              </a:ext>
            </a:extLst>
          </p:cNvPr>
          <p:cNvSpPr>
            <a:spLocks noGrp="1"/>
          </p:cNvSpPr>
          <p:nvPr/>
        </p:nvSpPr>
        <p:spPr>
          <a:xfrm>
            <a:off x="904875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urface">
            <a:extLst>
              <a:ext uri="{FF2B5EF4-FFF2-40B4-BE49-F238E27FC236}">
                <a16:creationId xmlns:a16="http://schemas.microsoft.com/office/drawing/2014/main" id="{46A01E1F-8AE0-49F2-8124-E09758E66602}"/>
              </a:ext>
            </a:extLst>
          </p:cNvPr>
          <p:cNvSpPr>
            <a:spLocks noGrp="1"/>
          </p:cNvSpPr>
          <p:nvPr/>
        </p:nvSpPr>
        <p:spPr>
          <a:xfrm>
            <a:off x="120015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urface">
            <a:extLst>
              <a:ext uri="{FF2B5EF4-FFF2-40B4-BE49-F238E27FC236}">
                <a16:creationId xmlns:a16="http://schemas.microsoft.com/office/drawing/2014/main" id="{0573C8A8-AFE6-4C3D-BF9F-3820CEB1621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urface">
            <a:extLst>
              <a:ext uri="{FF2B5EF4-FFF2-40B4-BE49-F238E27FC236}">
                <a16:creationId xmlns:a16="http://schemas.microsoft.com/office/drawing/2014/main" id="{F6F53E91-5AAA-4DE3-A548-B4E0A8BDBB9F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E56CDDBD-9AF4-4C11-95A0-3C4E18EA1833}"/>
              </a:ext>
            </a:extLst>
          </p:cNvPr>
          <p:cNvSpPr>
            <a:spLocks noGrp="1"/>
          </p:cNvSpPr>
          <p:nvPr/>
        </p:nvSpPr>
        <p:spPr>
          <a:xfrm>
            <a:off x="120015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urface">
            <a:extLst>
              <a:ext uri="{FF2B5EF4-FFF2-40B4-BE49-F238E27FC236}">
                <a16:creationId xmlns:a16="http://schemas.microsoft.com/office/drawing/2014/main" id="{795A223A-774B-4202-9CAB-2064C85D1EC0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84BE79F9-A49E-4EDB-86B0-2A3A4F2BF452}"/>
              </a:ext>
            </a:extLst>
          </p:cNvPr>
          <p:cNvSpPr>
            <a:spLocks noGrp="1"/>
          </p:cNvSpPr>
          <p:nvPr/>
        </p:nvSpPr>
        <p:spPr>
          <a:xfrm>
            <a:off x="904875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urface">
            <a:extLst>
              <a:ext uri="{FF2B5EF4-FFF2-40B4-BE49-F238E27FC236}">
                <a16:creationId xmlns:a16="http://schemas.microsoft.com/office/drawing/2014/main" id="{FF96D67B-3DB4-4E22-AAE8-0A6F8EEA67CA}"/>
              </a:ext>
            </a:extLst>
          </p:cNvPr>
          <p:cNvSpPr>
            <a:spLocks noGrp="1"/>
          </p:cNvSpPr>
          <p:nvPr/>
        </p:nvSpPr>
        <p:spPr>
          <a:xfrm>
            <a:off x="120015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[0][0]">
            <a:extLst>
              <a:ext uri="{FF2B5EF4-FFF2-40B4-BE49-F238E27FC236}">
                <a16:creationId xmlns:a16="http://schemas.microsoft.com/office/drawing/2014/main" id="{C258C01A-CCFC-48B4-97C2-9C1E99C51E32}"/>
              </a:ext>
            </a:extLst>
          </p:cNvPr>
          <p:cNvSpPr>
            <a:spLocks noGrp="1"/>
          </p:cNvSpPr>
          <p:nvPr/>
        </p:nvSpPr>
        <p:spPr>
          <a:xfrm>
            <a:off x="1752600" y="24479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[0][0]</a:t>
            </a:r>
          </a:p>
        </p:txBody>
      </p:sp>
      <p:sp>
        <p:nvSpPr>
          <p:cNvPr id="18" name="[0][1]">
            <a:extLst>
              <a:ext uri="{FF2B5EF4-FFF2-40B4-BE49-F238E27FC236}">
                <a16:creationId xmlns:a16="http://schemas.microsoft.com/office/drawing/2014/main" id="{4602A867-E930-47E6-9FA7-F9AED1BF2CD3}"/>
              </a:ext>
            </a:extLst>
          </p:cNvPr>
          <p:cNvSpPr>
            <a:spLocks noGrp="1"/>
          </p:cNvSpPr>
          <p:nvPr/>
        </p:nvSpPr>
        <p:spPr>
          <a:xfrm>
            <a:off x="1752600" y="27622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[0][1]</a:t>
            </a:r>
          </a:p>
        </p:txBody>
      </p:sp>
      <p:sp>
        <p:nvSpPr>
          <p:cNvPr id="19" name="[0][2]">
            <a:extLst>
              <a:ext uri="{FF2B5EF4-FFF2-40B4-BE49-F238E27FC236}">
                <a16:creationId xmlns:a16="http://schemas.microsoft.com/office/drawing/2014/main" id="{A5289996-9FD4-4B71-9589-378C7425CEA2}"/>
              </a:ext>
            </a:extLst>
          </p:cNvPr>
          <p:cNvSpPr>
            <a:spLocks noGrp="1"/>
          </p:cNvSpPr>
          <p:nvPr/>
        </p:nvSpPr>
        <p:spPr>
          <a:xfrm>
            <a:off x="1752600" y="307657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[0][2]</a:t>
            </a:r>
          </a:p>
        </p:txBody>
      </p:sp>
      <p:sp>
        <p:nvSpPr>
          <p:cNvPr id="20" name="Row 1">
            <a:extLst>
              <a:ext uri="{FF2B5EF4-FFF2-40B4-BE49-F238E27FC236}">
                <a16:creationId xmlns:a16="http://schemas.microsoft.com/office/drawing/2014/main" id="{5ACEA56A-21FA-4C98-B781-E508692E5491}"/>
              </a:ext>
            </a:extLst>
          </p:cNvPr>
          <p:cNvSpPr>
            <a:spLocks noGrp="1"/>
          </p:cNvSpPr>
          <p:nvPr/>
        </p:nvSpPr>
        <p:spPr>
          <a:xfrm>
            <a:off x="3409950" y="2047875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Row 1</a:t>
            </a:r>
          </a:p>
        </p:txBody>
      </p:sp>
      <p:sp>
        <p:nvSpPr>
          <p:cNvPr id="21" name="surface">
            <a:extLst>
              <a:ext uri="{FF2B5EF4-FFF2-40B4-BE49-F238E27FC236}">
                <a16:creationId xmlns:a16="http://schemas.microsoft.com/office/drawing/2014/main" id="{AB7262DF-8E9A-4910-A77E-2799DF8DFD16}"/>
              </a:ext>
            </a:extLst>
          </p:cNvPr>
          <p:cNvSpPr>
            <a:spLocks noGrp="1"/>
          </p:cNvSpPr>
          <p:nvPr/>
        </p:nvSpPr>
        <p:spPr>
          <a:xfrm>
            <a:off x="340995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urface">
            <a:extLst>
              <a:ext uri="{FF2B5EF4-FFF2-40B4-BE49-F238E27FC236}">
                <a16:creationId xmlns:a16="http://schemas.microsoft.com/office/drawing/2014/main" id="{FEE62658-D450-4030-9254-7E2F6723AEDF}"/>
              </a:ext>
            </a:extLst>
          </p:cNvPr>
          <p:cNvSpPr>
            <a:spLocks noGrp="1"/>
          </p:cNvSpPr>
          <p:nvPr/>
        </p:nvSpPr>
        <p:spPr>
          <a:xfrm>
            <a:off x="3705225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05C90C60-F86A-491F-A86E-E5A453C2C173}"/>
              </a:ext>
            </a:extLst>
          </p:cNvPr>
          <p:cNvSpPr>
            <a:spLocks noGrp="1"/>
          </p:cNvSpPr>
          <p:nvPr/>
        </p:nvSpPr>
        <p:spPr>
          <a:xfrm>
            <a:off x="400050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urface">
            <a:extLst>
              <a:ext uri="{FF2B5EF4-FFF2-40B4-BE49-F238E27FC236}">
                <a16:creationId xmlns:a16="http://schemas.microsoft.com/office/drawing/2014/main" id="{515349A4-83C2-4AA3-9B7A-5725C97E1D03}"/>
              </a:ext>
            </a:extLst>
          </p:cNvPr>
          <p:cNvSpPr>
            <a:spLocks noGrp="1"/>
          </p:cNvSpPr>
          <p:nvPr/>
        </p:nvSpPr>
        <p:spPr>
          <a:xfrm>
            <a:off x="340995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urface">
            <a:extLst>
              <a:ext uri="{FF2B5EF4-FFF2-40B4-BE49-F238E27FC236}">
                <a16:creationId xmlns:a16="http://schemas.microsoft.com/office/drawing/2014/main" id="{0F403FAA-4562-4E3B-9B68-626470220ACA}"/>
              </a:ext>
            </a:extLst>
          </p:cNvPr>
          <p:cNvSpPr>
            <a:spLocks noGrp="1"/>
          </p:cNvSpPr>
          <p:nvPr/>
        </p:nvSpPr>
        <p:spPr>
          <a:xfrm>
            <a:off x="3705225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urface">
            <a:extLst>
              <a:ext uri="{FF2B5EF4-FFF2-40B4-BE49-F238E27FC236}">
                <a16:creationId xmlns:a16="http://schemas.microsoft.com/office/drawing/2014/main" id="{D404CADE-F697-45B8-BC59-01C97973B717}"/>
              </a:ext>
            </a:extLst>
          </p:cNvPr>
          <p:cNvSpPr>
            <a:spLocks noGrp="1"/>
          </p:cNvSpPr>
          <p:nvPr/>
        </p:nvSpPr>
        <p:spPr>
          <a:xfrm>
            <a:off x="400050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urface">
            <a:extLst>
              <a:ext uri="{FF2B5EF4-FFF2-40B4-BE49-F238E27FC236}">
                <a16:creationId xmlns:a16="http://schemas.microsoft.com/office/drawing/2014/main" id="{A4A289E7-D152-4921-A274-2D1E7B6144FA}"/>
              </a:ext>
            </a:extLst>
          </p:cNvPr>
          <p:cNvSpPr>
            <a:spLocks noGrp="1"/>
          </p:cNvSpPr>
          <p:nvPr/>
        </p:nvSpPr>
        <p:spPr>
          <a:xfrm>
            <a:off x="340995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urface">
            <a:extLst>
              <a:ext uri="{FF2B5EF4-FFF2-40B4-BE49-F238E27FC236}">
                <a16:creationId xmlns:a16="http://schemas.microsoft.com/office/drawing/2014/main" id="{04DE3048-6187-4418-B6F0-A0E102F87F67}"/>
              </a:ext>
            </a:extLst>
          </p:cNvPr>
          <p:cNvSpPr>
            <a:spLocks noGrp="1"/>
          </p:cNvSpPr>
          <p:nvPr/>
        </p:nvSpPr>
        <p:spPr>
          <a:xfrm>
            <a:off x="3705225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urface">
            <a:extLst>
              <a:ext uri="{FF2B5EF4-FFF2-40B4-BE49-F238E27FC236}">
                <a16:creationId xmlns:a16="http://schemas.microsoft.com/office/drawing/2014/main" id="{3395B26E-AA7F-4BA4-8698-DC84CA75EAB5}"/>
              </a:ext>
            </a:extLst>
          </p:cNvPr>
          <p:cNvSpPr>
            <a:spLocks noGrp="1"/>
          </p:cNvSpPr>
          <p:nvPr/>
        </p:nvSpPr>
        <p:spPr>
          <a:xfrm>
            <a:off x="400050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[1][0]">
            <a:extLst>
              <a:ext uri="{FF2B5EF4-FFF2-40B4-BE49-F238E27FC236}">
                <a16:creationId xmlns:a16="http://schemas.microsoft.com/office/drawing/2014/main" id="{083E8940-CD5A-4737-B044-30B90C621BCE}"/>
              </a:ext>
            </a:extLst>
          </p:cNvPr>
          <p:cNvSpPr>
            <a:spLocks noGrp="1"/>
          </p:cNvSpPr>
          <p:nvPr/>
        </p:nvSpPr>
        <p:spPr>
          <a:xfrm>
            <a:off x="4552950" y="24479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[1][0]</a:t>
            </a:r>
          </a:p>
        </p:txBody>
      </p:sp>
      <p:sp>
        <p:nvSpPr>
          <p:cNvPr id="31" name="[1][1]">
            <a:extLst>
              <a:ext uri="{FF2B5EF4-FFF2-40B4-BE49-F238E27FC236}">
                <a16:creationId xmlns:a16="http://schemas.microsoft.com/office/drawing/2014/main" id="{E8B8FC33-2DB5-4623-A603-0F043F92F382}"/>
              </a:ext>
            </a:extLst>
          </p:cNvPr>
          <p:cNvSpPr>
            <a:spLocks noGrp="1"/>
          </p:cNvSpPr>
          <p:nvPr/>
        </p:nvSpPr>
        <p:spPr>
          <a:xfrm>
            <a:off x="4552950" y="27622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[1][1]</a:t>
            </a:r>
          </a:p>
        </p:txBody>
      </p:sp>
      <p:sp>
        <p:nvSpPr>
          <p:cNvPr id="32" name="[1][2]">
            <a:extLst>
              <a:ext uri="{FF2B5EF4-FFF2-40B4-BE49-F238E27FC236}">
                <a16:creationId xmlns:a16="http://schemas.microsoft.com/office/drawing/2014/main" id="{86BCC5DF-D550-41A1-AEEC-0D1E8E8318B8}"/>
              </a:ext>
            </a:extLst>
          </p:cNvPr>
          <p:cNvSpPr>
            <a:spLocks noGrp="1"/>
          </p:cNvSpPr>
          <p:nvPr/>
        </p:nvSpPr>
        <p:spPr>
          <a:xfrm>
            <a:off x="4552950" y="307657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[1][2]</a:t>
            </a:r>
          </a:p>
        </p:txBody>
      </p:sp>
      <p:sp>
        <p:nvSpPr>
          <p:cNvPr id="33" name="Row 2">
            <a:extLst>
              <a:ext uri="{FF2B5EF4-FFF2-40B4-BE49-F238E27FC236}">
                <a16:creationId xmlns:a16="http://schemas.microsoft.com/office/drawing/2014/main" id="{6F16F725-CF83-4CD8-996C-C1791627ED38}"/>
              </a:ext>
            </a:extLst>
          </p:cNvPr>
          <p:cNvSpPr>
            <a:spLocks noGrp="1"/>
          </p:cNvSpPr>
          <p:nvPr/>
        </p:nvSpPr>
        <p:spPr>
          <a:xfrm>
            <a:off x="6210300" y="2047875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Row 2</a:t>
            </a:r>
          </a:p>
        </p:txBody>
      </p:sp>
      <p:sp>
        <p:nvSpPr>
          <p:cNvPr id="34" name="surface">
            <a:extLst>
              <a:ext uri="{FF2B5EF4-FFF2-40B4-BE49-F238E27FC236}">
                <a16:creationId xmlns:a16="http://schemas.microsoft.com/office/drawing/2014/main" id="{A04D71E7-C82E-4DF2-B5A6-7178C01CA699}"/>
              </a:ext>
            </a:extLst>
          </p:cNvPr>
          <p:cNvSpPr>
            <a:spLocks noGrp="1"/>
          </p:cNvSpPr>
          <p:nvPr/>
        </p:nvSpPr>
        <p:spPr>
          <a:xfrm>
            <a:off x="621030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urface">
            <a:extLst>
              <a:ext uri="{FF2B5EF4-FFF2-40B4-BE49-F238E27FC236}">
                <a16:creationId xmlns:a16="http://schemas.microsoft.com/office/drawing/2014/main" id="{30189DA8-1599-4AC2-8C79-A7CB29444901}"/>
              </a:ext>
            </a:extLst>
          </p:cNvPr>
          <p:cNvSpPr>
            <a:spLocks noGrp="1"/>
          </p:cNvSpPr>
          <p:nvPr/>
        </p:nvSpPr>
        <p:spPr>
          <a:xfrm>
            <a:off x="6505575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urface">
            <a:extLst>
              <a:ext uri="{FF2B5EF4-FFF2-40B4-BE49-F238E27FC236}">
                <a16:creationId xmlns:a16="http://schemas.microsoft.com/office/drawing/2014/main" id="{8B338155-2445-41A3-81DC-C5F872FCA5CD}"/>
              </a:ext>
            </a:extLst>
          </p:cNvPr>
          <p:cNvSpPr>
            <a:spLocks noGrp="1"/>
          </p:cNvSpPr>
          <p:nvPr/>
        </p:nvSpPr>
        <p:spPr>
          <a:xfrm>
            <a:off x="680085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urface">
            <a:extLst>
              <a:ext uri="{FF2B5EF4-FFF2-40B4-BE49-F238E27FC236}">
                <a16:creationId xmlns:a16="http://schemas.microsoft.com/office/drawing/2014/main" id="{842243BB-34CB-42EC-B9A9-BFA97221DFDD}"/>
              </a:ext>
            </a:extLst>
          </p:cNvPr>
          <p:cNvSpPr>
            <a:spLocks noGrp="1"/>
          </p:cNvSpPr>
          <p:nvPr/>
        </p:nvSpPr>
        <p:spPr>
          <a:xfrm>
            <a:off x="621030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urface">
            <a:extLst>
              <a:ext uri="{FF2B5EF4-FFF2-40B4-BE49-F238E27FC236}">
                <a16:creationId xmlns:a16="http://schemas.microsoft.com/office/drawing/2014/main" id="{6AFF1460-C8B1-4867-B0E1-61CEF4C188D1}"/>
              </a:ext>
            </a:extLst>
          </p:cNvPr>
          <p:cNvSpPr>
            <a:spLocks noGrp="1"/>
          </p:cNvSpPr>
          <p:nvPr/>
        </p:nvSpPr>
        <p:spPr>
          <a:xfrm>
            <a:off x="6505575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urface">
            <a:extLst>
              <a:ext uri="{FF2B5EF4-FFF2-40B4-BE49-F238E27FC236}">
                <a16:creationId xmlns:a16="http://schemas.microsoft.com/office/drawing/2014/main" id="{57134C35-2B91-4E82-8F8D-08D09881935A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urface">
            <a:extLst>
              <a:ext uri="{FF2B5EF4-FFF2-40B4-BE49-F238E27FC236}">
                <a16:creationId xmlns:a16="http://schemas.microsoft.com/office/drawing/2014/main" id="{2F3083CB-A885-46DC-88EC-9D2E012A35B4}"/>
              </a:ext>
            </a:extLst>
          </p:cNvPr>
          <p:cNvSpPr>
            <a:spLocks noGrp="1"/>
          </p:cNvSpPr>
          <p:nvPr/>
        </p:nvSpPr>
        <p:spPr>
          <a:xfrm>
            <a:off x="621030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urface">
            <a:extLst>
              <a:ext uri="{FF2B5EF4-FFF2-40B4-BE49-F238E27FC236}">
                <a16:creationId xmlns:a16="http://schemas.microsoft.com/office/drawing/2014/main" id="{74EC759A-685A-421E-B1EC-10EC24CA8495}"/>
              </a:ext>
            </a:extLst>
          </p:cNvPr>
          <p:cNvSpPr>
            <a:spLocks noGrp="1"/>
          </p:cNvSpPr>
          <p:nvPr/>
        </p:nvSpPr>
        <p:spPr>
          <a:xfrm>
            <a:off x="6505575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urface">
            <a:extLst>
              <a:ext uri="{FF2B5EF4-FFF2-40B4-BE49-F238E27FC236}">
                <a16:creationId xmlns:a16="http://schemas.microsoft.com/office/drawing/2014/main" id="{5B7E0D12-631E-4395-A10D-5DF268583925}"/>
              </a:ext>
            </a:extLst>
          </p:cNvPr>
          <p:cNvSpPr>
            <a:spLocks noGrp="1"/>
          </p:cNvSpPr>
          <p:nvPr/>
        </p:nvSpPr>
        <p:spPr>
          <a:xfrm>
            <a:off x="680085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[2][0]">
            <a:extLst>
              <a:ext uri="{FF2B5EF4-FFF2-40B4-BE49-F238E27FC236}">
                <a16:creationId xmlns:a16="http://schemas.microsoft.com/office/drawing/2014/main" id="{E4B3CF1F-58FE-44A2-8AD6-B23A00522033}"/>
              </a:ext>
            </a:extLst>
          </p:cNvPr>
          <p:cNvSpPr>
            <a:spLocks noGrp="1"/>
          </p:cNvSpPr>
          <p:nvPr/>
        </p:nvSpPr>
        <p:spPr>
          <a:xfrm>
            <a:off x="7353300" y="24479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[2][0]</a:t>
            </a:r>
          </a:p>
        </p:txBody>
      </p:sp>
      <p:sp>
        <p:nvSpPr>
          <p:cNvPr id="44" name="[2][1]">
            <a:extLst>
              <a:ext uri="{FF2B5EF4-FFF2-40B4-BE49-F238E27FC236}">
                <a16:creationId xmlns:a16="http://schemas.microsoft.com/office/drawing/2014/main" id="{E0E96E07-D59F-43C8-8456-8BD5587AC490}"/>
              </a:ext>
            </a:extLst>
          </p:cNvPr>
          <p:cNvSpPr>
            <a:spLocks noGrp="1"/>
          </p:cNvSpPr>
          <p:nvPr/>
        </p:nvSpPr>
        <p:spPr>
          <a:xfrm>
            <a:off x="7353300" y="27622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[2][1]</a:t>
            </a:r>
          </a:p>
        </p:txBody>
      </p:sp>
      <p:sp>
        <p:nvSpPr>
          <p:cNvPr id="45" name="[2][2]">
            <a:extLst>
              <a:ext uri="{FF2B5EF4-FFF2-40B4-BE49-F238E27FC236}">
                <a16:creationId xmlns:a16="http://schemas.microsoft.com/office/drawing/2014/main" id="{AB078A37-1C9B-405F-974A-9562F742633F}"/>
              </a:ext>
            </a:extLst>
          </p:cNvPr>
          <p:cNvSpPr>
            <a:spLocks noGrp="1"/>
          </p:cNvSpPr>
          <p:nvPr/>
        </p:nvSpPr>
        <p:spPr>
          <a:xfrm>
            <a:off x="7353300" y="307657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[2][2]</a:t>
            </a:r>
          </a:p>
        </p:txBody>
      </p:sp>
      <p:sp>
        <p:nvSpPr>
          <p:cNvPr id="46" name="Column 0">
            <a:extLst>
              <a:ext uri="{FF2B5EF4-FFF2-40B4-BE49-F238E27FC236}">
                <a16:creationId xmlns:a16="http://schemas.microsoft.com/office/drawing/2014/main" id="{FC25ABBB-2A85-4212-8998-2EBD5CBCBDE4}"/>
              </a:ext>
            </a:extLst>
          </p:cNvPr>
          <p:cNvSpPr>
            <a:spLocks noGrp="1"/>
          </p:cNvSpPr>
          <p:nvPr/>
        </p:nvSpPr>
        <p:spPr>
          <a:xfrm>
            <a:off x="9010650" y="2047875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Column 0</a:t>
            </a:r>
          </a:p>
        </p:txBody>
      </p:sp>
      <p:sp>
        <p:nvSpPr>
          <p:cNvPr id="47" name="surface">
            <a:extLst>
              <a:ext uri="{FF2B5EF4-FFF2-40B4-BE49-F238E27FC236}">
                <a16:creationId xmlns:a16="http://schemas.microsoft.com/office/drawing/2014/main" id="{1AC85881-73E3-49D3-B7D7-68D056FB1BE1}"/>
              </a:ext>
            </a:extLst>
          </p:cNvPr>
          <p:cNvSpPr>
            <a:spLocks noGrp="1"/>
          </p:cNvSpPr>
          <p:nvPr/>
        </p:nvSpPr>
        <p:spPr>
          <a:xfrm>
            <a:off x="901065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urface">
            <a:extLst>
              <a:ext uri="{FF2B5EF4-FFF2-40B4-BE49-F238E27FC236}">
                <a16:creationId xmlns:a16="http://schemas.microsoft.com/office/drawing/2014/main" id="{655E0463-9CE0-4F43-A8AC-9D415554FF9C}"/>
              </a:ext>
            </a:extLst>
          </p:cNvPr>
          <p:cNvSpPr>
            <a:spLocks noGrp="1"/>
          </p:cNvSpPr>
          <p:nvPr/>
        </p:nvSpPr>
        <p:spPr>
          <a:xfrm>
            <a:off x="9305925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urface">
            <a:extLst>
              <a:ext uri="{FF2B5EF4-FFF2-40B4-BE49-F238E27FC236}">
                <a16:creationId xmlns:a16="http://schemas.microsoft.com/office/drawing/2014/main" id="{43641DE9-A39C-4F16-AC98-C3A805FC224E}"/>
              </a:ext>
            </a:extLst>
          </p:cNvPr>
          <p:cNvSpPr>
            <a:spLocks noGrp="1"/>
          </p:cNvSpPr>
          <p:nvPr/>
        </p:nvSpPr>
        <p:spPr>
          <a:xfrm>
            <a:off x="9601200" y="246697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urface">
            <a:extLst>
              <a:ext uri="{FF2B5EF4-FFF2-40B4-BE49-F238E27FC236}">
                <a16:creationId xmlns:a16="http://schemas.microsoft.com/office/drawing/2014/main" id="{DAEFE038-1F23-40FE-955B-241E36ADB718}"/>
              </a:ext>
            </a:extLst>
          </p:cNvPr>
          <p:cNvSpPr>
            <a:spLocks noGrp="1"/>
          </p:cNvSpPr>
          <p:nvPr/>
        </p:nvSpPr>
        <p:spPr>
          <a:xfrm>
            <a:off x="901065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urface">
            <a:extLst>
              <a:ext uri="{FF2B5EF4-FFF2-40B4-BE49-F238E27FC236}">
                <a16:creationId xmlns:a16="http://schemas.microsoft.com/office/drawing/2014/main" id="{8242AA86-B3DE-460E-B22E-9D1517E04F8C}"/>
              </a:ext>
            </a:extLst>
          </p:cNvPr>
          <p:cNvSpPr>
            <a:spLocks noGrp="1"/>
          </p:cNvSpPr>
          <p:nvPr/>
        </p:nvSpPr>
        <p:spPr>
          <a:xfrm>
            <a:off x="9305925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urface">
            <a:extLst>
              <a:ext uri="{FF2B5EF4-FFF2-40B4-BE49-F238E27FC236}">
                <a16:creationId xmlns:a16="http://schemas.microsoft.com/office/drawing/2014/main" id="{94B8C03E-3DCE-4FCB-A282-8FD2B3162B39}"/>
              </a:ext>
            </a:extLst>
          </p:cNvPr>
          <p:cNvSpPr>
            <a:spLocks noGrp="1"/>
          </p:cNvSpPr>
          <p:nvPr/>
        </p:nvSpPr>
        <p:spPr>
          <a:xfrm>
            <a:off x="9601200" y="27622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urface">
            <a:extLst>
              <a:ext uri="{FF2B5EF4-FFF2-40B4-BE49-F238E27FC236}">
                <a16:creationId xmlns:a16="http://schemas.microsoft.com/office/drawing/2014/main" id="{0095D4D6-4D83-4F27-AF34-F5B933526A7B}"/>
              </a:ext>
            </a:extLst>
          </p:cNvPr>
          <p:cNvSpPr>
            <a:spLocks noGrp="1"/>
          </p:cNvSpPr>
          <p:nvPr/>
        </p:nvSpPr>
        <p:spPr>
          <a:xfrm>
            <a:off x="901065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urface">
            <a:extLst>
              <a:ext uri="{FF2B5EF4-FFF2-40B4-BE49-F238E27FC236}">
                <a16:creationId xmlns:a16="http://schemas.microsoft.com/office/drawing/2014/main" id="{D110033B-55B8-45AB-9FE1-159C2A9EED3C}"/>
              </a:ext>
            </a:extLst>
          </p:cNvPr>
          <p:cNvSpPr>
            <a:spLocks noGrp="1"/>
          </p:cNvSpPr>
          <p:nvPr/>
        </p:nvSpPr>
        <p:spPr>
          <a:xfrm>
            <a:off x="9305925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urface">
            <a:extLst>
              <a:ext uri="{FF2B5EF4-FFF2-40B4-BE49-F238E27FC236}">
                <a16:creationId xmlns:a16="http://schemas.microsoft.com/office/drawing/2014/main" id="{685A1EEF-45C0-4F69-BC53-8C38312B4E3B}"/>
              </a:ext>
            </a:extLst>
          </p:cNvPr>
          <p:cNvSpPr>
            <a:spLocks noGrp="1"/>
          </p:cNvSpPr>
          <p:nvPr/>
        </p:nvSpPr>
        <p:spPr>
          <a:xfrm>
            <a:off x="9601200" y="30575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[0][0]">
            <a:extLst>
              <a:ext uri="{FF2B5EF4-FFF2-40B4-BE49-F238E27FC236}">
                <a16:creationId xmlns:a16="http://schemas.microsoft.com/office/drawing/2014/main" id="{420815B2-427F-4827-ADAE-2457FA11D56A}"/>
              </a:ext>
            </a:extLst>
          </p:cNvPr>
          <p:cNvSpPr>
            <a:spLocks noGrp="1"/>
          </p:cNvSpPr>
          <p:nvPr/>
        </p:nvSpPr>
        <p:spPr>
          <a:xfrm>
            <a:off x="10153650" y="24479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[0][0]</a:t>
            </a:r>
          </a:p>
        </p:txBody>
      </p:sp>
      <p:sp>
        <p:nvSpPr>
          <p:cNvPr id="57" name="[1][0]">
            <a:extLst>
              <a:ext uri="{FF2B5EF4-FFF2-40B4-BE49-F238E27FC236}">
                <a16:creationId xmlns:a16="http://schemas.microsoft.com/office/drawing/2014/main" id="{78D58237-50CA-4F6C-B259-7FCD903FF171}"/>
              </a:ext>
            </a:extLst>
          </p:cNvPr>
          <p:cNvSpPr>
            <a:spLocks noGrp="1"/>
          </p:cNvSpPr>
          <p:nvPr/>
        </p:nvSpPr>
        <p:spPr>
          <a:xfrm>
            <a:off x="10153650" y="27622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[1][0]</a:t>
            </a:r>
          </a:p>
        </p:txBody>
      </p:sp>
      <p:sp>
        <p:nvSpPr>
          <p:cNvPr id="58" name="[2][0]">
            <a:extLst>
              <a:ext uri="{FF2B5EF4-FFF2-40B4-BE49-F238E27FC236}">
                <a16:creationId xmlns:a16="http://schemas.microsoft.com/office/drawing/2014/main" id="{51C26F86-C719-4D09-A136-EA15B5A70F75}"/>
              </a:ext>
            </a:extLst>
          </p:cNvPr>
          <p:cNvSpPr>
            <a:spLocks noGrp="1"/>
          </p:cNvSpPr>
          <p:nvPr/>
        </p:nvSpPr>
        <p:spPr>
          <a:xfrm>
            <a:off x="10153650" y="307657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[2][0]</a:t>
            </a:r>
          </a:p>
        </p:txBody>
      </p:sp>
      <p:sp>
        <p:nvSpPr>
          <p:cNvPr id="59" name="Column 1">
            <a:extLst>
              <a:ext uri="{FF2B5EF4-FFF2-40B4-BE49-F238E27FC236}">
                <a16:creationId xmlns:a16="http://schemas.microsoft.com/office/drawing/2014/main" id="{42DE7099-A2F3-4181-93FB-D5495CA470A7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Column 1</a:t>
            </a:r>
          </a:p>
        </p:txBody>
      </p:sp>
      <p:sp>
        <p:nvSpPr>
          <p:cNvPr id="60" name="surface">
            <a:extLst>
              <a:ext uri="{FF2B5EF4-FFF2-40B4-BE49-F238E27FC236}">
                <a16:creationId xmlns:a16="http://schemas.microsoft.com/office/drawing/2014/main" id="{55382DD0-B1AB-4B6F-BAEB-01AAD7F71BBC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urface">
            <a:extLst>
              <a:ext uri="{FF2B5EF4-FFF2-40B4-BE49-F238E27FC236}">
                <a16:creationId xmlns:a16="http://schemas.microsoft.com/office/drawing/2014/main" id="{D1B40861-3D6E-4DBE-B2B1-566002894E0F}"/>
              </a:ext>
            </a:extLst>
          </p:cNvPr>
          <p:cNvSpPr>
            <a:spLocks noGrp="1"/>
          </p:cNvSpPr>
          <p:nvPr/>
        </p:nvSpPr>
        <p:spPr>
          <a:xfrm>
            <a:off x="904875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urface">
            <a:extLst>
              <a:ext uri="{FF2B5EF4-FFF2-40B4-BE49-F238E27FC236}">
                <a16:creationId xmlns:a16="http://schemas.microsoft.com/office/drawing/2014/main" id="{E213CBA0-1A14-4A5E-B1C7-4D5974723E06}"/>
              </a:ext>
            </a:extLst>
          </p:cNvPr>
          <p:cNvSpPr>
            <a:spLocks noGrp="1"/>
          </p:cNvSpPr>
          <p:nvPr/>
        </p:nvSpPr>
        <p:spPr>
          <a:xfrm>
            <a:off x="120015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urface">
            <a:extLst>
              <a:ext uri="{FF2B5EF4-FFF2-40B4-BE49-F238E27FC236}">
                <a16:creationId xmlns:a16="http://schemas.microsoft.com/office/drawing/2014/main" id="{D3885A37-E88C-4DF5-985E-E01A3540C1BA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urface">
            <a:extLst>
              <a:ext uri="{FF2B5EF4-FFF2-40B4-BE49-F238E27FC236}">
                <a16:creationId xmlns:a16="http://schemas.microsoft.com/office/drawing/2014/main" id="{6A7690BE-8274-4434-92FD-67A68B93139D}"/>
              </a:ext>
            </a:extLst>
          </p:cNvPr>
          <p:cNvSpPr>
            <a:spLocks noGrp="1"/>
          </p:cNvSpPr>
          <p:nvPr/>
        </p:nvSpPr>
        <p:spPr>
          <a:xfrm>
            <a:off x="904875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urface">
            <a:extLst>
              <a:ext uri="{FF2B5EF4-FFF2-40B4-BE49-F238E27FC236}">
                <a16:creationId xmlns:a16="http://schemas.microsoft.com/office/drawing/2014/main" id="{D77F8BD5-0802-4DBC-AF98-22AD8974F153}"/>
              </a:ext>
            </a:extLst>
          </p:cNvPr>
          <p:cNvSpPr>
            <a:spLocks noGrp="1"/>
          </p:cNvSpPr>
          <p:nvPr/>
        </p:nvSpPr>
        <p:spPr>
          <a:xfrm>
            <a:off x="120015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urface">
            <a:extLst>
              <a:ext uri="{FF2B5EF4-FFF2-40B4-BE49-F238E27FC236}">
                <a16:creationId xmlns:a16="http://schemas.microsoft.com/office/drawing/2014/main" id="{6FB96D72-6603-491F-8FAC-92D89CD281F2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urface">
            <a:extLst>
              <a:ext uri="{FF2B5EF4-FFF2-40B4-BE49-F238E27FC236}">
                <a16:creationId xmlns:a16="http://schemas.microsoft.com/office/drawing/2014/main" id="{487FCD08-7CDC-4FF4-AEA2-E6DB25561E1E}"/>
              </a:ext>
            </a:extLst>
          </p:cNvPr>
          <p:cNvSpPr>
            <a:spLocks noGrp="1"/>
          </p:cNvSpPr>
          <p:nvPr/>
        </p:nvSpPr>
        <p:spPr>
          <a:xfrm>
            <a:off x="904875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urface">
            <a:extLst>
              <a:ext uri="{FF2B5EF4-FFF2-40B4-BE49-F238E27FC236}">
                <a16:creationId xmlns:a16="http://schemas.microsoft.com/office/drawing/2014/main" id="{ADECEA54-62A6-447C-9062-0D0BE527E9CC}"/>
              </a:ext>
            </a:extLst>
          </p:cNvPr>
          <p:cNvSpPr>
            <a:spLocks noGrp="1"/>
          </p:cNvSpPr>
          <p:nvPr/>
        </p:nvSpPr>
        <p:spPr>
          <a:xfrm>
            <a:off x="120015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[0][1]">
            <a:extLst>
              <a:ext uri="{FF2B5EF4-FFF2-40B4-BE49-F238E27FC236}">
                <a16:creationId xmlns:a16="http://schemas.microsoft.com/office/drawing/2014/main" id="{937E095B-9577-4893-89D1-25227EAF0038}"/>
              </a:ext>
            </a:extLst>
          </p:cNvPr>
          <p:cNvSpPr>
            <a:spLocks noGrp="1"/>
          </p:cNvSpPr>
          <p:nvPr/>
        </p:nvSpPr>
        <p:spPr>
          <a:xfrm>
            <a:off x="1752600" y="430530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[0][1]</a:t>
            </a:r>
          </a:p>
        </p:txBody>
      </p:sp>
      <p:sp>
        <p:nvSpPr>
          <p:cNvPr id="70" name="[1][1]">
            <a:extLst>
              <a:ext uri="{FF2B5EF4-FFF2-40B4-BE49-F238E27FC236}">
                <a16:creationId xmlns:a16="http://schemas.microsoft.com/office/drawing/2014/main" id="{C9192926-6552-42B0-A526-2F10E6E040C5}"/>
              </a:ext>
            </a:extLst>
          </p:cNvPr>
          <p:cNvSpPr>
            <a:spLocks noGrp="1"/>
          </p:cNvSpPr>
          <p:nvPr/>
        </p:nvSpPr>
        <p:spPr>
          <a:xfrm>
            <a:off x="1752600" y="46196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[1][1]</a:t>
            </a:r>
          </a:p>
        </p:txBody>
      </p:sp>
      <p:sp>
        <p:nvSpPr>
          <p:cNvPr id="71" name="[2][1]">
            <a:extLst>
              <a:ext uri="{FF2B5EF4-FFF2-40B4-BE49-F238E27FC236}">
                <a16:creationId xmlns:a16="http://schemas.microsoft.com/office/drawing/2014/main" id="{B5266027-C9BE-4617-BC99-A32388D27729}"/>
              </a:ext>
            </a:extLst>
          </p:cNvPr>
          <p:cNvSpPr>
            <a:spLocks noGrp="1"/>
          </p:cNvSpPr>
          <p:nvPr/>
        </p:nvSpPr>
        <p:spPr>
          <a:xfrm>
            <a:off x="1752600" y="49339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[2][1]</a:t>
            </a:r>
          </a:p>
        </p:txBody>
      </p:sp>
      <p:sp>
        <p:nvSpPr>
          <p:cNvPr id="72" name="Column 2">
            <a:extLst>
              <a:ext uri="{FF2B5EF4-FFF2-40B4-BE49-F238E27FC236}">
                <a16:creationId xmlns:a16="http://schemas.microsoft.com/office/drawing/2014/main" id="{402A4C60-B66B-4D8C-9D59-87390F0D67BF}"/>
              </a:ext>
            </a:extLst>
          </p:cNvPr>
          <p:cNvSpPr>
            <a:spLocks noGrp="1"/>
          </p:cNvSpPr>
          <p:nvPr/>
        </p:nvSpPr>
        <p:spPr>
          <a:xfrm>
            <a:off x="3409950" y="3905250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Column 2</a:t>
            </a:r>
          </a:p>
        </p:txBody>
      </p:sp>
      <p:sp>
        <p:nvSpPr>
          <p:cNvPr id="73" name="surface">
            <a:extLst>
              <a:ext uri="{FF2B5EF4-FFF2-40B4-BE49-F238E27FC236}">
                <a16:creationId xmlns:a16="http://schemas.microsoft.com/office/drawing/2014/main" id="{D552D438-9614-4062-A717-DD273DEC7705}"/>
              </a:ext>
            </a:extLst>
          </p:cNvPr>
          <p:cNvSpPr>
            <a:spLocks noGrp="1"/>
          </p:cNvSpPr>
          <p:nvPr/>
        </p:nvSpPr>
        <p:spPr>
          <a:xfrm>
            <a:off x="340995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urface">
            <a:extLst>
              <a:ext uri="{FF2B5EF4-FFF2-40B4-BE49-F238E27FC236}">
                <a16:creationId xmlns:a16="http://schemas.microsoft.com/office/drawing/2014/main" id="{C6472724-357D-440F-BD8D-0FAE1B671E93}"/>
              </a:ext>
            </a:extLst>
          </p:cNvPr>
          <p:cNvSpPr>
            <a:spLocks noGrp="1"/>
          </p:cNvSpPr>
          <p:nvPr/>
        </p:nvSpPr>
        <p:spPr>
          <a:xfrm>
            <a:off x="3705225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urface">
            <a:extLst>
              <a:ext uri="{FF2B5EF4-FFF2-40B4-BE49-F238E27FC236}">
                <a16:creationId xmlns:a16="http://schemas.microsoft.com/office/drawing/2014/main" id="{8827D349-F3BE-4767-8769-EFC6E5BA18C2}"/>
              </a:ext>
            </a:extLst>
          </p:cNvPr>
          <p:cNvSpPr>
            <a:spLocks noGrp="1"/>
          </p:cNvSpPr>
          <p:nvPr/>
        </p:nvSpPr>
        <p:spPr>
          <a:xfrm>
            <a:off x="400050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urface">
            <a:extLst>
              <a:ext uri="{FF2B5EF4-FFF2-40B4-BE49-F238E27FC236}">
                <a16:creationId xmlns:a16="http://schemas.microsoft.com/office/drawing/2014/main" id="{7A771B75-67D0-4062-91D5-CD340260B327}"/>
              </a:ext>
            </a:extLst>
          </p:cNvPr>
          <p:cNvSpPr>
            <a:spLocks noGrp="1"/>
          </p:cNvSpPr>
          <p:nvPr/>
        </p:nvSpPr>
        <p:spPr>
          <a:xfrm>
            <a:off x="340995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urface">
            <a:extLst>
              <a:ext uri="{FF2B5EF4-FFF2-40B4-BE49-F238E27FC236}">
                <a16:creationId xmlns:a16="http://schemas.microsoft.com/office/drawing/2014/main" id="{54FB6F50-9556-4CC4-A3D9-CD2356443C6A}"/>
              </a:ext>
            </a:extLst>
          </p:cNvPr>
          <p:cNvSpPr>
            <a:spLocks noGrp="1"/>
          </p:cNvSpPr>
          <p:nvPr/>
        </p:nvSpPr>
        <p:spPr>
          <a:xfrm>
            <a:off x="3705225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urface">
            <a:extLst>
              <a:ext uri="{FF2B5EF4-FFF2-40B4-BE49-F238E27FC236}">
                <a16:creationId xmlns:a16="http://schemas.microsoft.com/office/drawing/2014/main" id="{F69C1B25-A819-425B-B79A-C05E8E616C2B}"/>
              </a:ext>
            </a:extLst>
          </p:cNvPr>
          <p:cNvSpPr>
            <a:spLocks noGrp="1"/>
          </p:cNvSpPr>
          <p:nvPr/>
        </p:nvSpPr>
        <p:spPr>
          <a:xfrm>
            <a:off x="400050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urface">
            <a:extLst>
              <a:ext uri="{FF2B5EF4-FFF2-40B4-BE49-F238E27FC236}">
                <a16:creationId xmlns:a16="http://schemas.microsoft.com/office/drawing/2014/main" id="{7CCC5193-5B63-4DB8-8CD5-714E47A10224}"/>
              </a:ext>
            </a:extLst>
          </p:cNvPr>
          <p:cNvSpPr>
            <a:spLocks noGrp="1"/>
          </p:cNvSpPr>
          <p:nvPr/>
        </p:nvSpPr>
        <p:spPr>
          <a:xfrm>
            <a:off x="340995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urface">
            <a:extLst>
              <a:ext uri="{FF2B5EF4-FFF2-40B4-BE49-F238E27FC236}">
                <a16:creationId xmlns:a16="http://schemas.microsoft.com/office/drawing/2014/main" id="{4C156F4B-7EA3-4825-B835-C1A93F8C656C}"/>
              </a:ext>
            </a:extLst>
          </p:cNvPr>
          <p:cNvSpPr>
            <a:spLocks noGrp="1"/>
          </p:cNvSpPr>
          <p:nvPr/>
        </p:nvSpPr>
        <p:spPr>
          <a:xfrm>
            <a:off x="3705225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urface">
            <a:extLst>
              <a:ext uri="{FF2B5EF4-FFF2-40B4-BE49-F238E27FC236}">
                <a16:creationId xmlns:a16="http://schemas.microsoft.com/office/drawing/2014/main" id="{BDA076D2-13E4-4C32-AE7F-FE36A22A6BED}"/>
              </a:ext>
            </a:extLst>
          </p:cNvPr>
          <p:cNvSpPr>
            <a:spLocks noGrp="1"/>
          </p:cNvSpPr>
          <p:nvPr/>
        </p:nvSpPr>
        <p:spPr>
          <a:xfrm>
            <a:off x="400050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[0][2]">
            <a:extLst>
              <a:ext uri="{FF2B5EF4-FFF2-40B4-BE49-F238E27FC236}">
                <a16:creationId xmlns:a16="http://schemas.microsoft.com/office/drawing/2014/main" id="{A42BB566-EBD3-4BEC-A67C-4D72A761A0A9}"/>
              </a:ext>
            </a:extLst>
          </p:cNvPr>
          <p:cNvSpPr>
            <a:spLocks noGrp="1"/>
          </p:cNvSpPr>
          <p:nvPr/>
        </p:nvSpPr>
        <p:spPr>
          <a:xfrm>
            <a:off x="4552950" y="430530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[0][2]</a:t>
            </a:r>
          </a:p>
        </p:txBody>
      </p:sp>
      <p:sp>
        <p:nvSpPr>
          <p:cNvPr id="83" name="[1][2]">
            <a:extLst>
              <a:ext uri="{FF2B5EF4-FFF2-40B4-BE49-F238E27FC236}">
                <a16:creationId xmlns:a16="http://schemas.microsoft.com/office/drawing/2014/main" id="{68B30170-9855-4C87-9B31-EF56CD857191}"/>
              </a:ext>
            </a:extLst>
          </p:cNvPr>
          <p:cNvSpPr>
            <a:spLocks noGrp="1"/>
          </p:cNvSpPr>
          <p:nvPr/>
        </p:nvSpPr>
        <p:spPr>
          <a:xfrm>
            <a:off x="4552950" y="46196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[1][2]</a:t>
            </a:r>
          </a:p>
        </p:txBody>
      </p:sp>
      <p:sp>
        <p:nvSpPr>
          <p:cNvPr id="84" name="[2][2]">
            <a:extLst>
              <a:ext uri="{FF2B5EF4-FFF2-40B4-BE49-F238E27FC236}">
                <a16:creationId xmlns:a16="http://schemas.microsoft.com/office/drawing/2014/main" id="{D747DDC2-5435-4162-929F-1FF19CF1EB12}"/>
              </a:ext>
            </a:extLst>
          </p:cNvPr>
          <p:cNvSpPr>
            <a:spLocks noGrp="1"/>
          </p:cNvSpPr>
          <p:nvPr/>
        </p:nvSpPr>
        <p:spPr>
          <a:xfrm>
            <a:off x="4552950" y="49339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[2][2]</a:t>
            </a:r>
          </a:p>
        </p:txBody>
      </p:sp>
      <p:sp>
        <p:nvSpPr>
          <p:cNvPr id="85" name="Diagonal">
            <a:extLst>
              <a:ext uri="{FF2B5EF4-FFF2-40B4-BE49-F238E27FC236}">
                <a16:creationId xmlns:a16="http://schemas.microsoft.com/office/drawing/2014/main" id="{1D70EB84-FF6C-43AD-AC86-73E4D1FDC260}"/>
              </a:ext>
            </a:extLst>
          </p:cNvPr>
          <p:cNvSpPr>
            <a:spLocks noGrp="1"/>
          </p:cNvSpPr>
          <p:nvPr/>
        </p:nvSpPr>
        <p:spPr>
          <a:xfrm>
            <a:off x="6210300" y="3905250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Diagonal</a:t>
            </a:r>
          </a:p>
        </p:txBody>
      </p:sp>
      <p:sp>
        <p:nvSpPr>
          <p:cNvPr id="86" name="surface">
            <a:extLst>
              <a:ext uri="{FF2B5EF4-FFF2-40B4-BE49-F238E27FC236}">
                <a16:creationId xmlns:a16="http://schemas.microsoft.com/office/drawing/2014/main" id="{939D54A2-1083-491A-891B-21B957FF46A5}"/>
              </a:ext>
            </a:extLst>
          </p:cNvPr>
          <p:cNvSpPr>
            <a:spLocks noGrp="1"/>
          </p:cNvSpPr>
          <p:nvPr/>
        </p:nvSpPr>
        <p:spPr>
          <a:xfrm>
            <a:off x="621030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urface">
            <a:extLst>
              <a:ext uri="{FF2B5EF4-FFF2-40B4-BE49-F238E27FC236}">
                <a16:creationId xmlns:a16="http://schemas.microsoft.com/office/drawing/2014/main" id="{EDBA8A66-E330-48D8-B908-F241D73E637B}"/>
              </a:ext>
            </a:extLst>
          </p:cNvPr>
          <p:cNvSpPr>
            <a:spLocks noGrp="1"/>
          </p:cNvSpPr>
          <p:nvPr/>
        </p:nvSpPr>
        <p:spPr>
          <a:xfrm>
            <a:off x="6505575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urface">
            <a:extLst>
              <a:ext uri="{FF2B5EF4-FFF2-40B4-BE49-F238E27FC236}">
                <a16:creationId xmlns:a16="http://schemas.microsoft.com/office/drawing/2014/main" id="{3F3594D4-127E-4CD8-B429-95CC5665FFD7}"/>
              </a:ext>
            </a:extLst>
          </p:cNvPr>
          <p:cNvSpPr>
            <a:spLocks noGrp="1"/>
          </p:cNvSpPr>
          <p:nvPr/>
        </p:nvSpPr>
        <p:spPr>
          <a:xfrm>
            <a:off x="680085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urface">
            <a:extLst>
              <a:ext uri="{FF2B5EF4-FFF2-40B4-BE49-F238E27FC236}">
                <a16:creationId xmlns:a16="http://schemas.microsoft.com/office/drawing/2014/main" id="{B08BFE52-FCFB-4420-A2D7-2F381D484FB2}"/>
              </a:ext>
            </a:extLst>
          </p:cNvPr>
          <p:cNvSpPr>
            <a:spLocks noGrp="1"/>
          </p:cNvSpPr>
          <p:nvPr/>
        </p:nvSpPr>
        <p:spPr>
          <a:xfrm>
            <a:off x="621030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urface">
            <a:extLst>
              <a:ext uri="{FF2B5EF4-FFF2-40B4-BE49-F238E27FC236}">
                <a16:creationId xmlns:a16="http://schemas.microsoft.com/office/drawing/2014/main" id="{B971A55E-6F4E-4D1D-97C3-CBE27D7B674C}"/>
              </a:ext>
            </a:extLst>
          </p:cNvPr>
          <p:cNvSpPr>
            <a:spLocks noGrp="1"/>
          </p:cNvSpPr>
          <p:nvPr/>
        </p:nvSpPr>
        <p:spPr>
          <a:xfrm>
            <a:off x="6505575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urface">
            <a:extLst>
              <a:ext uri="{FF2B5EF4-FFF2-40B4-BE49-F238E27FC236}">
                <a16:creationId xmlns:a16="http://schemas.microsoft.com/office/drawing/2014/main" id="{B0931548-4F0F-4A2F-96B9-F1D231C27DC1}"/>
              </a:ext>
            </a:extLst>
          </p:cNvPr>
          <p:cNvSpPr>
            <a:spLocks noGrp="1"/>
          </p:cNvSpPr>
          <p:nvPr/>
        </p:nvSpPr>
        <p:spPr>
          <a:xfrm>
            <a:off x="680085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urface">
            <a:extLst>
              <a:ext uri="{FF2B5EF4-FFF2-40B4-BE49-F238E27FC236}">
                <a16:creationId xmlns:a16="http://schemas.microsoft.com/office/drawing/2014/main" id="{F9C150AF-B53B-44CF-8C4D-BE82B1A51EE8}"/>
              </a:ext>
            </a:extLst>
          </p:cNvPr>
          <p:cNvSpPr>
            <a:spLocks noGrp="1"/>
          </p:cNvSpPr>
          <p:nvPr/>
        </p:nvSpPr>
        <p:spPr>
          <a:xfrm>
            <a:off x="621030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urface">
            <a:extLst>
              <a:ext uri="{FF2B5EF4-FFF2-40B4-BE49-F238E27FC236}">
                <a16:creationId xmlns:a16="http://schemas.microsoft.com/office/drawing/2014/main" id="{B26EF25D-2777-47C3-841D-C860B5FA5EEB}"/>
              </a:ext>
            </a:extLst>
          </p:cNvPr>
          <p:cNvSpPr>
            <a:spLocks noGrp="1"/>
          </p:cNvSpPr>
          <p:nvPr/>
        </p:nvSpPr>
        <p:spPr>
          <a:xfrm>
            <a:off x="6505575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urface">
            <a:extLst>
              <a:ext uri="{FF2B5EF4-FFF2-40B4-BE49-F238E27FC236}">
                <a16:creationId xmlns:a16="http://schemas.microsoft.com/office/drawing/2014/main" id="{C579326D-1212-4EC0-B3D1-79937024024B}"/>
              </a:ext>
            </a:extLst>
          </p:cNvPr>
          <p:cNvSpPr>
            <a:spLocks noGrp="1"/>
          </p:cNvSpPr>
          <p:nvPr/>
        </p:nvSpPr>
        <p:spPr>
          <a:xfrm>
            <a:off x="680085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[0][0]">
            <a:extLst>
              <a:ext uri="{FF2B5EF4-FFF2-40B4-BE49-F238E27FC236}">
                <a16:creationId xmlns:a16="http://schemas.microsoft.com/office/drawing/2014/main" id="{1E265B61-35C1-4825-912A-B854B3F07ADC}"/>
              </a:ext>
            </a:extLst>
          </p:cNvPr>
          <p:cNvSpPr>
            <a:spLocks noGrp="1"/>
          </p:cNvSpPr>
          <p:nvPr/>
        </p:nvSpPr>
        <p:spPr>
          <a:xfrm>
            <a:off x="7353300" y="430530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[0][0]</a:t>
            </a:r>
          </a:p>
        </p:txBody>
      </p:sp>
      <p:sp>
        <p:nvSpPr>
          <p:cNvPr id="96" name="[1][1]">
            <a:extLst>
              <a:ext uri="{FF2B5EF4-FFF2-40B4-BE49-F238E27FC236}">
                <a16:creationId xmlns:a16="http://schemas.microsoft.com/office/drawing/2014/main" id="{163934E4-8AA4-4A2B-94DD-428E14D6B6D9}"/>
              </a:ext>
            </a:extLst>
          </p:cNvPr>
          <p:cNvSpPr>
            <a:spLocks noGrp="1"/>
          </p:cNvSpPr>
          <p:nvPr/>
        </p:nvSpPr>
        <p:spPr>
          <a:xfrm>
            <a:off x="7353300" y="46196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[1][1]</a:t>
            </a:r>
          </a:p>
        </p:txBody>
      </p:sp>
      <p:sp>
        <p:nvSpPr>
          <p:cNvPr id="97" name="[2][2]">
            <a:extLst>
              <a:ext uri="{FF2B5EF4-FFF2-40B4-BE49-F238E27FC236}">
                <a16:creationId xmlns:a16="http://schemas.microsoft.com/office/drawing/2014/main" id="{AD470CF1-5263-45BB-8100-FFC9066A7D82}"/>
              </a:ext>
            </a:extLst>
          </p:cNvPr>
          <p:cNvSpPr>
            <a:spLocks noGrp="1"/>
          </p:cNvSpPr>
          <p:nvPr/>
        </p:nvSpPr>
        <p:spPr>
          <a:xfrm>
            <a:off x="7353300" y="49339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[2][2]</a:t>
            </a:r>
          </a:p>
        </p:txBody>
      </p:sp>
      <p:sp>
        <p:nvSpPr>
          <p:cNvPr id="98" name="Diagonal">
            <a:extLst>
              <a:ext uri="{FF2B5EF4-FFF2-40B4-BE49-F238E27FC236}">
                <a16:creationId xmlns:a16="http://schemas.microsoft.com/office/drawing/2014/main" id="{8AA45A50-64FF-4B4A-9C13-47CCF1E3EDF3}"/>
              </a:ext>
            </a:extLst>
          </p:cNvPr>
          <p:cNvSpPr>
            <a:spLocks noGrp="1"/>
          </p:cNvSpPr>
          <p:nvPr/>
        </p:nvSpPr>
        <p:spPr>
          <a:xfrm>
            <a:off x="9010650" y="3905250"/>
            <a:ext cx="2619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Diagonal</a:t>
            </a:r>
          </a:p>
        </p:txBody>
      </p:sp>
      <p:sp>
        <p:nvSpPr>
          <p:cNvPr id="99" name="surface">
            <a:extLst>
              <a:ext uri="{FF2B5EF4-FFF2-40B4-BE49-F238E27FC236}">
                <a16:creationId xmlns:a16="http://schemas.microsoft.com/office/drawing/2014/main" id="{C5B83DF6-65DF-4D70-A190-C7001BFB0BB9}"/>
              </a:ext>
            </a:extLst>
          </p:cNvPr>
          <p:cNvSpPr>
            <a:spLocks noGrp="1"/>
          </p:cNvSpPr>
          <p:nvPr/>
        </p:nvSpPr>
        <p:spPr>
          <a:xfrm>
            <a:off x="901065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surface">
            <a:extLst>
              <a:ext uri="{FF2B5EF4-FFF2-40B4-BE49-F238E27FC236}">
                <a16:creationId xmlns:a16="http://schemas.microsoft.com/office/drawing/2014/main" id="{8CBDCC4C-5FE2-474A-BE39-4443ED977C5F}"/>
              </a:ext>
            </a:extLst>
          </p:cNvPr>
          <p:cNvSpPr>
            <a:spLocks noGrp="1"/>
          </p:cNvSpPr>
          <p:nvPr/>
        </p:nvSpPr>
        <p:spPr>
          <a:xfrm>
            <a:off x="9305925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urface">
            <a:extLst>
              <a:ext uri="{FF2B5EF4-FFF2-40B4-BE49-F238E27FC236}">
                <a16:creationId xmlns:a16="http://schemas.microsoft.com/office/drawing/2014/main" id="{C88D9238-5629-4A85-A314-439F6C083312}"/>
              </a:ext>
            </a:extLst>
          </p:cNvPr>
          <p:cNvSpPr>
            <a:spLocks noGrp="1"/>
          </p:cNvSpPr>
          <p:nvPr/>
        </p:nvSpPr>
        <p:spPr>
          <a:xfrm>
            <a:off x="9601200" y="432435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surface">
            <a:extLst>
              <a:ext uri="{FF2B5EF4-FFF2-40B4-BE49-F238E27FC236}">
                <a16:creationId xmlns:a16="http://schemas.microsoft.com/office/drawing/2014/main" id="{D0FE2E47-0246-4105-886D-050C31A97430}"/>
              </a:ext>
            </a:extLst>
          </p:cNvPr>
          <p:cNvSpPr>
            <a:spLocks noGrp="1"/>
          </p:cNvSpPr>
          <p:nvPr/>
        </p:nvSpPr>
        <p:spPr>
          <a:xfrm>
            <a:off x="901065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urface">
            <a:extLst>
              <a:ext uri="{FF2B5EF4-FFF2-40B4-BE49-F238E27FC236}">
                <a16:creationId xmlns:a16="http://schemas.microsoft.com/office/drawing/2014/main" id="{A389EE99-4459-4AF4-8E36-1352A74FA19A}"/>
              </a:ext>
            </a:extLst>
          </p:cNvPr>
          <p:cNvSpPr>
            <a:spLocks noGrp="1"/>
          </p:cNvSpPr>
          <p:nvPr/>
        </p:nvSpPr>
        <p:spPr>
          <a:xfrm>
            <a:off x="9305925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surface">
            <a:extLst>
              <a:ext uri="{FF2B5EF4-FFF2-40B4-BE49-F238E27FC236}">
                <a16:creationId xmlns:a16="http://schemas.microsoft.com/office/drawing/2014/main" id="{A5E161CC-6D7B-4AF3-90A9-9A5696DD0B0A}"/>
              </a:ext>
            </a:extLst>
          </p:cNvPr>
          <p:cNvSpPr>
            <a:spLocks noGrp="1"/>
          </p:cNvSpPr>
          <p:nvPr/>
        </p:nvSpPr>
        <p:spPr>
          <a:xfrm>
            <a:off x="9601200" y="4619625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urface">
            <a:extLst>
              <a:ext uri="{FF2B5EF4-FFF2-40B4-BE49-F238E27FC236}">
                <a16:creationId xmlns:a16="http://schemas.microsoft.com/office/drawing/2014/main" id="{3B27BF1F-9851-462C-983E-DCE6A14326B1}"/>
              </a:ext>
            </a:extLst>
          </p:cNvPr>
          <p:cNvSpPr>
            <a:spLocks noGrp="1"/>
          </p:cNvSpPr>
          <p:nvPr/>
        </p:nvSpPr>
        <p:spPr>
          <a:xfrm>
            <a:off x="901065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surface">
            <a:extLst>
              <a:ext uri="{FF2B5EF4-FFF2-40B4-BE49-F238E27FC236}">
                <a16:creationId xmlns:a16="http://schemas.microsoft.com/office/drawing/2014/main" id="{076C47FB-0B6C-4565-BC28-721453F3A6D4}"/>
              </a:ext>
            </a:extLst>
          </p:cNvPr>
          <p:cNvSpPr>
            <a:spLocks noGrp="1"/>
          </p:cNvSpPr>
          <p:nvPr/>
        </p:nvSpPr>
        <p:spPr>
          <a:xfrm>
            <a:off x="9305925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urface">
            <a:extLst>
              <a:ext uri="{FF2B5EF4-FFF2-40B4-BE49-F238E27FC236}">
                <a16:creationId xmlns:a16="http://schemas.microsoft.com/office/drawing/2014/main" id="{761511BC-E8BE-4CC2-8E72-D5616000CFA1}"/>
              </a:ext>
            </a:extLst>
          </p:cNvPr>
          <p:cNvSpPr>
            <a:spLocks noGrp="1"/>
          </p:cNvSpPr>
          <p:nvPr/>
        </p:nvSpPr>
        <p:spPr>
          <a:xfrm>
            <a:off x="9601200" y="4914900"/>
            <a:ext cx="2952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[0][2]">
            <a:extLst>
              <a:ext uri="{FF2B5EF4-FFF2-40B4-BE49-F238E27FC236}">
                <a16:creationId xmlns:a16="http://schemas.microsoft.com/office/drawing/2014/main" id="{F4BA5B9D-0506-4462-A381-A8A39FA36FBC}"/>
              </a:ext>
            </a:extLst>
          </p:cNvPr>
          <p:cNvSpPr>
            <a:spLocks noGrp="1"/>
          </p:cNvSpPr>
          <p:nvPr/>
        </p:nvSpPr>
        <p:spPr>
          <a:xfrm>
            <a:off x="10153650" y="430530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[0][2]</a:t>
            </a:r>
          </a:p>
        </p:txBody>
      </p:sp>
      <p:sp>
        <p:nvSpPr>
          <p:cNvPr id="109" name="[1][1]">
            <a:extLst>
              <a:ext uri="{FF2B5EF4-FFF2-40B4-BE49-F238E27FC236}">
                <a16:creationId xmlns:a16="http://schemas.microsoft.com/office/drawing/2014/main" id="{097AF56B-EF44-4750-B218-D5782C597091}"/>
              </a:ext>
            </a:extLst>
          </p:cNvPr>
          <p:cNvSpPr>
            <a:spLocks noGrp="1"/>
          </p:cNvSpPr>
          <p:nvPr/>
        </p:nvSpPr>
        <p:spPr>
          <a:xfrm>
            <a:off x="10153650" y="4619625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[1][1]</a:t>
            </a:r>
          </a:p>
        </p:txBody>
      </p:sp>
      <p:sp>
        <p:nvSpPr>
          <p:cNvPr id="110" name="[2][0]">
            <a:extLst>
              <a:ext uri="{FF2B5EF4-FFF2-40B4-BE49-F238E27FC236}">
                <a16:creationId xmlns:a16="http://schemas.microsoft.com/office/drawing/2014/main" id="{6CB30A60-A390-4082-946D-259A3B6F6BEF}"/>
              </a:ext>
            </a:extLst>
          </p:cNvPr>
          <p:cNvSpPr>
            <a:spLocks noGrp="1"/>
          </p:cNvSpPr>
          <p:nvPr/>
        </p:nvSpPr>
        <p:spPr>
          <a:xfrm>
            <a:off x="10153650" y="4933950"/>
            <a:ext cx="14763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[2][0]</a:t>
            </a:r>
          </a:p>
        </p:txBody>
      </p:sp>
      <p:sp>
        <p:nvSpPr>
          <p:cNvPr id="111" name="surface">
            <a:extLst>
              <a:ext uri="{FF2B5EF4-FFF2-40B4-BE49-F238E27FC236}">
                <a16:creationId xmlns:a16="http://schemas.microsoft.com/office/drawing/2014/main" id="{992DDD17-36FB-4E30-8233-9F198361D0C2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Each diagram lists three board[row][column] a">
            <a:extLst>
              <a:ext uri="{FF2B5EF4-FFF2-40B4-BE49-F238E27FC236}">
                <a16:creationId xmlns:a16="http://schemas.microsoft.com/office/drawing/2014/main" id="{D6FA9737-2AD0-4784-84D5-E840305E2250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Each diagram lists three board[row][column] accesses. Write one explicit if per line.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EP 1 · CHECK_WIN">
            <a:extLst>
              <a:ext uri="{FF2B5EF4-FFF2-40B4-BE49-F238E27FC236}">
                <a16:creationId xmlns:a16="http://schemas.microsoft.com/office/drawing/2014/main" id="{19768042-035C-4A6F-9E19-A47CD1C9126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CHECK_WIN</a:t>
            </a:r>
          </a:p>
        </p:txBody>
      </p:sp>
      <p:sp>
        <p:nvSpPr>
          <p:cNvPr id="2" name="Return true when a line matches">
            <a:extLst>
              <a:ext uri="{FF2B5EF4-FFF2-40B4-BE49-F238E27FC236}">
                <a16:creationId xmlns:a16="http://schemas.microsoft.com/office/drawing/2014/main" id="{ACAA6BCC-AF32-4119-98C7-50647E93FB3C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Return true when a line matches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6C1B30C1-4E5D-4274-BCDB-948076EEF96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009E004D-6E28-467C-B22D-DA6E3509720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8465DF2E-9D0C-4546-A83B-8B8253986D79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6" name="ADD: above main(); expand the marked section ">
            <a:extLst>
              <a:ext uri="{FF2B5EF4-FFF2-40B4-BE49-F238E27FC236}">
                <a16:creationId xmlns:a16="http://schemas.microsoft.com/office/drawing/2014/main" id="{94C47A05-075A-4F68-983E-09ED7AEAC863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ADD: above main(); expand the marked section with the previous page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290C28F0-8048-41D5-9C3B-E174A4996DC4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10972800" cy="2956593"/>
          </a:xfrm>
          <a:prstGeom prst="roundRect">
            <a:avLst>
              <a:gd name="adj" fmla="val 2577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ool check_win(const char board[3][3], char p">
            <a:extLst>
              <a:ext uri="{FF2B5EF4-FFF2-40B4-BE49-F238E27FC236}">
                <a16:creationId xmlns:a16="http://schemas.microsoft.com/office/drawing/2014/main" id="{0CEE216E-CC4F-418D-AD59-D1C62CDC1868}"/>
              </a:ext>
            </a:extLst>
          </p:cNvPr>
          <p:cNvSpPr>
            <a:spLocks noGrp="1"/>
          </p:cNvSpPr>
          <p:nvPr/>
        </p:nvSpPr>
        <p:spPr>
          <a:xfrm>
            <a:off x="800100" y="208597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bool check_win(const char board[3][3], char player)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D80D8EF6-F0F4-4737-984E-7FC320F68643}"/>
              </a:ext>
            </a:extLst>
          </p:cNvPr>
          <p:cNvSpPr>
            <a:spLocks noGrp="1"/>
          </p:cNvSpPr>
          <p:nvPr/>
        </p:nvSpPr>
        <p:spPr>
          <a:xfrm>
            <a:off x="800100" y="238061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if (board[0][0] == player &amp;&amp;">
            <a:extLst>
              <a:ext uri="{FF2B5EF4-FFF2-40B4-BE49-F238E27FC236}">
                <a16:creationId xmlns:a16="http://schemas.microsoft.com/office/drawing/2014/main" id="{893AC481-FC80-47F3-BF1A-57508F26A7BC}"/>
              </a:ext>
            </a:extLst>
          </p:cNvPr>
          <p:cNvSpPr>
            <a:spLocks noGrp="1"/>
          </p:cNvSpPr>
          <p:nvPr/>
        </p:nvSpPr>
        <p:spPr>
          <a:xfrm>
            <a:off x="800100" y="267526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(board[0][0] == player &amp;&amp;</a:t>
            </a:r>
          </a:p>
        </p:txBody>
      </p:sp>
      <p:sp>
        <p:nvSpPr>
          <p:cNvPr id="11" name="        board[0][1] == player &amp;&amp;">
            <a:extLst>
              <a:ext uri="{FF2B5EF4-FFF2-40B4-BE49-F238E27FC236}">
                <a16:creationId xmlns:a16="http://schemas.microsoft.com/office/drawing/2014/main" id="{CDACE8CB-4103-4F67-BA0A-9CB948187965}"/>
              </a:ext>
            </a:extLst>
          </p:cNvPr>
          <p:cNvSpPr>
            <a:spLocks noGrp="1"/>
          </p:cNvSpPr>
          <p:nvPr/>
        </p:nvSpPr>
        <p:spPr>
          <a:xfrm>
            <a:off x="800100" y="296990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board[0][1] == player &amp;&amp;</a:t>
            </a:r>
          </a:p>
        </p:txBody>
      </p:sp>
      <p:sp>
        <p:nvSpPr>
          <p:cNvPr id="12" name="        board[0][2] == player) return true;">
            <a:extLst>
              <a:ext uri="{FF2B5EF4-FFF2-40B4-BE49-F238E27FC236}">
                <a16:creationId xmlns:a16="http://schemas.microsoft.com/office/drawing/2014/main" id="{8154AEC6-05B9-40A0-8E89-52EC4ACA7956}"/>
              </a:ext>
            </a:extLst>
          </p:cNvPr>
          <p:cNvSpPr>
            <a:spLocks noGrp="1"/>
          </p:cNvSpPr>
          <p:nvPr/>
        </p:nvSpPr>
        <p:spPr>
          <a:xfrm>
            <a:off x="800100" y="326455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board[0][2] == player) return true;</a:t>
            </a:r>
          </a:p>
        </p:txBody>
      </p:sp>
      <p:sp>
        <p:nvSpPr>
          <p:cNvPr id="13" name="    // Add the other 7 explicit if statements">
            <a:extLst>
              <a:ext uri="{FF2B5EF4-FFF2-40B4-BE49-F238E27FC236}">
                <a16:creationId xmlns:a16="http://schemas.microsoft.com/office/drawing/2014/main" id="{4807A887-C35C-45B6-82EE-9048EBBE88AF}"/>
              </a:ext>
            </a:extLst>
          </p:cNvPr>
          <p:cNvSpPr>
            <a:spLocks noGrp="1"/>
          </p:cNvSpPr>
          <p:nvPr/>
        </p:nvSpPr>
        <p:spPr>
          <a:xfrm>
            <a:off x="800100" y="3559193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// Add the other 7 explicit if statements here.</a:t>
            </a:r>
          </a:p>
        </p:txBody>
      </p:sp>
      <p:sp>
        <p:nvSpPr>
          <p:cNvPr id="14" name="    // Use the index triples on the previous ">
            <a:extLst>
              <a:ext uri="{FF2B5EF4-FFF2-40B4-BE49-F238E27FC236}">
                <a16:creationId xmlns:a16="http://schemas.microsoft.com/office/drawing/2014/main" id="{999CBC4A-FDDC-4CA3-AFAD-B77A1B6DCA99}"/>
              </a:ext>
            </a:extLst>
          </p:cNvPr>
          <p:cNvSpPr>
            <a:spLocks noGrp="1"/>
          </p:cNvSpPr>
          <p:nvPr/>
        </p:nvSpPr>
        <p:spPr>
          <a:xfrm>
            <a:off x="800100" y="385383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// Use the index triples on the previous page.</a:t>
            </a:r>
          </a:p>
        </p:txBody>
      </p:sp>
      <p:sp>
        <p:nvSpPr>
          <p:cNvPr id="15" name="    return false;">
            <a:extLst>
              <a:ext uri="{FF2B5EF4-FFF2-40B4-BE49-F238E27FC236}">
                <a16:creationId xmlns:a16="http://schemas.microsoft.com/office/drawing/2014/main" id="{625EE65C-6D1F-49B4-8E41-906900847DB7}"/>
              </a:ext>
            </a:extLst>
          </p:cNvPr>
          <p:cNvSpPr>
            <a:spLocks noGrp="1"/>
          </p:cNvSpPr>
          <p:nvPr/>
        </p:nvSpPr>
        <p:spPr>
          <a:xfrm>
            <a:off x="800100" y="414848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false;</a:t>
            </a:r>
          </a:p>
        </p:txBody>
      </p:sp>
      <p:sp>
        <p:nvSpPr>
          <p:cNvPr id="16" name="}">
            <a:extLst>
              <a:ext uri="{FF2B5EF4-FFF2-40B4-BE49-F238E27FC236}">
                <a16:creationId xmlns:a16="http://schemas.microsoft.com/office/drawing/2014/main" id="{EF7CBB69-B7ED-4A54-AD3C-5B505DE12CCB}"/>
              </a:ext>
            </a:extLst>
          </p:cNvPr>
          <p:cNvSpPr>
            <a:spLocks noGrp="1"/>
          </p:cNvSpPr>
          <p:nvPr/>
        </p:nvSpPr>
        <p:spPr>
          <a:xfrm>
            <a:off x="800100" y="444312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const: this function reads the board.    &amp;&amp;: ">
            <a:extLst>
              <a:ext uri="{FF2B5EF4-FFF2-40B4-BE49-F238E27FC236}">
                <a16:creationId xmlns:a16="http://schemas.microsoft.com/office/drawing/2014/main" id="{C650FA72-0A66-4A7A-9BB4-88E7C3A3CE45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const: this function reads the board.    &amp;&amp;: every comparison must be true.</a:t>
            </a:r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64667BF6-223B-4B72-B22A-C893E4C161E8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turn false belongs after all eight checks. ">
            <a:extLst>
              <a:ext uri="{FF2B5EF4-FFF2-40B4-BE49-F238E27FC236}">
                <a16:creationId xmlns:a16="http://schemas.microsoft.com/office/drawing/2014/main" id="{D2760AF4-F211-4977-BE9B-F75674ECB5EB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return false belongs after all eight checks. Full function: reference/01.cpp.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EP 1 · IS_BOARD_FULL">
            <a:extLst>
              <a:ext uri="{FF2B5EF4-FFF2-40B4-BE49-F238E27FC236}">
                <a16:creationId xmlns:a16="http://schemas.microsoft.com/office/drawing/2014/main" id="{C4D044D7-B68C-4C94-80C4-7710E4178332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1 · IS_BOARD_FULL</a:t>
            </a:r>
          </a:p>
        </p:txBody>
      </p:sp>
      <p:sp>
        <p:nvSpPr>
          <p:cNvPr id="2" name="A single empty cell means not full">
            <a:extLst>
              <a:ext uri="{FF2B5EF4-FFF2-40B4-BE49-F238E27FC236}">
                <a16:creationId xmlns:a16="http://schemas.microsoft.com/office/drawing/2014/main" id="{86273D8A-9DAD-42BB-B6D6-04EFDEBFBDA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 single empty cell means not full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25455CA4-3583-4D6B-AF4E-266B1A0AFEA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91AD10DD-F945-44D9-9FCE-5D755B7E504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B2B9CE2D-9A6E-4A38-915A-389A71C79C23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6" name="ADD: above main(), alongside the other helper">
            <a:extLst>
              <a:ext uri="{FF2B5EF4-FFF2-40B4-BE49-F238E27FC236}">
                <a16:creationId xmlns:a16="http://schemas.microsoft.com/office/drawing/2014/main" id="{4CDB564E-3DB8-4037-AD07-C8D0D373DF2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ADD: above main(), alongside the other helpers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57742EFC-A894-4E38-A727-35DD7DA42F80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3545881"/>
          </a:xfrm>
          <a:prstGeom prst="roundRect">
            <a:avLst>
              <a:gd name="adj" fmla="val 2149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ool is_board_full(const char board[3][3])">
            <a:extLst>
              <a:ext uri="{FF2B5EF4-FFF2-40B4-BE49-F238E27FC236}">
                <a16:creationId xmlns:a16="http://schemas.microsoft.com/office/drawing/2014/main" id="{9D5CBD5C-2D31-4725-913F-393DFB284574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bool is_board_full(const char board[3][3])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712D776E-BC1D-4A14-BA2C-C988502AEEDB}"/>
              </a:ext>
            </a:extLst>
          </p:cNvPr>
          <p:cNvSpPr>
            <a:spLocks noGrp="1"/>
          </p:cNvSpPr>
          <p:nvPr/>
        </p:nvSpPr>
        <p:spPr>
          <a:xfrm>
            <a:off x="800100" y="231394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for (int row = 0; row &lt; 3; ++row)">
            <a:extLst>
              <a:ext uri="{FF2B5EF4-FFF2-40B4-BE49-F238E27FC236}">
                <a16:creationId xmlns:a16="http://schemas.microsoft.com/office/drawing/2014/main" id="{6BFA1C6D-CD82-4F34-8BDE-DB0EA7F47111}"/>
              </a:ext>
            </a:extLst>
          </p:cNvPr>
          <p:cNvSpPr>
            <a:spLocks noGrp="1"/>
          </p:cNvSpPr>
          <p:nvPr/>
        </p:nvSpPr>
        <p:spPr>
          <a:xfrm>
            <a:off x="800100" y="260858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row = 0; row &lt; 3; ++row)</a:t>
            </a:r>
          </a:p>
        </p:txBody>
      </p:sp>
      <p:sp>
        <p:nvSpPr>
          <p:cNvPr id="11" name="    {">
            <a:extLst>
              <a:ext uri="{FF2B5EF4-FFF2-40B4-BE49-F238E27FC236}">
                <a16:creationId xmlns:a16="http://schemas.microsoft.com/office/drawing/2014/main" id="{6BA0016F-7DCC-4F80-8486-7A8CE59E570D}"/>
              </a:ext>
            </a:extLst>
          </p:cNvPr>
          <p:cNvSpPr>
            <a:spLocks noGrp="1"/>
          </p:cNvSpPr>
          <p:nvPr/>
        </p:nvSpPr>
        <p:spPr>
          <a:xfrm>
            <a:off x="800100" y="290323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</a:t>
            </a:r>
          </a:p>
        </p:txBody>
      </p:sp>
      <p:sp>
        <p:nvSpPr>
          <p:cNvPr id="12" name="        for (int column = 0; column &lt; 3; ++co">
            <a:extLst>
              <a:ext uri="{FF2B5EF4-FFF2-40B4-BE49-F238E27FC236}">
                <a16:creationId xmlns:a16="http://schemas.microsoft.com/office/drawing/2014/main" id="{3714287B-E247-4BD2-8148-909F330BC2C7}"/>
              </a:ext>
            </a:extLst>
          </p:cNvPr>
          <p:cNvSpPr>
            <a:spLocks noGrp="1"/>
          </p:cNvSpPr>
          <p:nvPr/>
        </p:nvSpPr>
        <p:spPr>
          <a:xfrm>
            <a:off x="800100" y="319787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column = 0; column &lt; 3; ++column)</a:t>
            </a:r>
          </a:p>
        </p:txBody>
      </p:sp>
      <p:sp>
        <p:nvSpPr>
          <p:cNvPr id="13" name="        {">
            <a:extLst>
              <a:ext uri="{FF2B5EF4-FFF2-40B4-BE49-F238E27FC236}">
                <a16:creationId xmlns:a16="http://schemas.microsoft.com/office/drawing/2014/main" id="{B66E0FAF-3E44-4B01-A49E-D19B757EB4B6}"/>
              </a:ext>
            </a:extLst>
          </p:cNvPr>
          <p:cNvSpPr>
            <a:spLocks noGrp="1"/>
          </p:cNvSpPr>
          <p:nvPr/>
        </p:nvSpPr>
        <p:spPr>
          <a:xfrm>
            <a:off x="800100" y="3492518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{</a:t>
            </a:r>
          </a:p>
        </p:txBody>
      </p:sp>
      <p:sp>
        <p:nvSpPr>
          <p:cNvPr id="14" name="            if (board[row][column] == '-') re">
            <a:extLst>
              <a:ext uri="{FF2B5EF4-FFF2-40B4-BE49-F238E27FC236}">
                <a16:creationId xmlns:a16="http://schemas.microsoft.com/office/drawing/2014/main" id="{0FA58A9F-5A22-4071-894D-715B144A717A}"/>
              </a:ext>
            </a:extLst>
          </p:cNvPr>
          <p:cNvSpPr>
            <a:spLocks noGrp="1"/>
          </p:cNvSpPr>
          <p:nvPr/>
        </p:nvSpPr>
        <p:spPr>
          <a:xfrm>
            <a:off x="800100" y="378716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(board[row][column] == '-') return false;</a:t>
            </a:r>
          </a:p>
        </p:txBody>
      </p:sp>
      <p:sp>
        <p:nvSpPr>
          <p:cNvPr id="15" name="        }">
            <a:extLst>
              <a:ext uri="{FF2B5EF4-FFF2-40B4-BE49-F238E27FC236}">
                <a16:creationId xmlns:a16="http://schemas.microsoft.com/office/drawing/2014/main" id="{F72E6FEC-92B1-4D4C-B978-E757C53ED112}"/>
              </a:ext>
            </a:extLst>
          </p:cNvPr>
          <p:cNvSpPr>
            <a:spLocks noGrp="1"/>
          </p:cNvSpPr>
          <p:nvPr/>
        </p:nvSpPr>
        <p:spPr>
          <a:xfrm>
            <a:off x="800100" y="408180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6" name="    }">
            <a:extLst>
              <a:ext uri="{FF2B5EF4-FFF2-40B4-BE49-F238E27FC236}">
                <a16:creationId xmlns:a16="http://schemas.microsoft.com/office/drawing/2014/main" id="{2C1D46D4-ECDE-4CDA-AB53-8135F3C2B7C2}"/>
              </a:ext>
            </a:extLst>
          </p:cNvPr>
          <p:cNvSpPr>
            <a:spLocks noGrp="1"/>
          </p:cNvSpPr>
          <p:nvPr/>
        </p:nvSpPr>
        <p:spPr>
          <a:xfrm>
            <a:off x="800100" y="437644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7" name="    return true;">
            <a:extLst>
              <a:ext uri="{FF2B5EF4-FFF2-40B4-BE49-F238E27FC236}">
                <a16:creationId xmlns:a16="http://schemas.microsoft.com/office/drawing/2014/main" id="{4E68A842-D91D-4C7E-9EB6-29E1166C6D8B}"/>
              </a:ext>
            </a:extLst>
          </p:cNvPr>
          <p:cNvSpPr>
            <a:spLocks noGrp="1"/>
          </p:cNvSpPr>
          <p:nvPr/>
        </p:nvSpPr>
        <p:spPr>
          <a:xfrm>
            <a:off x="800100" y="4671093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true;</a:t>
            </a:r>
          </a:p>
        </p:txBody>
      </p:sp>
      <p:sp>
        <p:nvSpPr>
          <p:cNvPr id="18" name="}">
            <a:extLst>
              <a:ext uri="{FF2B5EF4-FFF2-40B4-BE49-F238E27FC236}">
                <a16:creationId xmlns:a16="http://schemas.microsoft.com/office/drawing/2014/main" id="{2C19AEB2-9CC4-46E7-A3AF-189875593B2D}"/>
              </a:ext>
            </a:extLst>
          </p:cNvPr>
          <p:cNvSpPr>
            <a:spLocks noGrp="1"/>
          </p:cNvSpPr>
          <p:nvPr/>
        </p:nvSpPr>
        <p:spPr>
          <a:xfrm>
            <a:off x="800100" y="496573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D29668B0-CF89-4BDD-A572-93FF1E199F22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Full does not mean draw. We must check for a ">
            <a:extLst>
              <a:ext uri="{FF2B5EF4-FFF2-40B4-BE49-F238E27FC236}">
                <a16:creationId xmlns:a16="http://schemas.microsoft.com/office/drawing/2014/main" id="{70662F87-8E7D-4E62-8423-8A75516D6019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Full does not mean draw. We must check for a winner first.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HECKPOINT 1 · REFERENCE/01.CPP">
            <a:extLst>
              <a:ext uri="{FF2B5EF4-FFF2-40B4-BE49-F238E27FC236}">
                <a16:creationId xmlns:a16="http://schemas.microsoft.com/office/drawing/2014/main" id="{D09B763F-04ED-41E2-A40C-348E3730671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CHECKPOINT 1 · REFERENCE/01.CPP</a:t>
            </a:r>
          </a:p>
        </p:txBody>
      </p:sp>
      <p:sp>
        <p:nvSpPr>
          <p:cNvPr id="2" name="Checkpoint 1: state and helpers">
            <a:extLst>
              <a:ext uri="{FF2B5EF4-FFF2-40B4-BE49-F238E27FC236}">
                <a16:creationId xmlns:a16="http://schemas.microsoft.com/office/drawing/2014/main" id="{151B5D3E-8695-49A8-91AF-19E1965FCDBC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Checkpoint 1: state and helpers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A9AC87B9-3F20-4020-B174-671E41BADCD1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99BADE96-E8C4-4069-9B2B-1E215A1EC8C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3">
            <a:extLst>
              <a:ext uri="{FF2B5EF4-FFF2-40B4-BE49-F238E27FC236}">
                <a16:creationId xmlns:a16="http://schemas.microsoft.com/office/drawing/2014/main" id="{2C72B989-7321-41F6-A9A8-59F0B7C1983D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6" name="COMPLETED">
            <a:extLst>
              <a:ext uri="{FF2B5EF4-FFF2-40B4-BE49-F238E27FC236}">
                <a16:creationId xmlns:a16="http://schemas.microsoft.com/office/drawing/2014/main" id="{2B6F1E2B-5365-468C-99AA-7734EB55D725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7" name="Board resets to '-'. Win and full-board helpe">
            <a:extLst>
              <a:ext uri="{FF2B5EF4-FFF2-40B4-BE49-F238E27FC236}">
                <a16:creationId xmlns:a16="http://schemas.microsoft.com/office/drawing/2014/main" id="{E35835C8-8F4F-44BA-8F44-02816D86E4C1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Board resets to '-'. Win and full-board helpers are written.</a:t>
            </a:r>
          </a:p>
        </p:txBody>
      </p:sp>
      <p:sp>
        <p:nvSpPr>
          <p:cNvPr id="8" name="RUN AND CHECK">
            <a:extLst>
              <a:ext uri="{FF2B5EF4-FFF2-40B4-BE49-F238E27FC236}">
                <a16:creationId xmlns:a16="http://schemas.microsoft.com/office/drawing/2014/main" id="{A3ADF6FC-D95D-4168-8E7E-A5C3097AA546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RUN AND CHECK</a:t>
            </a:r>
          </a:p>
        </p:txBody>
      </p:sp>
      <p:sp>
        <p:nvSpPr>
          <p:cNvPr id="9" name="Test an empty board: no winner, not full.">
            <a:extLst>
              <a:ext uri="{FF2B5EF4-FFF2-40B4-BE49-F238E27FC236}">
                <a16:creationId xmlns:a16="http://schemas.microsoft.com/office/drawing/2014/main" id="{7A6F272D-CDC9-41ED-929E-EE0C6167C4F4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Test an empty board: no winner, not full.</a:t>
            </a:r>
          </a:p>
        </p:txBody>
      </p:sp>
      <p:sp>
        <p:nvSpPr>
          <p:cNvPr id="10" name="Test all 8 lines for both X and O.">
            <a:extLst>
              <a:ext uri="{FF2B5EF4-FFF2-40B4-BE49-F238E27FC236}">
                <a16:creationId xmlns:a16="http://schemas.microsoft.com/office/drawing/2014/main" id="{597CFFD1-44B9-453A-8148-5323E30E92C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Test all 8 lines for both X and O.</a:t>
            </a:r>
          </a:p>
        </p:txBody>
      </p:sp>
      <p:sp>
        <p:nvSpPr>
          <p:cNvPr id="11" name="Test the full draw board from page 2.">
            <a:extLst>
              <a:ext uri="{FF2B5EF4-FFF2-40B4-BE49-F238E27FC236}">
                <a16:creationId xmlns:a16="http://schemas.microsoft.com/office/drawing/2014/main" id="{E28BA2D5-D7CD-4C7D-B9BB-A615861EA716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Test the full draw board from page 2.</a:t>
            </a:r>
          </a:p>
        </p:txBody>
      </p:sp>
      <p:sp>
        <p:nvSpPr>
          <p:cNvPr id="12" name="Then reset_board(board) before the loop.">
            <a:extLst>
              <a:ext uri="{FF2B5EF4-FFF2-40B4-BE49-F238E27FC236}">
                <a16:creationId xmlns:a16="http://schemas.microsoft.com/office/drawing/2014/main" id="{9F055E67-9768-46D2-BCEC-3009C70F9D11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Then reset_board(board) before the loop.</a:t>
            </a:r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F7272E36-4851-44C2-AA5F-DAA67304150F}"/>
              </a:ext>
            </a:extLst>
          </p:cNvPr>
          <p:cNvSpPr>
            <a:spLocks noGrp="1"/>
          </p:cNvSpPr>
          <p:nvPr/>
        </p:nvSpPr>
        <p:spPr>
          <a:xfrm>
            <a:off x="8143875" y="1647825"/>
            <a:ext cx="3438525" cy="3476625"/>
          </a:xfrm>
          <a:prstGeom prst="roundRect">
            <a:avLst>
              <a:gd name="adj" fmla="val 2216"/>
            </a:avLst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xpected now">
            <a:extLst>
              <a:ext uri="{FF2B5EF4-FFF2-40B4-BE49-F238E27FC236}">
                <a16:creationId xmlns:a16="http://schemas.microsoft.com/office/drawing/2014/main" id="{E9778CDF-DE2F-4049-881F-E4853D85535A}"/>
              </a:ext>
            </a:extLst>
          </p:cNvPr>
          <p:cNvSpPr>
            <a:spLocks noGrp="1"/>
          </p:cNvSpPr>
          <p:nvPr/>
        </p:nvSpPr>
        <p:spPr>
          <a:xfrm>
            <a:off x="8372475" y="1857375"/>
            <a:ext cx="3000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Expected now</a:t>
            </a:r>
          </a:p>
        </p:txBody>
      </p:sp>
      <p:sp>
        <p:nvSpPr>
          <p:cNvPr id="15" name="Blank window.">
            <a:extLst>
              <a:ext uri="{FF2B5EF4-FFF2-40B4-BE49-F238E27FC236}">
                <a16:creationId xmlns:a16="http://schemas.microsoft.com/office/drawing/2014/main" id="{8B430B2B-DFF7-4500-936D-D6AB4B3E7254}"/>
              </a:ext>
            </a:extLst>
          </p:cNvPr>
          <p:cNvSpPr>
            <a:spLocks noGrp="1"/>
          </p:cNvSpPr>
          <p:nvPr/>
        </p:nvSpPr>
        <p:spPr>
          <a:xfrm>
            <a:off x="8372475" y="24098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Blank window.</a:t>
            </a:r>
          </a:p>
        </p:txBody>
      </p:sp>
      <p:sp>
        <p:nvSpPr>
          <p:cNvPr id="16" name="No board drawing.">
            <a:extLst>
              <a:ext uri="{FF2B5EF4-FFF2-40B4-BE49-F238E27FC236}">
                <a16:creationId xmlns:a16="http://schemas.microsoft.com/office/drawing/2014/main" id="{C92DBD99-6DF1-46FF-B6B8-21E4AF43982C}"/>
              </a:ext>
            </a:extLst>
          </p:cNvPr>
          <p:cNvSpPr>
            <a:spLocks noGrp="1"/>
          </p:cNvSpPr>
          <p:nvPr/>
        </p:nvSpPr>
        <p:spPr>
          <a:xfrm>
            <a:off x="8372475" y="28289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No board drawing.</a:t>
            </a:r>
          </a:p>
        </p:txBody>
      </p:sp>
      <p:sp>
        <p:nvSpPr>
          <p:cNvPr id="17" name="No mouse moves.">
            <a:extLst>
              <a:ext uri="{FF2B5EF4-FFF2-40B4-BE49-F238E27FC236}">
                <a16:creationId xmlns:a16="http://schemas.microsoft.com/office/drawing/2014/main" id="{0630DB52-34A8-434C-9EFC-614F9F8843F2}"/>
              </a:ext>
            </a:extLst>
          </p:cNvPr>
          <p:cNvSpPr>
            <a:spLocks noGrp="1"/>
          </p:cNvSpPr>
          <p:nvPr/>
        </p:nvSpPr>
        <p:spPr>
          <a:xfrm>
            <a:off x="8372475" y="32480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No mouse moves.</a:t>
            </a:r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4F7BA23E-7C28-4B73-BE12-25A3FE544919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ference: reference/01.cpp">
            <a:extLst>
              <a:ext uri="{FF2B5EF4-FFF2-40B4-BE49-F238E27FC236}">
                <a16:creationId xmlns:a16="http://schemas.microsoft.com/office/drawing/2014/main" id="{8E81BAC6-41AD-4920-B3CA-D957D45CE20C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Reference: reference/01.cpp</a:t>
            </a:r>
          </a:p>
        </p:txBody>
      </p:sp>
      <p:sp>
        <p:nvSpPr>
          <p:cNvPr id="20" name="Above main: void draw_board(const char board[">
            <a:extLst>
              <a:ext uri="{FF2B5EF4-FFF2-40B4-BE49-F238E27FC236}">
                <a16:creationId xmlns:a16="http://schemas.microsoft.com/office/drawing/2014/main" id="{AA56BB7A-3FE9-4D1F-AC24-FFF970C54BF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Above main: void draw_board(const char board[3][3]) {}</a:t>
            </a:r>
          </a:p>
        </p:txBody>
      </p:sp>
      <p:sp>
        <p:nvSpPr>
          <p:cNvPr id="21" name="After ClearBackground(): draw_board(board);">
            <a:extLst>
              <a:ext uri="{FF2B5EF4-FFF2-40B4-BE49-F238E27FC236}">
                <a16:creationId xmlns:a16="http://schemas.microsoft.com/office/drawing/2014/main" id="{4A2C8FCC-7186-4EC1-8B2D-8872B58C33BE}"/>
              </a:ext>
            </a:extLst>
          </p:cNvPr>
          <p:cNvSpPr>
            <a:spLocks noGrp="1"/>
          </p:cNvSpPr>
          <p:nvPr/>
        </p:nvSpPr>
        <p:spPr>
          <a:xfrm>
            <a:off x="609600" y="55530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After ClearBackground(): draw_board(board);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TEP 2 · COORDINATES">
            <a:extLst>
              <a:ext uri="{FF2B5EF4-FFF2-40B4-BE49-F238E27FC236}">
                <a16:creationId xmlns:a16="http://schemas.microsoft.com/office/drawing/2014/main" id="{E84B26F6-AB64-4F2D-8E4E-399FAE8E9EF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2 · COORDINATES</a:t>
            </a:r>
          </a:p>
        </p:txBody>
      </p:sp>
      <p:sp>
        <p:nvSpPr>
          <p:cNvPr id="2" name="One cell is 300 pixels square">
            <a:extLst>
              <a:ext uri="{FF2B5EF4-FFF2-40B4-BE49-F238E27FC236}">
                <a16:creationId xmlns:a16="http://schemas.microsoft.com/office/drawing/2014/main" id="{B4190EF9-D197-409C-B816-8893185DAF4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One cell is 300 pixels square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0A72C3DF-9551-4D18-B0B0-7AEB59C15C1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35C63031-CBA2-491E-9466-11553CDB638F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BFD6898D-0F35-4FB6-9733-DF56C80E5D66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6" name="CONCEPT: a 900 × 900 window contains 3 rows a">
            <a:extLst>
              <a:ext uri="{FF2B5EF4-FFF2-40B4-BE49-F238E27FC236}">
                <a16:creationId xmlns:a16="http://schemas.microsoft.com/office/drawing/2014/main" id="{936158E4-72E7-4CF2-AD64-FDD9C941C08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CONCEPT: a 900 × 900 window contains 3 rows and 3 columns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FBF5015F-764A-496E-96BE-8F93C8316BD6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7105650" cy="1483375"/>
          </a:xfrm>
          <a:prstGeom prst="roundRect">
            <a:avLst>
              <a:gd name="adj" fmla="val 5137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onst int left = column * 300;">
            <a:extLst>
              <a:ext uri="{FF2B5EF4-FFF2-40B4-BE49-F238E27FC236}">
                <a16:creationId xmlns:a16="http://schemas.microsoft.com/office/drawing/2014/main" id="{8422069F-2810-46C1-947D-A6568D2B5A5D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672465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left = column * 300;</a:t>
            </a:r>
          </a:p>
        </p:txBody>
      </p:sp>
      <p:sp>
        <p:nvSpPr>
          <p:cNvPr id="9" name="const int top = row * 300;">
            <a:extLst>
              <a:ext uri="{FF2B5EF4-FFF2-40B4-BE49-F238E27FC236}">
                <a16:creationId xmlns:a16="http://schemas.microsoft.com/office/drawing/2014/main" id="{34ACF380-85C3-44B3-835B-4658A564B1FB}"/>
              </a:ext>
            </a:extLst>
          </p:cNvPr>
          <p:cNvSpPr>
            <a:spLocks noGrp="1"/>
          </p:cNvSpPr>
          <p:nvPr/>
        </p:nvSpPr>
        <p:spPr>
          <a:xfrm>
            <a:off x="800100" y="2466344"/>
            <a:ext cx="672465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top = row * 300;</a:t>
            </a:r>
          </a:p>
        </p:txBody>
      </p:sp>
      <p:sp>
        <p:nvSpPr>
          <p:cNvPr id="10" name="const int right = left + 300;">
            <a:extLst>
              <a:ext uri="{FF2B5EF4-FFF2-40B4-BE49-F238E27FC236}">
                <a16:creationId xmlns:a16="http://schemas.microsoft.com/office/drawing/2014/main" id="{50C0EF59-E8EB-457A-8FBE-D9C0D180BFD6}"/>
              </a:ext>
            </a:extLst>
          </p:cNvPr>
          <p:cNvSpPr>
            <a:spLocks noGrp="1"/>
          </p:cNvSpPr>
          <p:nvPr/>
        </p:nvSpPr>
        <p:spPr>
          <a:xfrm>
            <a:off x="800100" y="2760987"/>
            <a:ext cx="672465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right = left + 300;</a:t>
            </a:r>
          </a:p>
        </p:txBody>
      </p:sp>
      <p:sp>
        <p:nvSpPr>
          <p:cNvPr id="11" name="const int bottom = top + 300;">
            <a:extLst>
              <a:ext uri="{FF2B5EF4-FFF2-40B4-BE49-F238E27FC236}">
                <a16:creationId xmlns:a16="http://schemas.microsoft.com/office/drawing/2014/main" id="{8C1D4B78-84BE-4F82-A6E5-2745BEDFCE34}"/>
              </a:ext>
            </a:extLst>
          </p:cNvPr>
          <p:cNvSpPr>
            <a:spLocks noGrp="1"/>
          </p:cNvSpPr>
          <p:nvPr/>
        </p:nvSpPr>
        <p:spPr>
          <a:xfrm>
            <a:off x="800100" y="3055631"/>
            <a:ext cx="672465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bottom = top + 300;</a:t>
            </a:r>
          </a:p>
        </p:txBody>
      </p:sp>
      <p:sp>
        <p:nvSpPr>
          <p:cNvPr id="12" name="For row 1, column 2:">
            <a:extLst>
              <a:ext uri="{FF2B5EF4-FFF2-40B4-BE49-F238E27FC236}">
                <a16:creationId xmlns:a16="http://schemas.microsoft.com/office/drawing/2014/main" id="{8253BAB5-9097-487E-B5B0-336EDD94CD31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70008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For row 1, column 2:</a:t>
            </a:r>
          </a:p>
        </p:txBody>
      </p:sp>
      <p:sp>
        <p:nvSpPr>
          <p:cNvPr id="13" name="left = 600, top = 300">
            <a:extLst>
              <a:ext uri="{FF2B5EF4-FFF2-40B4-BE49-F238E27FC236}">
                <a16:creationId xmlns:a16="http://schemas.microsoft.com/office/drawing/2014/main" id="{12F07B33-39DC-4729-8603-35C98D5378BF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70008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left = 600, top = 300</a:t>
            </a:r>
          </a:p>
        </p:txBody>
      </p:sp>
      <p:sp>
        <p:nvSpPr>
          <p:cNvPr id="14" name="right = 900, bottom = 600">
            <a:extLst>
              <a:ext uri="{FF2B5EF4-FFF2-40B4-BE49-F238E27FC236}">
                <a16:creationId xmlns:a16="http://schemas.microsoft.com/office/drawing/2014/main" id="{8DA63EFF-8307-4A5E-964F-91D71C036538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70008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right = 900, bottom = 600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50790772-C86F-44D6-B22D-769B569E489C}"/>
              </a:ext>
            </a:extLst>
          </p:cNvPr>
          <p:cNvSpPr>
            <a:spLocks noGrp="1"/>
          </p:cNvSpPr>
          <p:nvPr/>
        </p:nvSpPr>
        <p:spPr>
          <a:xfrm>
            <a:off x="8467725" y="238125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urface">
            <a:extLst>
              <a:ext uri="{FF2B5EF4-FFF2-40B4-BE49-F238E27FC236}">
                <a16:creationId xmlns:a16="http://schemas.microsoft.com/office/drawing/2014/main" id="{089EA085-9D3A-4743-B68F-A6BE7C1D6D0E}"/>
              </a:ext>
            </a:extLst>
          </p:cNvPr>
          <p:cNvSpPr>
            <a:spLocks noGrp="1"/>
          </p:cNvSpPr>
          <p:nvPr/>
        </p:nvSpPr>
        <p:spPr>
          <a:xfrm>
            <a:off x="9372600" y="238125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urface">
            <a:extLst>
              <a:ext uri="{FF2B5EF4-FFF2-40B4-BE49-F238E27FC236}">
                <a16:creationId xmlns:a16="http://schemas.microsoft.com/office/drawing/2014/main" id="{5CE4A109-B59E-4BEA-8908-A5ED18E59118}"/>
              </a:ext>
            </a:extLst>
          </p:cNvPr>
          <p:cNvSpPr>
            <a:spLocks noGrp="1"/>
          </p:cNvSpPr>
          <p:nvPr/>
        </p:nvSpPr>
        <p:spPr>
          <a:xfrm>
            <a:off x="10277475" y="238125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BA4DB10B-BA73-499C-AEEB-860FADC93BE1}"/>
              </a:ext>
            </a:extLst>
          </p:cNvPr>
          <p:cNvSpPr>
            <a:spLocks noGrp="1"/>
          </p:cNvSpPr>
          <p:nvPr/>
        </p:nvSpPr>
        <p:spPr>
          <a:xfrm>
            <a:off x="8467725" y="3286125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D98AB461-240B-41BA-97A4-4B6FDE45DDFA}"/>
              </a:ext>
            </a:extLst>
          </p:cNvPr>
          <p:cNvSpPr>
            <a:spLocks noGrp="1"/>
          </p:cNvSpPr>
          <p:nvPr/>
        </p:nvSpPr>
        <p:spPr>
          <a:xfrm>
            <a:off x="9372600" y="3286125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urface">
            <a:extLst>
              <a:ext uri="{FF2B5EF4-FFF2-40B4-BE49-F238E27FC236}">
                <a16:creationId xmlns:a16="http://schemas.microsoft.com/office/drawing/2014/main" id="{859E189E-6D6F-429B-B4F3-F0C0943281E2}"/>
              </a:ext>
            </a:extLst>
          </p:cNvPr>
          <p:cNvSpPr>
            <a:spLocks noGrp="1"/>
          </p:cNvSpPr>
          <p:nvPr/>
        </p:nvSpPr>
        <p:spPr>
          <a:xfrm>
            <a:off x="10277475" y="3286125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6D8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X">
            <a:extLst>
              <a:ext uri="{FF2B5EF4-FFF2-40B4-BE49-F238E27FC236}">
                <a16:creationId xmlns:a16="http://schemas.microsoft.com/office/drawing/2014/main" id="{34DBA895-B9ED-4823-89DC-30F42C48A0BD}"/>
              </a:ext>
            </a:extLst>
          </p:cNvPr>
          <p:cNvSpPr>
            <a:spLocks noGrp="1"/>
          </p:cNvSpPr>
          <p:nvPr/>
        </p:nvSpPr>
        <p:spPr>
          <a:xfrm>
            <a:off x="10277475" y="3458051"/>
            <a:ext cx="904875" cy="5881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3278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3278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X</a:t>
            </a:r>
          </a:p>
        </p:txBody>
      </p:sp>
      <p:sp>
        <p:nvSpPr>
          <p:cNvPr id="22" name="surface">
            <a:extLst>
              <a:ext uri="{FF2B5EF4-FFF2-40B4-BE49-F238E27FC236}">
                <a16:creationId xmlns:a16="http://schemas.microsoft.com/office/drawing/2014/main" id="{732365FD-521A-44A6-87C4-28A56B9AA9DF}"/>
              </a:ext>
            </a:extLst>
          </p:cNvPr>
          <p:cNvSpPr>
            <a:spLocks noGrp="1"/>
          </p:cNvSpPr>
          <p:nvPr/>
        </p:nvSpPr>
        <p:spPr>
          <a:xfrm>
            <a:off x="8467725" y="419100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932A3C36-C4EE-4AC7-968E-AC4634025869}"/>
              </a:ext>
            </a:extLst>
          </p:cNvPr>
          <p:cNvSpPr>
            <a:spLocks noGrp="1"/>
          </p:cNvSpPr>
          <p:nvPr/>
        </p:nvSpPr>
        <p:spPr>
          <a:xfrm>
            <a:off x="9372600" y="419100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urface">
            <a:extLst>
              <a:ext uri="{FF2B5EF4-FFF2-40B4-BE49-F238E27FC236}">
                <a16:creationId xmlns:a16="http://schemas.microsoft.com/office/drawing/2014/main" id="{3F397AFC-B95A-406D-B393-03E2A0681114}"/>
              </a:ext>
            </a:extLst>
          </p:cNvPr>
          <p:cNvSpPr>
            <a:spLocks noGrp="1"/>
          </p:cNvSpPr>
          <p:nvPr/>
        </p:nvSpPr>
        <p:spPr>
          <a:xfrm>
            <a:off x="10277475" y="4191000"/>
            <a:ext cx="904875" cy="90487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0">
            <a:extLst>
              <a:ext uri="{FF2B5EF4-FFF2-40B4-BE49-F238E27FC236}">
                <a16:creationId xmlns:a16="http://schemas.microsoft.com/office/drawing/2014/main" id="{225F63C4-F465-43A0-8D4C-0B8395B0A3B7}"/>
              </a:ext>
            </a:extLst>
          </p:cNvPr>
          <p:cNvSpPr>
            <a:spLocks noGrp="1"/>
          </p:cNvSpPr>
          <p:nvPr/>
        </p:nvSpPr>
        <p:spPr>
          <a:xfrm>
            <a:off x="8467725" y="2076450"/>
            <a:ext cx="904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6" name="0">
            <a:extLst>
              <a:ext uri="{FF2B5EF4-FFF2-40B4-BE49-F238E27FC236}">
                <a16:creationId xmlns:a16="http://schemas.microsoft.com/office/drawing/2014/main" id="{F15960BE-4E83-442F-AEEB-3EC450C5BC29}"/>
              </a:ext>
            </a:extLst>
          </p:cNvPr>
          <p:cNvSpPr>
            <a:spLocks noGrp="1"/>
          </p:cNvSpPr>
          <p:nvPr/>
        </p:nvSpPr>
        <p:spPr>
          <a:xfrm>
            <a:off x="8134350" y="2670810"/>
            <a:ext cx="285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7" name="1">
            <a:extLst>
              <a:ext uri="{FF2B5EF4-FFF2-40B4-BE49-F238E27FC236}">
                <a16:creationId xmlns:a16="http://schemas.microsoft.com/office/drawing/2014/main" id="{8E6C54C3-7F73-4E70-9283-8541AF6195D9}"/>
              </a:ext>
            </a:extLst>
          </p:cNvPr>
          <p:cNvSpPr>
            <a:spLocks noGrp="1"/>
          </p:cNvSpPr>
          <p:nvPr/>
        </p:nvSpPr>
        <p:spPr>
          <a:xfrm>
            <a:off x="9372600" y="2076450"/>
            <a:ext cx="904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8" name="1">
            <a:extLst>
              <a:ext uri="{FF2B5EF4-FFF2-40B4-BE49-F238E27FC236}">
                <a16:creationId xmlns:a16="http://schemas.microsoft.com/office/drawing/2014/main" id="{FC807456-C61F-43FE-92C5-519D830BEDB4}"/>
              </a:ext>
            </a:extLst>
          </p:cNvPr>
          <p:cNvSpPr>
            <a:spLocks noGrp="1"/>
          </p:cNvSpPr>
          <p:nvPr/>
        </p:nvSpPr>
        <p:spPr>
          <a:xfrm>
            <a:off x="8134350" y="3575685"/>
            <a:ext cx="285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9" name="2">
            <a:extLst>
              <a:ext uri="{FF2B5EF4-FFF2-40B4-BE49-F238E27FC236}">
                <a16:creationId xmlns:a16="http://schemas.microsoft.com/office/drawing/2014/main" id="{CEDB8735-9E7D-44A0-B3F0-7BC5ED629813}"/>
              </a:ext>
            </a:extLst>
          </p:cNvPr>
          <p:cNvSpPr>
            <a:spLocks noGrp="1"/>
          </p:cNvSpPr>
          <p:nvPr/>
        </p:nvSpPr>
        <p:spPr>
          <a:xfrm>
            <a:off x="10277475" y="2076450"/>
            <a:ext cx="904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0" name="2">
            <a:extLst>
              <a:ext uri="{FF2B5EF4-FFF2-40B4-BE49-F238E27FC236}">
                <a16:creationId xmlns:a16="http://schemas.microsoft.com/office/drawing/2014/main" id="{5F3256F5-9986-475E-A90D-910AD04850F7}"/>
              </a:ext>
            </a:extLst>
          </p:cNvPr>
          <p:cNvSpPr>
            <a:spLocks noGrp="1"/>
          </p:cNvSpPr>
          <p:nvPr/>
        </p:nvSpPr>
        <p:spPr>
          <a:xfrm>
            <a:off x="8134350" y="4480560"/>
            <a:ext cx="285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0">
                <a:solidFill>
                  <a:srgbClr val="45546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55469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1" name="surface">
            <a:extLst>
              <a:ext uri="{FF2B5EF4-FFF2-40B4-BE49-F238E27FC236}">
                <a16:creationId xmlns:a16="http://schemas.microsoft.com/office/drawing/2014/main" id="{8A2705DB-B869-49B4-AE80-87C2E0B5DDBB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hese variables will be added inside the per-">
            <a:extLst>
              <a:ext uri="{FF2B5EF4-FFF2-40B4-BE49-F238E27FC236}">
                <a16:creationId xmlns:a16="http://schemas.microsoft.com/office/drawing/2014/main" id="{504BAF77-0EF6-4F37-BB80-DEE676D4E3FB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These variables will be added inside the per-cell loops on page 17.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TEP 2 · GRID">
            <a:extLst>
              <a:ext uri="{FF2B5EF4-FFF2-40B4-BE49-F238E27FC236}">
                <a16:creationId xmlns:a16="http://schemas.microsoft.com/office/drawing/2014/main" id="{168BE124-285B-4F2C-AC60-9441D853E86E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2 · GRID</a:t>
            </a:r>
          </a:p>
        </p:txBody>
      </p:sp>
      <p:sp>
        <p:nvSpPr>
          <p:cNvPr id="2" name="Draw the four inner grid lines">
            <a:extLst>
              <a:ext uri="{FF2B5EF4-FFF2-40B4-BE49-F238E27FC236}">
                <a16:creationId xmlns:a16="http://schemas.microsoft.com/office/drawing/2014/main" id="{3F852D71-68BF-4FAA-9AD0-4409F6747EA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Draw the four inner grid lines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ABB0E4B2-1C4C-4D82-B349-AB8293BD645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FC2CD66B-7FEA-4B39-8891-97DFA2B65D4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5">
            <a:extLst>
              <a:ext uri="{FF2B5EF4-FFF2-40B4-BE49-F238E27FC236}">
                <a16:creationId xmlns:a16="http://schemas.microsoft.com/office/drawing/2014/main" id="{C27B4F56-04D6-4912-96E9-DC5D4F63C4E6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6" name="REPLACE: the empty body of draw_board()">
            <a:extLst>
              <a:ext uri="{FF2B5EF4-FFF2-40B4-BE49-F238E27FC236}">
                <a16:creationId xmlns:a16="http://schemas.microsoft.com/office/drawing/2014/main" id="{4C8BBDC5-EA63-48EA-BAF8-5F3FF5202B7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REPLACE: the empty body of draw_board()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1269D526-693F-4FE8-9AD5-7091C63706DD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7734300" cy="2661949"/>
          </a:xfrm>
          <a:prstGeom prst="roundRect">
            <a:avLst>
              <a:gd name="adj" fmla="val 286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or (int index = 1; index &lt; 3; ++index)">
            <a:extLst>
              <a:ext uri="{FF2B5EF4-FFF2-40B4-BE49-F238E27FC236}">
                <a16:creationId xmlns:a16="http://schemas.microsoft.com/office/drawing/2014/main" id="{94865A12-F35D-43EB-8D57-2726D9FFCCBA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index = 1; index &lt; 3; ++index)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F81D024C-291A-41A2-948E-C2412FC6E092}"/>
              </a:ext>
            </a:extLst>
          </p:cNvPr>
          <p:cNvSpPr>
            <a:spLocks noGrp="1"/>
          </p:cNvSpPr>
          <p:nvPr/>
        </p:nvSpPr>
        <p:spPr>
          <a:xfrm>
            <a:off x="800100" y="2428244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const int position = index * 300;">
            <a:extLst>
              <a:ext uri="{FF2B5EF4-FFF2-40B4-BE49-F238E27FC236}">
                <a16:creationId xmlns:a16="http://schemas.microsoft.com/office/drawing/2014/main" id="{607F0633-D127-4111-96E6-19AF63383636}"/>
              </a:ext>
            </a:extLst>
          </p:cNvPr>
          <p:cNvSpPr>
            <a:spLocks noGrp="1"/>
          </p:cNvSpPr>
          <p:nvPr/>
        </p:nvSpPr>
        <p:spPr>
          <a:xfrm>
            <a:off x="800100" y="2722887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const int position = index * 300;</a:t>
            </a:r>
          </a:p>
        </p:txBody>
      </p:sp>
      <p:sp>
        <p:nvSpPr>
          <p:cNvPr id="11" name="    DrawLine(position, 0,">
            <a:extLst>
              <a:ext uri="{FF2B5EF4-FFF2-40B4-BE49-F238E27FC236}">
                <a16:creationId xmlns:a16="http://schemas.microsoft.com/office/drawing/2014/main" id="{97CEE898-AC3D-4196-A048-0AFAE2DE28CA}"/>
              </a:ext>
            </a:extLst>
          </p:cNvPr>
          <p:cNvSpPr>
            <a:spLocks noGrp="1"/>
          </p:cNvSpPr>
          <p:nvPr/>
        </p:nvSpPr>
        <p:spPr>
          <a:xfrm>
            <a:off x="800100" y="3017531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DrawLine(position, 0,</a:t>
            </a:r>
          </a:p>
        </p:txBody>
      </p:sp>
      <p:sp>
        <p:nvSpPr>
          <p:cNvPr id="12" name="             position, window_width, BLACK);">
            <a:extLst>
              <a:ext uri="{FF2B5EF4-FFF2-40B4-BE49-F238E27FC236}">
                <a16:creationId xmlns:a16="http://schemas.microsoft.com/office/drawing/2014/main" id="{6914FA51-7739-49F3-91E6-1CD4A74CD227}"/>
              </a:ext>
            </a:extLst>
          </p:cNvPr>
          <p:cNvSpPr>
            <a:spLocks noGrp="1"/>
          </p:cNvSpPr>
          <p:nvPr/>
        </p:nvSpPr>
        <p:spPr>
          <a:xfrm>
            <a:off x="800100" y="3312175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position, window_width, BLACK);</a:t>
            </a:r>
          </a:p>
        </p:txBody>
      </p:sp>
      <p:sp>
        <p:nvSpPr>
          <p:cNvPr id="13" name="    DrawLine(0, position,">
            <a:extLst>
              <a:ext uri="{FF2B5EF4-FFF2-40B4-BE49-F238E27FC236}">
                <a16:creationId xmlns:a16="http://schemas.microsoft.com/office/drawing/2014/main" id="{CAE9F145-C07A-4DF5-9455-A3DC2A211133}"/>
              </a:ext>
            </a:extLst>
          </p:cNvPr>
          <p:cNvSpPr>
            <a:spLocks noGrp="1"/>
          </p:cNvSpPr>
          <p:nvPr/>
        </p:nvSpPr>
        <p:spPr>
          <a:xfrm>
            <a:off x="800100" y="3606818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DrawLine(0, position,</a:t>
            </a:r>
          </a:p>
        </p:txBody>
      </p:sp>
      <p:sp>
        <p:nvSpPr>
          <p:cNvPr id="14" name="             window_height, position, BLACK);">
            <a:extLst>
              <a:ext uri="{FF2B5EF4-FFF2-40B4-BE49-F238E27FC236}">
                <a16:creationId xmlns:a16="http://schemas.microsoft.com/office/drawing/2014/main" id="{F91C01A7-F939-47E1-9067-17AABFBC92F8}"/>
              </a:ext>
            </a:extLst>
          </p:cNvPr>
          <p:cNvSpPr>
            <a:spLocks noGrp="1"/>
          </p:cNvSpPr>
          <p:nvPr/>
        </p:nvSpPr>
        <p:spPr>
          <a:xfrm>
            <a:off x="800100" y="3901462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window_height, position, BLACK);</a:t>
            </a:r>
          </a:p>
        </p:txBody>
      </p:sp>
      <p:sp>
        <p:nvSpPr>
          <p:cNvPr id="15" name="}">
            <a:extLst>
              <a:ext uri="{FF2B5EF4-FFF2-40B4-BE49-F238E27FC236}">
                <a16:creationId xmlns:a16="http://schemas.microsoft.com/office/drawing/2014/main" id="{043C403B-7367-4F3A-AEA1-8F86FD020AA0}"/>
              </a:ext>
            </a:extLst>
          </p:cNvPr>
          <p:cNvSpPr>
            <a:spLocks noGrp="1"/>
          </p:cNvSpPr>
          <p:nvPr/>
        </p:nvSpPr>
        <p:spPr>
          <a:xfrm>
            <a:off x="800100" y="4196106"/>
            <a:ext cx="73533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surface">
            <a:extLst>
              <a:ext uri="{FF2B5EF4-FFF2-40B4-BE49-F238E27FC236}">
                <a16:creationId xmlns:a16="http://schemas.microsoft.com/office/drawing/2014/main" id="{FF1464C0-2672-46FD-9E5A-7503C8529AA3}"/>
              </a:ext>
            </a:extLst>
          </p:cNvPr>
          <p:cNvSpPr>
            <a:spLocks noGrp="1"/>
          </p:cNvSpPr>
          <p:nvPr/>
        </p:nvSpPr>
        <p:spPr>
          <a:xfrm>
            <a:off x="8991600" y="2505075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urface">
            <a:extLst>
              <a:ext uri="{FF2B5EF4-FFF2-40B4-BE49-F238E27FC236}">
                <a16:creationId xmlns:a16="http://schemas.microsoft.com/office/drawing/2014/main" id="{DA4EF749-0C8C-4132-A755-E099B5370685}"/>
              </a:ext>
            </a:extLst>
          </p:cNvPr>
          <p:cNvSpPr>
            <a:spLocks noGrp="1"/>
          </p:cNvSpPr>
          <p:nvPr/>
        </p:nvSpPr>
        <p:spPr>
          <a:xfrm>
            <a:off x="9744075" y="2505075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6CBC3994-95A6-4B75-8DD2-D5566A688016}"/>
              </a:ext>
            </a:extLst>
          </p:cNvPr>
          <p:cNvSpPr>
            <a:spLocks noGrp="1"/>
          </p:cNvSpPr>
          <p:nvPr/>
        </p:nvSpPr>
        <p:spPr>
          <a:xfrm>
            <a:off x="10496550" y="2505075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FB58751B-CF9F-4C94-8612-A84D27E521BF}"/>
              </a:ext>
            </a:extLst>
          </p:cNvPr>
          <p:cNvSpPr>
            <a:spLocks noGrp="1"/>
          </p:cNvSpPr>
          <p:nvPr/>
        </p:nvSpPr>
        <p:spPr>
          <a:xfrm>
            <a:off x="8991600" y="3257550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urface">
            <a:extLst>
              <a:ext uri="{FF2B5EF4-FFF2-40B4-BE49-F238E27FC236}">
                <a16:creationId xmlns:a16="http://schemas.microsoft.com/office/drawing/2014/main" id="{1FAF516B-EF70-433B-B0B7-1C971A9D23E0}"/>
              </a:ext>
            </a:extLst>
          </p:cNvPr>
          <p:cNvSpPr>
            <a:spLocks noGrp="1"/>
          </p:cNvSpPr>
          <p:nvPr/>
        </p:nvSpPr>
        <p:spPr>
          <a:xfrm>
            <a:off x="9744075" y="3257550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urface">
            <a:extLst>
              <a:ext uri="{FF2B5EF4-FFF2-40B4-BE49-F238E27FC236}">
                <a16:creationId xmlns:a16="http://schemas.microsoft.com/office/drawing/2014/main" id="{4A20BF98-32F2-49C9-B852-A450AE432C75}"/>
              </a:ext>
            </a:extLst>
          </p:cNvPr>
          <p:cNvSpPr>
            <a:spLocks noGrp="1"/>
          </p:cNvSpPr>
          <p:nvPr/>
        </p:nvSpPr>
        <p:spPr>
          <a:xfrm>
            <a:off x="10496550" y="3257550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urface">
            <a:extLst>
              <a:ext uri="{FF2B5EF4-FFF2-40B4-BE49-F238E27FC236}">
                <a16:creationId xmlns:a16="http://schemas.microsoft.com/office/drawing/2014/main" id="{7885ED08-7B06-4CC6-A553-72AA19D6724D}"/>
              </a:ext>
            </a:extLst>
          </p:cNvPr>
          <p:cNvSpPr>
            <a:spLocks noGrp="1"/>
          </p:cNvSpPr>
          <p:nvPr/>
        </p:nvSpPr>
        <p:spPr>
          <a:xfrm>
            <a:off x="8991600" y="4010025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AE647D86-4F7C-4A5D-86E9-79BD9FEA2C14}"/>
              </a:ext>
            </a:extLst>
          </p:cNvPr>
          <p:cNvSpPr>
            <a:spLocks noGrp="1"/>
          </p:cNvSpPr>
          <p:nvPr/>
        </p:nvSpPr>
        <p:spPr>
          <a:xfrm>
            <a:off x="9744075" y="4010025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urface">
            <a:extLst>
              <a:ext uri="{FF2B5EF4-FFF2-40B4-BE49-F238E27FC236}">
                <a16:creationId xmlns:a16="http://schemas.microsoft.com/office/drawing/2014/main" id="{130ECB55-5149-4D07-8BF9-5BCBE60D808A}"/>
              </a:ext>
            </a:extLst>
          </p:cNvPr>
          <p:cNvSpPr>
            <a:spLocks noGrp="1"/>
          </p:cNvSpPr>
          <p:nvPr/>
        </p:nvSpPr>
        <p:spPr>
          <a:xfrm>
            <a:off x="10496550" y="4010025"/>
            <a:ext cx="752475" cy="75247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Illustration: empty board">
            <a:extLst>
              <a:ext uri="{FF2B5EF4-FFF2-40B4-BE49-F238E27FC236}">
                <a16:creationId xmlns:a16="http://schemas.microsoft.com/office/drawing/2014/main" id="{EC74F95B-1B72-4D63-8316-4B8A23C526E2}"/>
              </a:ext>
            </a:extLst>
          </p:cNvPr>
          <p:cNvSpPr>
            <a:spLocks noGrp="1"/>
          </p:cNvSpPr>
          <p:nvPr/>
        </p:nvSpPr>
        <p:spPr>
          <a:xfrm>
            <a:off x="8896350" y="4914900"/>
            <a:ext cx="24479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Illustration: empty board</a:t>
            </a:r>
          </a:p>
        </p:txBody>
      </p:sp>
      <p:sp>
        <p:nvSpPr>
          <p:cNvPr id="26" name="surface">
            <a:extLst>
              <a:ext uri="{FF2B5EF4-FFF2-40B4-BE49-F238E27FC236}">
                <a16:creationId xmlns:a16="http://schemas.microsoft.com/office/drawing/2014/main" id="{33080063-31BD-4104-8130-3E670A85AAD5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index is 1, then 2: draw at 300 and 600 pixel">
            <a:extLst>
              <a:ext uri="{FF2B5EF4-FFF2-40B4-BE49-F238E27FC236}">
                <a16:creationId xmlns:a16="http://schemas.microsoft.com/office/drawing/2014/main" id="{004796FA-9A2F-44CC-9DED-A868C2926264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index is 1, then 2: draw at 300 and 600 pixels.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EP 2 · SYMBOLS">
            <a:extLst>
              <a:ext uri="{FF2B5EF4-FFF2-40B4-BE49-F238E27FC236}">
                <a16:creationId xmlns:a16="http://schemas.microsoft.com/office/drawing/2014/main" id="{A62F4270-D63E-4165-8B14-1F16714D7AC8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2 · SYMBOLS</a:t>
            </a:r>
          </a:p>
        </p:txBody>
      </p:sp>
      <p:sp>
        <p:nvSpPr>
          <p:cNvPr id="2" name="Draw X with lines, O with a circle">
            <a:extLst>
              <a:ext uri="{FF2B5EF4-FFF2-40B4-BE49-F238E27FC236}">
                <a16:creationId xmlns:a16="http://schemas.microsoft.com/office/drawing/2014/main" id="{835647B9-6F0F-40B8-9B71-7BF8E7909B7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Draw X with lines, O with a circle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D0C9BE7E-81B5-4847-BC99-3B2C940772C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6B742842-2E1F-4A2A-A704-035F883DE51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6">
            <a:extLst>
              <a:ext uri="{FF2B5EF4-FFF2-40B4-BE49-F238E27FC236}">
                <a16:creationId xmlns:a16="http://schemas.microsoft.com/office/drawing/2014/main" id="{408B8FC9-600E-4143-B411-A8FC1CCCDAEE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6" name="SNIPPETS: insert inside the matching branches">
            <a:extLst>
              <a:ext uri="{FF2B5EF4-FFF2-40B4-BE49-F238E27FC236}">
                <a16:creationId xmlns:a16="http://schemas.microsoft.com/office/drawing/2014/main" id="{EEE868EB-A376-4E04-92A2-6DC98D618D5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SNIPPETS: insert inside the matching branches on the next page</a:t>
            </a:r>
          </a:p>
        </p:txBody>
      </p:sp>
      <p:sp>
        <p:nvSpPr>
          <p:cNvPr id="7" name="When the cell contains 'X'">
            <a:extLst>
              <a:ext uri="{FF2B5EF4-FFF2-40B4-BE49-F238E27FC236}">
                <a16:creationId xmlns:a16="http://schemas.microsoft.com/office/drawing/2014/main" id="{A85C015F-3CBD-49FB-868E-DEED9F0B5FD4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When the cell contains 'X'</a:t>
            </a:r>
          </a:p>
        </p:txBody>
      </p:sp>
      <p:sp>
        <p:nvSpPr>
          <p:cNvPr id="8" name="surface">
            <a:extLst>
              <a:ext uri="{FF2B5EF4-FFF2-40B4-BE49-F238E27FC236}">
                <a16:creationId xmlns:a16="http://schemas.microsoft.com/office/drawing/2014/main" id="{873CD522-AA49-4C1C-AA4A-291FBD0C50A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0972800" cy="894087"/>
          </a:xfrm>
          <a:prstGeom prst="roundRect">
            <a:avLst>
              <a:gd name="adj" fmla="val 852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rawLine(left, top, right, bottom, BLACK);">
            <a:extLst>
              <a:ext uri="{FF2B5EF4-FFF2-40B4-BE49-F238E27FC236}">
                <a16:creationId xmlns:a16="http://schemas.microsoft.com/office/drawing/2014/main" id="{3B4B29DD-3852-4BC3-928A-624F8BD50D93}"/>
              </a:ext>
            </a:extLst>
          </p:cNvPr>
          <p:cNvSpPr>
            <a:spLocks noGrp="1"/>
          </p:cNvSpPr>
          <p:nvPr/>
        </p:nvSpPr>
        <p:spPr>
          <a:xfrm>
            <a:off x="800100" y="258127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DrawLine(left, top, right, bottom, BLACK);</a:t>
            </a:r>
          </a:p>
        </p:txBody>
      </p:sp>
      <p:sp>
        <p:nvSpPr>
          <p:cNvPr id="10" name="DrawLine(right, top, left, bottom, BLACK);">
            <a:extLst>
              <a:ext uri="{FF2B5EF4-FFF2-40B4-BE49-F238E27FC236}">
                <a16:creationId xmlns:a16="http://schemas.microsoft.com/office/drawing/2014/main" id="{F19FD332-89DE-4010-9D9C-A4574604A1A7}"/>
              </a:ext>
            </a:extLst>
          </p:cNvPr>
          <p:cNvSpPr>
            <a:spLocks noGrp="1"/>
          </p:cNvSpPr>
          <p:nvPr/>
        </p:nvSpPr>
        <p:spPr>
          <a:xfrm>
            <a:off x="800100" y="287591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DrawLine(right, top, left, bottom, BLACK);</a:t>
            </a:r>
          </a:p>
        </p:txBody>
      </p:sp>
      <p:sp>
        <p:nvSpPr>
          <p:cNvPr id="11" name="When the cell contains 'O'">
            <a:extLst>
              <a:ext uri="{FF2B5EF4-FFF2-40B4-BE49-F238E27FC236}">
                <a16:creationId xmlns:a16="http://schemas.microsoft.com/office/drawing/2014/main" id="{D5A98A34-5CED-472A-8585-515901B2DA48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When the cell contains 'O'</a:t>
            </a:r>
          </a:p>
        </p:txBody>
      </p:sp>
      <p:sp>
        <p:nvSpPr>
          <p:cNvPr id="12" name="surface">
            <a:extLst>
              <a:ext uri="{FF2B5EF4-FFF2-40B4-BE49-F238E27FC236}">
                <a16:creationId xmlns:a16="http://schemas.microsoft.com/office/drawing/2014/main" id="{011BD87D-818C-43DA-8543-195602B49361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10972800" cy="894087"/>
          </a:xfrm>
          <a:prstGeom prst="roundRect">
            <a:avLst>
              <a:gd name="adj" fmla="val 852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rawCircleLines(left + 300 / 2, top + 300 / 2">
            <a:extLst>
              <a:ext uri="{FF2B5EF4-FFF2-40B4-BE49-F238E27FC236}">
                <a16:creationId xmlns:a16="http://schemas.microsoft.com/office/drawing/2014/main" id="{B7BDB11E-F1C7-4190-8727-6B8CED0C69A6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DrawCircleLines(left + 300 / 2, top + 300 / 2,</a:t>
            </a:r>
          </a:p>
        </p:txBody>
      </p:sp>
      <p:sp>
        <p:nvSpPr>
          <p:cNvPr id="14" name="                300 / 2.0f, BLACK);">
            <a:extLst>
              <a:ext uri="{FF2B5EF4-FFF2-40B4-BE49-F238E27FC236}">
                <a16:creationId xmlns:a16="http://schemas.microsoft.com/office/drawing/2014/main" id="{E4CBE1E3-95E6-4126-B8E6-6809433C758E}"/>
              </a:ext>
            </a:extLst>
          </p:cNvPr>
          <p:cNvSpPr>
            <a:spLocks noGrp="1"/>
          </p:cNvSpPr>
          <p:nvPr/>
        </p:nvSpPr>
        <p:spPr>
          <a:xfrm>
            <a:off x="800100" y="472376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300 / 2.0f, BLACK);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4E189D53-15FE-476F-86A6-7B2183686E74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X connects opposite corners. O uses the cell ">
            <a:extLst>
              <a:ext uri="{FF2B5EF4-FFF2-40B4-BE49-F238E27FC236}">
                <a16:creationId xmlns:a16="http://schemas.microsoft.com/office/drawing/2014/main" id="{A7B9C33F-8B0F-4863-A300-3A0B3F3BC072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 connects opposite corners. O uses the cell center and a 150-pixel radius.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EP 2 · DRAW_BOARD">
            <a:extLst>
              <a:ext uri="{FF2B5EF4-FFF2-40B4-BE49-F238E27FC236}">
                <a16:creationId xmlns:a16="http://schemas.microsoft.com/office/drawing/2014/main" id="{BC606613-786A-42CB-87D3-529A8D84075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2 · DRAW_BOARD</a:t>
            </a:r>
          </a:p>
        </p:txBody>
      </p:sp>
      <p:sp>
        <p:nvSpPr>
          <p:cNvPr id="2" name="Read every cell and draw its symbol">
            <a:extLst>
              <a:ext uri="{FF2B5EF4-FFF2-40B4-BE49-F238E27FC236}">
                <a16:creationId xmlns:a16="http://schemas.microsoft.com/office/drawing/2014/main" id="{EC3F9B9B-2D35-4CB6-93B5-B891CE0A8F5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Read every cell and draw its symbol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53F76938-90A3-4F85-9CF6-A4396D3E899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81CC470A-70C2-4234-A6C8-6EECDFFB5BA0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7">
            <a:extLst>
              <a:ext uri="{FF2B5EF4-FFF2-40B4-BE49-F238E27FC236}">
                <a16:creationId xmlns:a16="http://schemas.microsoft.com/office/drawing/2014/main" id="{DA5B3779-D25B-4485-A67B-15F155236B52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6" name="APPEND: inside draw_board(), after the grid l">
            <a:extLst>
              <a:ext uri="{FF2B5EF4-FFF2-40B4-BE49-F238E27FC236}">
                <a16:creationId xmlns:a16="http://schemas.microsoft.com/office/drawing/2014/main" id="{CD380282-C78F-4171-9516-CA8096BA75C9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APPEND: inside draw_board(), after the grid loop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DBB12F4E-7E84-4971-82E0-6D5A905D988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545881"/>
          </a:xfrm>
          <a:prstGeom prst="roundRect">
            <a:avLst>
              <a:gd name="adj" fmla="val 2149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or (int row = 0; row &lt; 3; ++row) {">
            <a:extLst>
              <a:ext uri="{FF2B5EF4-FFF2-40B4-BE49-F238E27FC236}">
                <a16:creationId xmlns:a16="http://schemas.microsoft.com/office/drawing/2014/main" id="{7C82ADA8-9D7E-4232-99FB-9754041617A1}"/>
              </a:ext>
            </a:extLst>
          </p:cNvPr>
          <p:cNvSpPr>
            <a:spLocks noGrp="1"/>
          </p:cNvSpPr>
          <p:nvPr/>
        </p:nvSpPr>
        <p:spPr>
          <a:xfrm>
            <a:off x="800100" y="200977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row = 0; row &lt; 3; ++row) {</a:t>
            </a:r>
          </a:p>
        </p:txBody>
      </p:sp>
      <p:sp>
        <p:nvSpPr>
          <p:cNvPr id="9" name="    for (int column = 0; column &lt; 3; ++column">
            <a:extLst>
              <a:ext uri="{FF2B5EF4-FFF2-40B4-BE49-F238E27FC236}">
                <a16:creationId xmlns:a16="http://schemas.microsoft.com/office/drawing/2014/main" id="{B2A91029-E734-4A3A-9725-4D46A8209014}"/>
              </a:ext>
            </a:extLst>
          </p:cNvPr>
          <p:cNvSpPr>
            <a:spLocks noGrp="1"/>
          </p:cNvSpPr>
          <p:nvPr/>
        </p:nvSpPr>
        <p:spPr>
          <a:xfrm>
            <a:off x="800100" y="230441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column = 0; column &lt; 3; ++column) {</a:t>
            </a:r>
          </a:p>
        </p:txBody>
      </p:sp>
      <p:sp>
        <p:nvSpPr>
          <p:cNvPr id="10" name="        const int left = column * 300, top = ">
            <a:extLst>
              <a:ext uri="{FF2B5EF4-FFF2-40B4-BE49-F238E27FC236}">
                <a16:creationId xmlns:a16="http://schemas.microsoft.com/office/drawing/2014/main" id="{70D5ACA0-1A76-4738-8F18-AFDC57453093}"/>
              </a:ext>
            </a:extLst>
          </p:cNvPr>
          <p:cNvSpPr>
            <a:spLocks noGrp="1"/>
          </p:cNvSpPr>
          <p:nvPr/>
        </p:nvSpPr>
        <p:spPr>
          <a:xfrm>
            <a:off x="800100" y="259906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const int left = column * 300, top = row * 300;</a:t>
            </a:r>
          </a:p>
        </p:txBody>
      </p:sp>
      <p:sp>
        <p:nvSpPr>
          <p:cNvPr id="11" name="        const int right = left + 300, bottom ">
            <a:extLst>
              <a:ext uri="{FF2B5EF4-FFF2-40B4-BE49-F238E27FC236}">
                <a16:creationId xmlns:a16="http://schemas.microsoft.com/office/drawing/2014/main" id="{FC5D0400-F59B-4489-9E2D-8106574BE003}"/>
              </a:ext>
            </a:extLst>
          </p:cNvPr>
          <p:cNvSpPr>
            <a:spLocks noGrp="1"/>
          </p:cNvSpPr>
          <p:nvPr/>
        </p:nvSpPr>
        <p:spPr>
          <a:xfrm>
            <a:off x="800100" y="289370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const int right = left + 300, bottom = top + 300;</a:t>
            </a:r>
          </a:p>
        </p:txBody>
      </p:sp>
      <p:sp>
        <p:nvSpPr>
          <p:cNvPr id="12" name="        if (board[row][column] == 'X') {">
            <a:extLst>
              <a:ext uri="{FF2B5EF4-FFF2-40B4-BE49-F238E27FC236}">
                <a16:creationId xmlns:a16="http://schemas.microsoft.com/office/drawing/2014/main" id="{C339D8E8-D466-4843-BE0A-4033BDA4346C}"/>
              </a:ext>
            </a:extLst>
          </p:cNvPr>
          <p:cNvSpPr>
            <a:spLocks noGrp="1"/>
          </p:cNvSpPr>
          <p:nvPr/>
        </p:nvSpPr>
        <p:spPr>
          <a:xfrm>
            <a:off x="800100" y="318835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(board[row][column] == 'X') {</a:t>
            </a:r>
          </a:p>
        </p:txBody>
      </p:sp>
      <p:sp>
        <p:nvSpPr>
          <p:cNvPr id="13" name="            // Insert the two X lines from pa">
            <a:extLst>
              <a:ext uri="{FF2B5EF4-FFF2-40B4-BE49-F238E27FC236}">
                <a16:creationId xmlns:a16="http://schemas.microsoft.com/office/drawing/2014/main" id="{B0FCEAD3-BF05-4F4B-9B2B-6815FBF064CA}"/>
              </a:ext>
            </a:extLst>
          </p:cNvPr>
          <p:cNvSpPr>
            <a:spLocks noGrp="1"/>
          </p:cNvSpPr>
          <p:nvPr/>
        </p:nvSpPr>
        <p:spPr>
          <a:xfrm>
            <a:off x="800100" y="3482993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        // Insert the two X lines from page 16.</a:t>
            </a:r>
          </a:p>
        </p:txBody>
      </p:sp>
      <p:sp>
        <p:nvSpPr>
          <p:cNvPr id="14" name="        } else if (board[row][column] == 'O')">
            <a:extLst>
              <a:ext uri="{FF2B5EF4-FFF2-40B4-BE49-F238E27FC236}">
                <a16:creationId xmlns:a16="http://schemas.microsoft.com/office/drawing/2014/main" id="{F704A7BA-A458-4F7D-8280-C2D50CFDD1BC}"/>
              </a:ext>
            </a:extLst>
          </p:cNvPr>
          <p:cNvSpPr>
            <a:spLocks noGrp="1"/>
          </p:cNvSpPr>
          <p:nvPr/>
        </p:nvSpPr>
        <p:spPr>
          <a:xfrm>
            <a:off x="800100" y="377763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 else if (board[row][column] == 'O') {</a:t>
            </a:r>
          </a:p>
        </p:txBody>
      </p:sp>
      <p:sp>
        <p:nvSpPr>
          <p:cNvPr id="15" name="            // Insert the O circle from page ">
            <a:extLst>
              <a:ext uri="{FF2B5EF4-FFF2-40B4-BE49-F238E27FC236}">
                <a16:creationId xmlns:a16="http://schemas.microsoft.com/office/drawing/2014/main" id="{E81A3720-BDBF-43A8-B6E4-022D85DB7A2A}"/>
              </a:ext>
            </a:extLst>
          </p:cNvPr>
          <p:cNvSpPr>
            <a:spLocks noGrp="1"/>
          </p:cNvSpPr>
          <p:nvPr/>
        </p:nvSpPr>
        <p:spPr>
          <a:xfrm>
            <a:off x="800100" y="407228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        // Insert the O circle from page 16.</a:t>
            </a:r>
          </a:p>
        </p:txBody>
      </p:sp>
      <p:sp>
        <p:nvSpPr>
          <p:cNvPr id="16" name="        }">
            <a:extLst>
              <a:ext uri="{FF2B5EF4-FFF2-40B4-BE49-F238E27FC236}">
                <a16:creationId xmlns:a16="http://schemas.microsoft.com/office/drawing/2014/main" id="{3C875CFF-08FF-4B34-B679-46576F31E921}"/>
              </a:ext>
            </a:extLst>
          </p:cNvPr>
          <p:cNvSpPr>
            <a:spLocks noGrp="1"/>
          </p:cNvSpPr>
          <p:nvPr/>
        </p:nvSpPr>
        <p:spPr>
          <a:xfrm>
            <a:off x="800100" y="436692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7" name="    }">
            <a:extLst>
              <a:ext uri="{FF2B5EF4-FFF2-40B4-BE49-F238E27FC236}">
                <a16:creationId xmlns:a16="http://schemas.microsoft.com/office/drawing/2014/main" id="{E1468D42-90AE-4A07-937D-77F7DE1BE62E}"/>
              </a:ext>
            </a:extLst>
          </p:cNvPr>
          <p:cNvSpPr>
            <a:spLocks noGrp="1"/>
          </p:cNvSpPr>
          <p:nvPr/>
        </p:nvSpPr>
        <p:spPr>
          <a:xfrm>
            <a:off x="800100" y="4661568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8" name="}">
            <a:extLst>
              <a:ext uri="{FF2B5EF4-FFF2-40B4-BE49-F238E27FC236}">
                <a16:creationId xmlns:a16="http://schemas.microsoft.com/office/drawing/2014/main" id="{550A1A2C-3F94-4051-9F56-31D207E1114B}"/>
              </a:ext>
            </a:extLst>
          </p:cNvPr>
          <p:cNvSpPr>
            <a:spLocks noGrp="1"/>
          </p:cNvSpPr>
          <p:nvPr/>
        </p:nvSpPr>
        <p:spPr>
          <a:xfrm>
            <a:off x="800100" y="495621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A29F91EC-EBB6-4320-BC24-667587E3D651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A '-' cell draws no symbol. Drawing reads the">
            <a:extLst>
              <a:ext uri="{FF2B5EF4-FFF2-40B4-BE49-F238E27FC236}">
                <a16:creationId xmlns:a16="http://schemas.microsoft.com/office/drawing/2014/main" id="{38363AA2-B91C-41D4-9C5C-36FDEDA72016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 '-' cell draws no symbol. Drawing reads the board without changing it.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HECKPOINT 2 · REFERENCE/02.CPP">
            <a:extLst>
              <a:ext uri="{FF2B5EF4-FFF2-40B4-BE49-F238E27FC236}">
                <a16:creationId xmlns:a16="http://schemas.microsoft.com/office/drawing/2014/main" id="{4101B207-41ED-44AD-9E7F-99A20558E1B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CHECKPOINT 2 · REFERENCE/02.CPP</a:t>
            </a:r>
          </a:p>
        </p:txBody>
      </p:sp>
      <p:sp>
        <p:nvSpPr>
          <p:cNvPr id="2" name="Checkpoint 2: data becomes pixels">
            <a:extLst>
              <a:ext uri="{FF2B5EF4-FFF2-40B4-BE49-F238E27FC236}">
                <a16:creationId xmlns:a16="http://schemas.microsoft.com/office/drawing/2014/main" id="{5033A10C-0E38-42A7-B4F3-5264D6121D1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Checkpoint 2: data becomes pixels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6C507502-C460-4942-9C7C-08D78B5BC665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A870E1F4-9A28-4FBB-B09F-21E0C2CFE95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8">
            <a:extLst>
              <a:ext uri="{FF2B5EF4-FFF2-40B4-BE49-F238E27FC236}">
                <a16:creationId xmlns:a16="http://schemas.microsoft.com/office/drawing/2014/main" id="{E854195C-4865-4D9A-AC72-C5F86EE7B034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6" name="COMPLETED">
            <a:extLst>
              <a:ext uri="{FF2B5EF4-FFF2-40B4-BE49-F238E27FC236}">
                <a16:creationId xmlns:a16="http://schemas.microsoft.com/office/drawing/2014/main" id="{F347ABDE-4F59-4275-ACCA-7D7365084CCB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7" name="Grid and symbols are drawn from the board.">
            <a:extLst>
              <a:ext uri="{FF2B5EF4-FFF2-40B4-BE49-F238E27FC236}">
                <a16:creationId xmlns:a16="http://schemas.microsoft.com/office/drawing/2014/main" id="{BEF8A30C-E947-48D2-9BE6-E16A66489C7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Grid and symbols are drawn from the board.</a:t>
            </a:r>
          </a:p>
        </p:txBody>
      </p:sp>
      <p:sp>
        <p:nvSpPr>
          <p:cNvPr id="8" name="RUN AND CHECK">
            <a:extLst>
              <a:ext uri="{FF2B5EF4-FFF2-40B4-BE49-F238E27FC236}">
                <a16:creationId xmlns:a16="http://schemas.microsoft.com/office/drawing/2014/main" id="{8C9BFCED-9C28-4894-AA40-F219144F5F6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RUN AND CHECK</a:t>
            </a:r>
          </a:p>
        </p:txBody>
      </p:sp>
      <p:sp>
        <p:nvSpPr>
          <p:cNvPr id="9" name="After setup reset, set board[1][2] = 'O';">
            <a:extLst>
              <a:ext uri="{FF2B5EF4-FFF2-40B4-BE49-F238E27FC236}">
                <a16:creationId xmlns:a16="http://schemas.microsoft.com/office/drawing/2014/main" id="{197B4EA4-4700-4CB6-9917-5AEAE9EFEE24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After setup reset, set board[1][2] = 'O';</a:t>
            </a:r>
          </a:p>
        </p:txBody>
      </p:sp>
      <p:sp>
        <p:nvSpPr>
          <p:cNvPr id="10" name="Run and check the middle-right cell.">
            <a:extLst>
              <a:ext uri="{FF2B5EF4-FFF2-40B4-BE49-F238E27FC236}">
                <a16:creationId xmlns:a16="http://schemas.microsoft.com/office/drawing/2014/main" id="{8B740037-3524-4F0E-AD22-258E46FDCAEE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Run and check the middle-right cell.</a:t>
            </a:r>
          </a:p>
        </p:txBody>
      </p:sp>
      <p:sp>
        <p:nvSpPr>
          <p:cNvPr id="11" name="Remove this test assignment, then rerun.">
            <a:extLst>
              <a:ext uri="{FF2B5EF4-FFF2-40B4-BE49-F238E27FC236}">
                <a16:creationId xmlns:a16="http://schemas.microsoft.com/office/drawing/2014/main" id="{C6141C51-8E54-457E-A3B8-6ADA897D82B4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Remove this test assignment, then rerun.</a:t>
            </a:r>
          </a:p>
        </p:txBody>
      </p:sp>
      <p:sp>
        <p:nvSpPr>
          <p:cNvPr id="12" name="An empty grid should remain.">
            <a:extLst>
              <a:ext uri="{FF2B5EF4-FFF2-40B4-BE49-F238E27FC236}">
                <a16:creationId xmlns:a16="http://schemas.microsoft.com/office/drawing/2014/main" id="{30930AA8-6F59-4AFA-8AB7-C480C0A6CC47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An empty grid should remain.</a:t>
            </a:r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EC568728-E1EF-4AE0-8F9F-8EF2BFA450D1}"/>
              </a:ext>
            </a:extLst>
          </p:cNvPr>
          <p:cNvSpPr>
            <a:spLocks noGrp="1"/>
          </p:cNvSpPr>
          <p:nvPr/>
        </p:nvSpPr>
        <p:spPr>
          <a:xfrm>
            <a:off x="8143875" y="1647825"/>
            <a:ext cx="3438525" cy="3476625"/>
          </a:xfrm>
          <a:prstGeom prst="roundRect">
            <a:avLst>
              <a:gd name="adj" fmla="val 2216"/>
            </a:avLst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xpected now">
            <a:extLst>
              <a:ext uri="{FF2B5EF4-FFF2-40B4-BE49-F238E27FC236}">
                <a16:creationId xmlns:a16="http://schemas.microsoft.com/office/drawing/2014/main" id="{1BC89DAF-3D04-49D9-BCD1-FD15B9B62FB0}"/>
              </a:ext>
            </a:extLst>
          </p:cNvPr>
          <p:cNvSpPr>
            <a:spLocks noGrp="1"/>
          </p:cNvSpPr>
          <p:nvPr/>
        </p:nvSpPr>
        <p:spPr>
          <a:xfrm>
            <a:off x="8372475" y="1857375"/>
            <a:ext cx="3000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Expected now</a:t>
            </a:r>
          </a:p>
        </p:txBody>
      </p:sp>
      <p:sp>
        <p:nvSpPr>
          <p:cNvPr id="15" name="Nine empty cells.">
            <a:extLst>
              <a:ext uri="{FF2B5EF4-FFF2-40B4-BE49-F238E27FC236}">
                <a16:creationId xmlns:a16="http://schemas.microsoft.com/office/drawing/2014/main" id="{0EF3E22D-E6A3-4F7F-87F5-7ADA2BAD73D9}"/>
              </a:ext>
            </a:extLst>
          </p:cNvPr>
          <p:cNvSpPr>
            <a:spLocks noGrp="1"/>
          </p:cNvSpPr>
          <p:nvPr/>
        </p:nvSpPr>
        <p:spPr>
          <a:xfrm>
            <a:off x="8372475" y="24098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Nine empty cells.</a:t>
            </a:r>
          </a:p>
        </p:txBody>
      </p:sp>
      <p:sp>
        <p:nvSpPr>
          <p:cNvPr id="16" name="A test O appears">
            <a:extLst>
              <a:ext uri="{FF2B5EF4-FFF2-40B4-BE49-F238E27FC236}">
                <a16:creationId xmlns:a16="http://schemas.microsoft.com/office/drawing/2014/main" id="{5B86B7CD-B312-4FC6-8BA4-BA61BE30F306}"/>
              </a:ext>
            </a:extLst>
          </p:cNvPr>
          <p:cNvSpPr>
            <a:spLocks noGrp="1"/>
          </p:cNvSpPr>
          <p:nvPr/>
        </p:nvSpPr>
        <p:spPr>
          <a:xfrm>
            <a:off x="8372475" y="28289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 test O appears</a:t>
            </a:r>
          </a:p>
        </p:txBody>
      </p:sp>
      <p:sp>
        <p:nvSpPr>
          <p:cNvPr id="17" name="in row 1, column 2.">
            <a:extLst>
              <a:ext uri="{FF2B5EF4-FFF2-40B4-BE49-F238E27FC236}">
                <a16:creationId xmlns:a16="http://schemas.microsoft.com/office/drawing/2014/main" id="{CE077EC9-3A60-4028-B56B-D063D052B247}"/>
              </a:ext>
            </a:extLst>
          </p:cNvPr>
          <p:cNvSpPr>
            <a:spLocks noGrp="1"/>
          </p:cNvSpPr>
          <p:nvPr/>
        </p:nvSpPr>
        <p:spPr>
          <a:xfrm>
            <a:off x="8372475" y="32480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in row 1, column 2.</a:t>
            </a:r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9779E32A-AF38-4E13-BFA9-87EDCB9D949C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ference: reference/02.cpp">
            <a:extLst>
              <a:ext uri="{FF2B5EF4-FFF2-40B4-BE49-F238E27FC236}">
                <a16:creationId xmlns:a16="http://schemas.microsoft.com/office/drawing/2014/main" id="{7926CD70-4316-4A7D-9325-E8A76EF33B96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Reference: reference/02.cpp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EP 3 · INPUT">
            <a:extLst>
              <a:ext uri="{FF2B5EF4-FFF2-40B4-BE49-F238E27FC236}">
                <a16:creationId xmlns:a16="http://schemas.microsoft.com/office/drawing/2014/main" id="{DA181882-7F5A-45AF-93BA-1F546921FB7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3 · INPUT</a:t>
            </a:r>
          </a:p>
        </p:txBody>
      </p:sp>
      <p:sp>
        <p:nvSpPr>
          <p:cNvPr id="2" name="Read a click and check its bounds">
            <a:extLst>
              <a:ext uri="{FF2B5EF4-FFF2-40B4-BE49-F238E27FC236}">
                <a16:creationId xmlns:a16="http://schemas.microsoft.com/office/drawing/2014/main" id="{ADBA6DE6-E039-40B4-8E65-A05F123E255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Read a click and check its bounds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23F8DA1B-E7B0-4139-AFE0-202AD388DB2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A5A60E4E-5564-4460-87B7-482834164FC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19">
            <a:extLst>
              <a:ext uri="{FF2B5EF4-FFF2-40B4-BE49-F238E27FC236}">
                <a16:creationId xmlns:a16="http://schemas.microsoft.com/office/drawing/2014/main" id="{C4E5597C-2B49-4225-978B-FFDB92C1CA86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6" name="ADD: in the while loop, before BeginDrawing()">
            <a:extLst>
              <a:ext uri="{FF2B5EF4-FFF2-40B4-BE49-F238E27FC236}">
                <a16:creationId xmlns:a16="http://schemas.microsoft.com/office/drawing/2014/main" id="{E0A5EBE4-40DC-48F1-BED2-359A9D84379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ADD: in the while loop, before BeginDrawing()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1DD04E27-2924-4371-9CE6-BFA85EA196F6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40524"/>
          </a:xfrm>
          <a:prstGeom prst="roundRect">
            <a:avLst>
              <a:gd name="adj" fmla="val 1984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f (IsMouseButtonPressed(MOUSE_BUTTON_LEFT)) ">
            <a:extLst>
              <a:ext uri="{FF2B5EF4-FFF2-40B4-BE49-F238E27FC236}">
                <a16:creationId xmlns:a16="http://schemas.microsoft.com/office/drawing/2014/main" id="{97B5EACF-BA2D-4EB4-AF9F-62C1FC015B88}"/>
              </a:ext>
            </a:extLst>
          </p:cNvPr>
          <p:cNvSpPr>
            <a:spLocks noGrp="1"/>
          </p:cNvSpPr>
          <p:nvPr/>
        </p:nvSpPr>
        <p:spPr>
          <a:xfrm>
            <a:off x="800100" y="200977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(IsMouseButtonPressed(MOUSE_BUTTON_LEFT)) {</a:t>
            </a:r>
          </a:p>
        </p:txBody>
      </p:sp>
      <p:sp>
        <p:nvSpPr>
          <p:cNvPr id="9" name="    if (winner != '-') {">
            <a:extLst>
              <a:ext uri="{FF2B5EF4-FFF2-40B4-BE49-F238E27FC236}">
                <a16:creationId xmlns:a16="http://schemas.microsoft.com/office/drawing/2014/main" id="{815186D4-22C7-4A74-A8B3-DC98A5A54E11}"/>
              </a:ext>
            </a:extLst>
          </p:cNvPr>
          <p:cNvSpPr>
            <a:spLocks noGrp="1"/>
          </p:cNvSpPr>
          <p:nvPr/>
        </p:nvSpPr>
        <p:spPr>
          <a:xfrm>
            <a:off x="800100" y="230441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(winner != '-') {</a:t>
            </a:r>
          </a:p>
        </p:txBody>
      </p:sp>
      <p:sp>
        <p:nvSpPr>
          <p:cNvPr id="10" name="        // Finished: do nothing yet. Restart ">
            <a:extLst>
              <a:ext uri="{FF2B5EF4-FFF2-40B4-BE49-F238E27FC236}">
                <a16:creationId xmlns:a16="http://schemas.microsoft.com/office/drawing/2014/main" id="{D305B055-3795-4944-BB61-169E72BFAEB4}"/>
              </a:ext>
            </a:extLst>
          </p:cNvPr>
          <p:cNvSpPr>
            <a:spLocks noGrp="1"/>
          </p:cNvSpPr>
          <p:nvPr/>
        </p:nvSpPr>
        <p:spPr>
          <a:xfrm>
            <a:off x="800100" y="259906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    // Finished: do nothing yet. Restart comes later.</a:t>
            </a:r>
          </a:p>
        </p:txBody>
      </p:sp>
      <p:sp>
        <p:nvSpPr>
          <p:cNvPr id="11" name="    } else {">
            <a:extLst>
              <a:ext uri="{FF2B5EF4-FFF2-40B4-BE49-F238E27FC236}">
                <a16:creationId xmlns:a16="http://schemas.microsoft.com/office/drawing/2014/main" id="{F9CC568A-097E-4B2B-A5AB-8057D2BC2A84}"/>
              </a:ext>
            </a:extLst>
          </p:cNvPr>
          <p:cNvSpPr>
            <a:spLocks noGrp="1"/>
          </p:cNvSpPr>
          <p:nvPr/>
        </p:nvSpPr>
        <p:spPr>
          <a:xfrm>
            <a:off x="800100" y="289370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 else {</a:t>
            </a:r>
          </a:p>
        </p:txBody>
      </p:sp>
      <p:sp>
        <p:nvSpPr>
          <p:cNvPr id="12" name="        const int mouse_x = GetMouseX();">
            <a:extLst>
              <a:ext uri="{FF2B5EF4-FFF2-40B4-BE49-F238E27FC236}">
                <a16:creationId xmlns:a16="http://schemas.microsoft.com/office/drawing/2014/main" id="{78AEC0D1-2535-4D1B-9FEA-D315FBF7D0A4}"/>
              </a:ext>
            </a:extLst>
          </p:cNvPr>
          <p:cNvSpPr>
            <a:spLocks noGrp="1"/>
          </p:cNvSpPr>
          <p:nvPr/>
        </p:nvSpPr>
        <p:spPr>
          <a:xfrm>
            <a:off x="800100" y="318835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const int mouse_x = GetMouseX();</a:t>
            </a:r>
          </a:p>
        </p:txBody>
      </p:sp>
      <p:sp>
        <p:nvSpPr>
          <p:cNvPr id="13" name="        const int mouse_y = GetMouseY();">
            <a:extLst>
              <a:ext uri="{FF2B5EF4-FFF2-40B4-BE49-F238E27FC236}">
                <a16:creationId xmlns:a16="http://schemas.microsoft.com/office/drawing/2014/main" id="{1C6C4F85-2F3C-467D-8EC9-6470E28AE1F3}"/>
              </a:ext>
            </a:extLst>
          </p:cNvPr>
          <p:cNvSpPr>
            <a:spLocks noGrp="1"/>
          </p:cNvSpPr>
          <p:nvPr/>
        </p:nvSpPr>
        <p:spPr>
          <a:xfrm>
            <a:off x="800100" y="3482993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const int mouse_y = GetMouseY();</a:t>
            </a:r>
          </a:p>
        </p:txBody>
      </p:sp>
      <p:sp>
        <p:nvSpPr>
          <p:cNvPr id="14" name="        if (mouse_x &gt;= 0 &amp;&amp; mouse_x &lt; window_">
            <a:extLst>
              <a:ext uri="{FF2B5EF4-FFF2-40B4-BE49-F238E27FC236}">
                <a16:creationId xmlns:a16="http://schemas.microsoft.com/office/drawing/2014/main" id="{AE2EC5BE-AED6-4446-A495-AA2A72D36B0B}"/>
              </a:ext>
            </a:extLst>
          </p:cNvPr>
          <p:cNvSpPr>
            <a:spLocks noGrp="1"/>
          </p:cNvSpPr>
          <p:nvPr/>
        </p:nvSpPr>
        <p:spPr>
          <a:xfrm>
            <a:off x="800100" y="377763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(mouse_x &gt;= 0 &amp;&amp; mouse_x &lt; window_width &amp;&amp;</a:t>
            </a:r>
          </a:p>
        </p:txBody>
      </p:sp>
      <p:sp>
        <p:nvSpPr>
          <p:cNvPr id="15" name="            mouse_y &gt;= 0 &amp;&amp; mouse_y &lt; window_">
            <a:extLst>
              <a:ext uri="{FF2B5EF4-FFF2-40B4-BE49-F238E27FC236}">
                <a16:creationId xmlns:a16="http://schemas.microsoft.com/office/drawing/2014/main" id="{74C2A18C-BA5F-408B-AB99-B66C0468EE6B}"/>
              </a:ext>
            </a:extLst>
          </p:cNvPr>
          <p:cNvSpPr>
            <a:spLocks noGrp="1"/>
          </p:cNvSpPr>
          <p:nvPr/>
        </p:nvSpPr>
        <p:spPr>
          <a:xfrm>
            <a:off x="800100" y="407228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mouse_y &gt;= 0 &amp;&amp; mouse_y &lt; window_height) {</a:t>
            </a:r>
          </a:p>
        </p:txBody>
      </p:sp>
      <p:sp>
        <p:nvSpPr>
          <p:cNvPr id="16" name="            // Pages 20–23 go here.">
            <a:extLst>
              <a:ext uri="{FF2B5EF4-FFF2-40B4-BE49-F238E27FC236}">
                <a16:creationId xmlns:a16="http://schemas.microsoft.com/office/drawing/2014/main" id="{C4A78F93-D183-4AD6-81EE-D0862C0783C4}"/>
              </a:ext>
            </a:extLst>
          </p:cNvPr>
          <p:cNvSpPr>
            <a:spLocks noGrp="1"/>
          </p:cNvSpPr>
          <p:nvPr/>
        </p:nvSpPr>
        <p:spPr>
          <a:xfrm>
            <a:off x="800100" y="436692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        // Pages 20–23 go here.</a:t>
            </a:r>
          </a:p>
        </p:txBody>
      </p:sp>
      <p:sp>
        <p:nvSpPr>
          <p:cNvPr id="17" name="        }">
            <a:extLst>
              <a:ext uri="{FF2B5EF4-FFF2-40B4-BE49-F238E27FC236}">
                <a16:creationId xmlns:a16="http://schemas.microsoft.com/office/drawing/2014/main" id="{22EE683F-C2A5-4959-A91F-F1C292E06385}"/>
              </a:ext>
            </a:extLst>
          </p:cNvPr>
          <p:cNvSpPr>
            <a:spLocks noGrp="1"/>
          </p:cNvSpPr>
          <p:nvPr/>
        </p:nvSpPr>
        <p:spPr>
          <a:xfrm>
            <a:off x="800100" y="4661568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8" name="    }">
            <a:extLst>
              <a:ext uri="{FF2B5EF4-FFF2-40B4-BE49-F238E27FC236}">
                <a16:creationId xmlns:a16="http://schemas.microsoft.com/office/drawing/2014/main" id="{133940A7-AD63-4A62-AB99-8804B9034CFA}"/>
              </a:ext>
            </a:extLst>
          </p:cNvPr>
          <p:cNvSpPr>
            <a:spLocks noGrp="1"/>
          </p:cNvSpPr>
          <p:nvPr/>
        </p:nvSpPr>
        <p:spPr>
          <a:xfrm>
            <a:off x="800100" y="495621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9" name="}">
            <a:extLst>
              <a:ext uri="{FF2B5EF4-FFF2-40B4-BE49-F238E27FC236}">
                <a16:creationId xmlns:a16="http://schemas.microsoft.com/office/drawing/2014/main" id="{0BC0D3DB-B264-4282-B081-72EF1CCFDD5C}"/>
              </a:ext>
            </a:extLst>
          </p:cNvPr>
          <p:cNvSpPr>
            <a:spLocks noGrp="1"/>
          </p:cNvSpPr>
          <p:nvPr/>
        </p:nvSpPr>
        <p:spPr>
          <a:xfrm>
            <a:off x="800100" y="525085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surface">
            <a:extLst>
              <a:ext uri="{FF2B5EF4-FFF2-40B4-BE49-F238E27FC236}">
                <a16:creationId xmlns:a16="http://schemas.microsoft.com/office/drawing/2014/main" id="{D07F0AD4-15FD-4B3D-8674-E56883DBFB95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Check bounds before converting or indexing. V">
            <a:extLst>
              <a:ext uri="{FF2B5EF4-FFF2-40B4-BE49-F238E27FC236}">
                <a16:creationId xmlns:a16="http://schemas.microsoft.com/office/drawing/2014/main" id="{A2C3A8EC-B434-41FC-B08F-697AEC5CC48C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 bounds before converting or indexing. Valid pixels are 0 through 899.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EP 3 · PIXEL TO INDEX">
            <a:extLst>
              <a:ext uri="{FF2B5EF4-FFF2-40B4-BE49-F238E27FC236}">
                <a16:creationId xmlns:a16="http://schemas.microsoft.com/office/drawing/2014/main" id="{D8FF4A24-8F8B-45E5-A170-C012233D2541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3 · PIXEL TO INDEX</a:t>
            </a:r>
          </a:p>
        </p:txBody>
      </p:sp>
      <p:sp>
        <p:nvSpPr>
          <p:cNvPr id="2" name="Integer division chooses the cell">
            <a:extLst>
              <a:ext uri="{FF2B5EF4-FFF2-40B4-BE49-F238E27FC236}">
                <a16:creationId xmlns:a16="http://schemas.microsoft.com/office/drawing/2014/main" id="{6037D21D-84AE-46A3-8A41-85A113DBCFB6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Integer division chooses the cell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FD0A7DD7-4C91-4B6F-8BD1-0EF61C4C2D65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A81F92AE-B081-4E48-85CB-305A2EACCF6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0">
            <a:extLst>
              <a:ext uri="{FF2B5EF4-FFF2-40B4-BE49-F238E27FC236}">
                <a16:creationId xmlns:a16="http://schemas.microsoft.com/office/drawing/2014/main" id="{AAF982DC-3DEF-40E0-8181-D084566A26E4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6" name="INSERT: inside the bounds check from page 19">
            <a:extLst>
              <a:ext uri="{FF2B5EF4-FFF2-40B4-BE49-F238E27FC236}">
                <a16:creationId xmlns:a16="http://schemas.microsoft.com/office/drawing/2014/main" id="{D82DBAA1-30E6-4A5A-80AF-D242A86A129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INSERT: inside the bounds check from page 19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DFD53761-1327-4580-BE48-501DAF438DF2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894087"/>
          </a:xfrm>
          <a:prstGeom prst="roundRect">
            <a:avLst>
              <a:gd name="adj" fmla="val 852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onst int column = mouse_x / 300;">
            <a:extLst>
              <a:ext uri="{FF2B5EF4-FFF2-40B4-BE49-F238E27FC236}">
                <a16:creationId xmlns:a16="http://schemas.microsoft.com/office/drawing/2014/main" id="{9C5FA91E-999B-4729-A8D9-7BDC4F9B667C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column = mouse_x / 300;</a:t>
            </a:r>
          </a:p>
        </p:txBody>
      </p:sp>
      <p:sp>
        <p:nvSpPr>
          <p:cNvPr id="9" name="const int row = mouse_y / 300;">
            <a:extLst>
              <a:ext uri="{FF2B5EF4-FFF2-40B4-BE49-F238E27FC236}">
                <a16:creationId xmlns:a16="http://schemas.microsoft.com/office/drawing/2014/main" id="{4F51F87A-ABA5-4C65-829E-5048A3A4FEB3}"/>
              </a:ext>
            </a:extLst>
          </p:cNvPr>
          <p:cNvSpPr>
            <a:spLocks noGrp="1"/>
          </p:cNvSpPr>
          <p:nvPr/>
        </p:nvSpPr>
        <p:spPr>
          <a:xfrm>
            <a:off x="800100" y="250444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int row = mouse_y / 300;</a:t>
            </a:r>
          </a:p>
        </p:txBody>
      </p:sp>
      <p:sp>
        <p:nvSpPr>
          <p:cNvPr id="10" name="x = 0…299 selects column 0.">
            <a:extLst>
              <a:ext uri="{FF2B5EF4-FFF2-40B4-BE49-F238E27FC236}">
                <a16:creationId xmlns:a16="http://schemas.microsoft.com/office/drawing/2014/main" id="{EA727D8D-5DB0-4283-82A4-C63DF6B6F7CD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71437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 = 0…299 selects column 0.</a:t>
            </a:r>
          </a:p>
        </p:txBody>
      </p:sp>
      <p:sp>
        <p:nvSpPr>
          <p:cNvPr id="11" name="x = 300…599 selects column 1.">
            <a:extLst>
              <a:ext uri="{FF2B5EF4-FFF2-40B4-BE49-F238E27FC236}">
                <a16:creationId xmlns:a16="http://schemas.microsoft.com/office/drawing/2014/main" id="{591B9678-4223-4602-9E9C-C40DD7F84AC1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71437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 = 300…599 selects column 1.</a:t>
            </a:r>
          </a:p>
        </p:txBody>
      </p:sp>
      <p:sp>
        <p:nvSpPr>
          <p:cNvPr id="12" name="x = 600…899 selects column 2.">
            <a:extLst>
              <a:ext uri="{FF2B5EF4-FFF2-40B4-BE49-F238E27FC236}">
                <a16:creationId xmlns:a16="http://schemas.microsoft.com/office/drawing/2014/main" id="{DBF50371-1EE3-44C7-945E-6AD8711DB841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71437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 = 600…899 selects column 2.</a:t>
            </a:r>
          </a:p>
        </p:txBody>
      </p:sp>
      <p:sp>
        <p:nvSpPr>
          <p:cNvPr id="13" name="742 / 300 = 2">
            <a:extLst>
              <a:ext uri="{FF2B5EF4-FFF2-40B4-BE49-F238E27FC236}">
                <a16:creationId xmlns:a16="http://schemas.microsoft.com/office/drawing/2014/main" id="{AB6354CC-CFEE-45FA-ABF0-82E6B4E1456E}"/>
              </a:ext>
            </a:extLst>
          </p:cNvPr>
          <p:cNvSpPr>
            <a:spLocks noGrp="1"/>
          </p:cNvSpPr>
          <p:nvPr/>
        </p:nvSpPr>
        <p:spPr>
          <a:xfrm>
            <a:off x="8362950" y="3686175"/>
            <a:ext cx="3219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742 / 300 = 2</a:t>
            </a:r>
          </a:p>
        </p:txBody>
      </p:sp>
      <p:sp>
        <p:nvSpPr>
          <p:cNvPr id="14" name="465 / 300 = 1">
            <a:extLst>
              <a:ext uri="{FF2B5EF4-FFF2-40B4-BE49-F238E27FC236}">
                <a16:creationId xmlns:a16="http://schemas.microsoft.com/office/drawing/2014/main" id="{BC9BFFB2-5CDA-4AFD-8907-A252CE4C4C14}"/>
              </a:ext>
            </a:extLst>
          </p:cNvPr>
          <p:cNvSpPr>
            <a:spLocks noGrp="1"/>
          </p:cNvSpPr>
          <p:nvPr/>
        </p:nvSpPr>
        <p:spPr>
          <a:xfrm>
            <a:off x="8362950" y="4248150"/>
            <a:ext cx="3219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97C9F"/>
                </a:solidFill>
                <a:latin typeface="Consolas"/>
                <a:ea typeface="Consolas"/>
                <a:cs typeface="Consolas"/>
              </a:rPr>
              <a:t>465 / 300 = 1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BA1757F7-1B78-461F-8127-BFD9C5AAFA44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Mouse (742, 465) selects board[1][2]. For val">
            <a:extLst>
              <a:ext uri="{FF2B5EF4-FFF2-40B4-BE49-F238E27FC236}">
                <a16:creationId xmlns:a16="http://schemas.microsoft.com/office/drawing/2014/main" id="{FC3CC39F-5FD9-47A2-BC24-1FD771E79B37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Mouse (742, 465) selects board[1][2]. For valid pixels, division drops the fraction.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EP 3 · LEGAL MOVE">
            <a:extLst>
              <a:ext uri="{FF2B5EF4-FFF2-40B4-BE49-F238E27FC236}">
                <a16:creationId xmlns:a16="http://schemas.microsoft.com/office/drawing/2014/main" id="{176DAC56-211A-48F8-9339-4E435971AB73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3 · LEGAL MOVE</a:t>
            </a:r>
          </a:p>
        </p:txBody>
      </p:sp>
      <p:sp>
        <p:nvSpPr>
          <p:cNvPr id="2" name="Only an empty cell accepts a move">
            <a:extLst>
              <a:ext uri="{FF2B5EF4-FFF2-40B4-BE49-F238E27FC236}">
                <a16:creationId xmlns:a16="http://schemas.microsoft.com/office/drawing/2014/main" id="{5F00586E-1E4F-41C2-9BF8-D0B57BCAF41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Only an empty cell accepts a move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971BDA93-3724-41AC-8C2E-715220B00E5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6FB53BE4-7A9A-463F-BA16-20DCBA1D989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1">
            <a:extLst>
              <a:ext uri="{FF2B5EF4-FFF2-40B4-BE49-F238E27FC236}">
                <a16:creationId xmlns:a16="http://schemas.microsoft.com/office/drawing/2014/main" id="{B6F18BEF-8D52-406B-AB8D-130A12D57449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6" name="APPEND: after row and column, still inside th">
            <a:extLst>
              <a:ext uri="{FF2B5EF4-FFF2-40B4-BE49-F238E27FC236}">
                <a16:creationId xmlns:a16="http://schemas.microsoft.com/office/drawing/2014/main" id="{8812F35A-DB4B-4C9D-AE63-66C0CCD6D4A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APPEND: after row and column, still inside the bounds check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6D379722-8C2F-40A4-8B76-3CFFCB647B8A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1778018"/>
          </a:xfrm>
          <a:prstGeom prst="roundRect">
            <a:avLst>
              <a:gd name="adj" fmla="val 4286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f (board[row][column] == '-')">
            <a:extLst>
              <a:ext uri="{FF2B5EF4-FFF2-40B4-BE49-F238E27FC236}">
                <a16:creationId xmlns:a16="http://schemas.microsoft.com/office/drawing/2014/main" id="{EA7DE5ED-CABA-4487-96C8-2C4C8FD5CADF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(board[row][column] == '-')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F71B94EA-AFD5-468D-872B-B805D55BB6B8}"/>
              </a:ext>
            </a:extLst>
          </p:cNvPr>
          <p:cNvSpPr>
            <a:spLocks noGrp="1"/>
          </p:cNvSpPr>
          <p:nvPr/>
        </p:nvSpPr>
        <p:spPr>
          <a:xfrm>
            <a:off x="800100" y="256159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board[row][column] = current_player;">
            <a:extLst>
              <a:ext uri="{FF2B5EF4-FFF2-40B4-BE49-F238E27FC236}">
                <a16:creationId xmlns:a16="http://schemas.microsoft.com/office/drawing/2014/main" id="{65191D8F-4F1A-4E69-9EDB-9922957762D7}"/>
              </a:ext>
            </a:extLst>
          </p:cNvPr>
          <p:cNvSpPr>
            <a:spLocks noGrp="1"/>
          </p:cNvSpPr>
          <p:nvPr/>
        </p:nvSpPr>
        <p:spPr>
          <a:xfrm>
            <a:off x="800100" y="285623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board[row][column] = current_player;</a:t>
            </a:r>
          </a:p>
        </p:txBody>
      </p:sp>
      <p:sp>
        <p:nvSpPr>
          <p:cNvPr id="11" name="    // Insert result checks here on page 22.">
            <a:extLst>
              <a:ext uri="{FF2B5EF4-FFF2-40B4-BE49-F238E27FC236}">
                <a16:creationId xmlns:a16="http://schemas.microsoft.com/office/drawing/2014/main" id="{C60E7FA9-C6F7-4EFB-B2A5-59EEE3F50DB1}"/>
              </a:ext>
            </a:extLst>
          </p:cNvPr>
          <p:cNvSpPr>
            <a:spLocks noGrp="1"/>
          </p:cNvSpPr>
          <p:nvPr/>
        </p:nvSpPr>
        <p:spPr>
          <a:xfrm>
            <a:off x="800100" y="315088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// Insert result checks here on page 22.</a:t>
            </a:r>
          </a:p>
        </p:txBody>
      </p:sp>
      <p:sp>
        <p:nvSpPr>
          <p:cNvPr id="12" name="}">
            <a:extLst>
              <a:ext uri="{FF2B5EF4-FFF2-40B4-BE49-F238E27FC236}">
                <a16:creationId xmlns:a16="http://schemas.microsoft.com/office/drawing/2014/main" id="{0955754A-EEAB-4943-8812-231700918E62}"/>
              </a:ext>
            </a:extLst>
          </p:cNvPr>
          <p:cNvSpPr>
            <a:spLocks noGrp="1"/>
          </p:cNvSpPr>
          <p:nvPr/>
        </p:nvSpPr>
        <p:spPr>
          <a:xfrm>
            <a:off x="800100" y="344552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An occupied cell leaves the board unchanged.">
            <a:extLst>
              <a:ext uri="{FF2B5EF4-FFF2-40B4-BE49-F238E27FC236}">
                <a16:creationId xmlns:a16="http://schemas.microsoft.com/office/drawing/2014/main" id="{6D2D6092-A89E-420D-A50A-A30368F292D9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An occupied cell leaves the board unchanged.</a:t>
            </a:r>
          </a:p>
        </p:txBody>
      </p:sp>
      <p:sp>
        <p:nvSpPr>
          <p:cNvPr id="14" name="An invalid click must not switch players.">
            <a:extLst>
              <a:ext uri="{FF2B5EF4-FFF2-40B4-BE49-F238E27FC236}">
                <a16:creationId xmlns:a16="http://schemas.microsoft.com/office/drawing/2014/main" id="{39471E64-FF2C-4E3D-8294-963F279C3367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An invalid click must not switch players.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1D1402A1-6942-4B54-97C6-9C2721F63164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Keep result checks and turn switching inside ">
            <a:extLst>
              <a:ext uri="{FF2B5EF4-FFF2-40B4-BE49-F238E27FC236}">
                <a16:creationId xmlns:a16="http://schemas.microsoft.com/office/drawing/2014/main" id="{5763193F-FA0F-42BA-AA8D-6F056B9A70B0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Keep result checks and turn switching inside this empty-cell block.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EP 3 · RESULT">
            <a:extLst>
              <a:ext uri="{FF2B5EF4-FFF2-40B4-BE49-F238E27FC236}">
                <a16:creationId xmlns:a16="http://schemas.microsoft.com/office/drawing/2014/main" id="{B3F630AF-D02F-4217-87DF-BB8F8A96A0E7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3 · RESULT</a:t>
            </a:r>
          </a:p>
        </p:txBody>
      </p:sp>
      <p:sp>
        <p:nvSpPr>
          <p:cNvPr id="2" name="Check a win before checking a draw">
            <a:extLst>
              <a:ext uri="{FF2B5EF4-FFF2-40B4-BE49-F238E27FC236}">
                <a16:creationId xmlns:a16="http://schemas.microsoft.com/office/drawing/2014/main" id="{5AD8F6A4-8965-4C03-A456-0F8E32CA581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 a win before checking a draw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505AEB90-1664-480F-A5CB-2A53F96B8E9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7FFB029E-4B01-4C07-A28D-0340D5E96310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2">
            <a:extLst>
              <a:ext uri="{FF2B5EF4-FFF2-40B4-BE49-F238E27FC236}">
                <a16:creationId xmlns:a16="http://schemas.microsoft.com/office/drawing/2014/main" id="{05DF6E72-2A82-4CAE-86E2-9C02D7748575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6" name="REPLACE: the result-check comment after the p">
            <a:extLst>
              <a:ext uri="{FF2B5EF4-FFF2-40B4-BE49-F238E27FC236}">
                <a16:creationId xmlns:a16="http://schemas.microsoft.com/office/drawing/2014/main" id="{F64E68C9-7BDB-4E51-927B-6DFAC55C975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REPLACE: the result-check comment after the piece assignment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6C82B49E-EC3D-4C29-8AB4-50711A83068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2956593"/>
          </a:xfrm>
          <a:prstGeom prst="roundRect">
            <a:avLst>
              <a:gd name="adj" fmla="val 2577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f (check_win(board, current_player))">
            <a:extLst>
              <a:ext uri="{FF2B5EF4-FFF2-40B4-BE49-F238E27FC236}">
                <a16:creationId xmlns:a16="http://schemas.microsoft.com/office/drawing/2014/main" id="{BAE94AC7-BD97-48E4-9BA8-27DBAC0BA249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(check_win(board, current_player))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D32E4E23-6E2F-4A41-9B3F-AFB377790C4E}"/>
              </a:ext>
            </a:extLst>
          </p:cNvPr>
          <p:cNvSpPr>
            <a:spLocks noGrp="1"/>
          </p:cNvSpPr>
          <p:nvPr/>
        </p:nvSpPr>
        <p:spPr>
          <a:xfrm>
            <a:off x="800100" y="239966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winner = current_player;">
            <a:extLst>
              <a:ext uri="{FF2B5EF4-FFF2-40B4-BE49-F238E27FC236}">
                <a16:creationId xmlns:a16="http://schemas.microsoft.com/office/drawing/2014/main" id="{99CF305A-E103-43DE-9DB8-C6CCCA706992}"/>
              </a:ext>
            </a:extLst>
          </p:cNvPr>
          <p:cNvSpPr>
            <a:spLocks noGrp="1"/>
          </p:cNvSpPr>
          <p:nvPr/>
        </p:nvSpPr>
        <p:spPr>
          <a:xfrm>
            <a:off x="800100" y="269431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winner = current_player;</a:t>
            </a:r>
          </a:p>
        </p:txBody>
      </p:sp>
      <p:sp>
        <p:nvSpPr>
          <p:cNvPr id="11" name="}">
            <a:extLst>
              <a:ext uri="{FF2B5EF4-FFF2-40B4-BE49-F238E27FC236}">
                <a16:creationId xmlns:a16="http://schemas.microsoft.com/office/drawing/2014/main" id="{2F565C11-8ABB-4095-9D7C-66848B41D46A}"/>
              </a:ext>
            </a:extLst>
          </p:cNvPr>
          <p:cNvSpPr>
            <a:spLocks noGrp="1"/>
          </p:cNvSpPr>
          <p:nvPr/>
        </p:nvSpPr>
        <p:spPr>
          <a:xfrm>
            <a:off x="800100" y="298895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else if (is_board_full(board))">
            <a:extLst>
              <a:ext uri="{FF2B5EF4-FFF2-40B4-BE49-F238E27FC236}">
                <a16:creationId xmlns:a16="http://schemas.microsoft.com/office/drawing/2014/main" id="{5DEC0DA8-6DC8-4888-9D93-55BCD7C68B3E}"/>
              </a:ext>
            </a:extLst>
          </p:cNvPr>
          <p:cNvSpPr>
            <a:spLocks noGrp="1"/>
          </p:cNvSpPr>
          <p:nvPr/>
        </p:nvSpPr>
        <p:spPr>
          <a:xfrm>
            <a:off x="800100" y="328360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 if (is_board_full(board))</a:t>
            </a:r>
          </a:p>
        </p:txBody>
      </p:sp>
      <p:sp>
        <p:nvSpPr>
          <p:cNvPr id="13" name="{">
            <a:extLst>
              <a:ext uri="{FF2B5EF4-FFF2-40B4-BE49-F238E27FC236}">
                <a16:creationId xmlns:a16="http://schemas.microsoft.com/office/drawing/2014/main" id="{87F7D78C-8CDA-49D1-8CC8-49EB3A99CC6F}"/>
              </a:ext>
            </a:extLst>
          </p:cNvPr>
          <p:cNvSpPr>
            <a:spLocks noGrp="1"/>
          </p:cNvSpPr>
          <p:nvPr/>
        </p:nvSpPr>
        <p:spPr>
          <a:xfrm>
            <a:off x="800100" y="3578243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4" name="    winner = 'D';">
            <a:extLst>
              <a:ext uri="{FF2B5EF4-FFF2-40B4-BE49-F238E27FC236}">
                <a16:creationId xmlns:a16="http://schemas.microsoft.com/office/drawing/2014/main" id="{A3607D17-9D2A-4C79-9846-2868F867B713}"/>
              </a:ext>
            </a:extLst>
          </p:cNvPr>
          <p:cNvSpPr>
            <a:spLocks noGrp="1"/>
          </p:cNvSpPr>
          <p:nvPr/>
        </p:nvSpPr>
        <p:spPr>
          <a:xfrm>
            <a:off x="800100" y="387288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winner = 'D';</a:t>
            </a:r>
          </a:p>
        </p:txBody>
      </p:sp>
      <p:sp>
        <p:nvSpPr>
          <p:cNvPr id="15" name="}">
            <a:extLst>
              <a:ext uri="{FF2B5EF4-FFF2-40B4-BE49-F238E27FC236}">
                <a16:creationId xmlns:a16="http://schemas.microsoft.com/office/drawing/2014/main" id="{C59EA612-E425-4F20-8658-31D5CDEFF9EC}"/>
              </a:ext>
            </a:extLst>
          </p:cNvPr>
          <p:cNvSpPr>
            <a:spLocks noGrp="1"/>
          </p:cNvSpPr>
          <p:nvPr/>
        </p:nvSpPr>
        <p:spPr>
          <a:xfrm>
            <a:off x="800100" y="416753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// Append the final else on page 23.">
            <a:extLst>
              <a:ext uri="{FF2B5EF4-FFF2-40B4-BE49-F238E27FC236}">
                <a16:creationId xmlns:a16="http://schemas.microsoft.com/office/drawing/2014/main" id="{B3DBC576-EF3E-4189-9460-797CCAE30F41}"/>
              </a:ext>
            </a:extLst>
          </p:cNvPr>
          <p:cNvSpPr>
            <a:spLocks noGrp="1"/>
          </p:cNvSpPr>
          <p:nvPr/>
        </p:nvSpPr>
        <p:spPr>
          <a:xfrm>
            <a:off x="800100" y="446217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// Append the final else on page 23.</a:t>
            </a:r>
          </a:p>
        </p:txBody>
      </p:sp>
      <p:sp>
        <p:nvSpPr>
          <p:cNvPr id="17" name="The ninth move can fill the board and complet">
            <a:extLst>
              <a:ext uri="{FF2B5EF4-FFF2-40B4-BE49-F238E27FC236}">
                <a16:creationId xmlns:a16="http://schemas.microsoft.com/office/drawing/2014/main" id="{C2EAE1B5-4F75-40F2-8617-377E68F89C37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ninth move can fill the board and complete a winning line.</a:t>
            </a:r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6DBEF2C3-EA6A-43BF-B58E-2F5DDD583557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A win takes priority. The full-board check ru">
            <a:extLst>
              <a:ext uri="{FF2B5EF4-FFF2-40B4-BE49-F238E27FC236}">
                <a16:creationId xmlns:a16="http://schemas.microsoft.com/office/drawing/2014/main" id="{D9065846-53AA-4B81-8370-BD18B6399E0D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 win takes priority. The full-board check runs only when no win was found.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EP 3 · NEXT PLAYER">
            <a:extLst>
              <a:ext uri="{FF2B5EF4-FFF2-40B4-BE49-F238E27FC236}">
                <a16:creationId xmlns:a16="http://schemas.microsoft.com/office/drawing/2014/main" id="{EC532F07-8FDC-498B-BF3E-B8A8A70E4980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3 · NEXT PLAYER</a:t>
            </a:r>
          </a:p>
        </p:txBody>
      </p:sp>
      <p:sp>
        <p:nvSpPr>
          <p:cNvPr id="2" name="Switch turns only while play continues">
            <a:extLst>
              <a:ext uri="{FF2B5EF4-FFF2-40B4-BE49-F238E27FC236}">
                <a16:creationId xmlns:a16="http://schemas.microsoft.com/office/drawing/2014/main" id="{7DC3935A-ACBE-40AF-B47E-B981E299B98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Switch turns only while play continues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6ADD3FDC-E285-41C6-8055-9A47B485BCB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43C8A947-3D55-4E11-803B-B60BBB1026DD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3">
            <a:extLst>
              <a:ext uri="{FF2B5EF4-FFF2-40B4-BE49-F238E27FC236}">
                <a16:creationId xmlns:a16="http://schemas.microsoft.com/office/drawing/2014/main" id="{A9E897E3-4A3D-4C0B-8B2D-6AEC952C1F06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6" name="APPEND: directly to the if / else if chain fr">
            <a:extLst>
              <a:ext uri="{FF2B5EF4-FFF2-40B4-BE49-F238E27FC236}">
                <a16:creationId xmlns:a16="http://schemas.microsoft.com/office/drawing/2014/main" id="{151F2066-1E45-4106-8D1C-3A3E6596488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APPEND: directly to the if / else if chain from page 22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19E5D48D-762B-4231-91B4-C5F26EDE6821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1778018"/>
          </a:xfrm>
          <a:prstGeom prst="roundRect">
            <a:avLst>
              <a:gd name="adj" fmla="val 4286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else">
            <a:extLst>
              <a:ext uri="{FF2B5EF4-FFF2-40B4-BE49-F238E27FC236}">
                <a16:creationId xmlns:a16="http://schemas.microsoft.com/office/drawing/2014/main" id="{A47B7E7A-4987-4B08-A070-E7C890A902A8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B077B165-98EF-4A6D-800E-B5E7327BCD9F}"/>
              </a:ext>
            </a:extLst>
          </p:cNvPr>
          <p:cNvSpPr>
            <a:spLocks noGrp="1"/>
          </p:cNvSpPr>
          <p:nvPr/>
        </p:nvSpPr>
        <p:spPr>
          <a:xfrm>
            <a:off x="800100" y="256159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current_player =">
            <a:extLst>
              <a:ext uri="{FF2B5EF4-FFF2-40B4-BE49-F238E27FC236}">
                <a16:creationId xmlns:a16="http://schemas.microsoft.com/office/drawing/2014/main" id="{D1A78EF5-6896-4448-8B71-0EB80F1B0F0B}"/>
              </a:ext>
            </a:extLst>
          </p:cNvPr>
          <p:cNvSpPr>
            <a:spLocks noGrp="1"/>
          </p:cNvSpPr>
          <p:nvPr/>
        </p:nvSpPr>
        <p:spPr>
          <a:xfrm>
            <a:off x="800100" y="285623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current_player =</a:t>
            </a:r>
          </a:p>
        </p:txBody>
      </p:sp>
      <p:sp>
        <p:nvSpPr>
          <p:cNvPr id="11" name="        current_player == 'X' ? 'O' : 'X';">
            <a:extLst>
              <a:ext uri="{FF2B5EF4-FFF2-40B4-BE49-F238E27FC236}">
                <a16:creationId xmlns:a16="http://schemas.microsoft.com/office/drawing/2014/main" id="{3F308130-F532-4104-A80D-0D19F9E52492}"/>
              </a:ext>
            </a:extLst>
          </p:cNvPr>
          <p:cNvSpPr>
            <a:spLocks noGrp="1"/>
          </p:cNvSpPr>
          <p:nvPr/>
        </p:nvSpPr>
        <p:spPr>
          <a:xfrm>
            <a:off x="800100" y="315088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current_player == 'X' ? 'O' : 'X';</a:t>
            </a:r>
          </a:p>
        </p:txBody>
      </p:sp>
      <p:sp>
        <p:nvSpPr>
          <p:cNvPr id="12" name="}">
            <a:extLst>
              <a:ext uri="{FF2B5EF4-FFF2-40B4-BE49-F238E27FC236}">
                <a16:creationId xmlns:a16="http://schemas.microsoft.com/office/drawing/2014/main" id="{C4AA8D69-6586-4265-8741-E0B0E5A6E301}"/>
              </a:ext>
            </a:extLst>
          </p:cNvPr>
          <p:cNvSpPr>
            <a:spLocks noGrp="1"/>
          </p:cNvSpPr>
          <p:nvPr/>
        </p:nvSpPr>
        <p:spPr>
          <a:xfrm>
            <a:off x="800100" y="344552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If the current player is X, choose O; otherwi">
            <a:extLst>
              <a:ext uri="{FF2B5EF4-FFF2-40B4-BE49-F238E27FC236}">
                <a16:creationId xmlns:a16="http://schemas.microsoft.com/office/drawing/2014/main" id="{2EC1998C-5BB2-4603-9538-1474ECD8BD11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If the current player is X, choose O; otherwise choose X.</a:t>
            </a:r>
          </a:p>
        </p:txBody>
      </p:sp>
      <p:sp>
        <p:nvSpPr>
          <p:cNvPr id="14" name="This is the only turn-switch assignment in th">
            <a:extLst>
              <a:ext uri="{FF2B5EF4-FFF2-40B4-BE49-F238E27FC236}">
                <a16:creationId xmlns:a16="http://schemas.microsoft.com/office/drawing/2014/main" id="{6BF1B4A2-1EA8-4B8F-B8DC-167AAA4A9C13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This is the only turn-switch assignment in the move logic.</a:t>
            </a:r>
          </a:p>
        </p:txBody>
      </p:sp>
      <p:sp>
        <p:nvSpPr>
          <p:cNvPr id="15" name="surface">
            <a:extLst>
              <a:ext uri="{FF2B5EF4-FFF2-40B4-BE49-F238E27FC236}">
                <a16:creationId xmlns:a16="http://schemas.microsoft.com/office/drawing/2014/main" id="{999D703E-5F3E-406C-9696-37E64FD40C70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o not add a second unconditional switch afte">
            <a:extLst>
              <a:ext uri="{FF2B5EF4-FFF2-40B4-BE49-F238E27FC236}">
                <a16:creationId xmlns:a16="http://schemas.microsoft.com/office/drawing/2014/main" id="{2458D5F5-6A80-4405-8ED5-7D1DC7871316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Do not add a second unconditional switch after this chain.</a:t>
            </a:r>
          </a:p>
        </p:txBody>
      </p:sp>
    </p:spTree>
    <p:extLst>
      <p:ext uri="{BB962C8B-B14F-4D97-AF65-F5344CB8AC3E}">
        <p14:creationId xmlns:p14="http://schemas.microsoft.com/office/powerpoint/2010/main" val="1316962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EP 3 · INTEGRATION MAP">
            <a:extLst>
              <a:ext uri="{FF2B5EF4-FFF2-40B4-BE49-F238E27FC236}">
                <a16:creationId xmlns:a16="http://schemas.microsoft.com/office/drawing/2014/main" id="{0DE10316-7DA7-4AD0-8373-0D01D0169AA5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3 · INTEGRATION MAP</a:t>
            </a:r>
          </a:p>
        </p:txBody>
      </p:sp>
      <p:sp>
        <p:nvSpPr>
          <p:cNvPr id="2" name="The complete input path">
            <a:extLst>
              <a:ext uri="{FF2B5EF4-FFF2-40B4-BE49-F238E27FC236}">
                <a16:creationId xmlns:a16="http://schemas.microsoft.com/office/drawing/2014/main" id="{BF08C1C6-FBA0-43AE-A324-BBDB19A0FF2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complete input path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8BC55CB2-6537-4569-AE76-8E170032222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97EFA4C9-9F9A-44B2-BDCB-6F8CEC35A75F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4">
            <a:extLst>
              <a:ext uri="{FF2B5EF4-FFF2-40B4-BE49-F238E27FC236}">
                <a16:creationId xmlns:a16="http://schemas.microsoft.com/office/drawing/2014/main" id="{608858AA-BE30-41A4-9648-716441C584B3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6" name="STRUCTURE ONLY: compare your assembled input ">
            <a:extLst>
              <a:ext uri="{FF2B5EF4-FFF2-40B4-BE49-F238E27FC236}">
                <a16:creationId xmlns:a16="http://schemas.microsoft.com/office/drawing/2014/main" id="{A5FFC599-12EA-409B-9159-7B5F6F8155D3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STRUCTURE ONLY: compare your assembled input block with reference/03.cpp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F26B1F0E-750B-42FB-BA89-A36D10493502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New click?">
            <a:extLst>
              <a:ext uri="{FF2B5EF4-FFF2-40B4-BE49-F238E27FC236}">
                <a16:creationId xmlns:a16="http://schemas.microsoft.com/office/drawing/2014/main" id="{E01BB9F3-9C22-4B9B-BDD5-96C7A2EB8747}"/>
              </a:ext>
            </a:extLst>
          </p:cNvPr>
          <p:cNvSpPr>
            <a:spLocks noGrp="1"/>
          </p:cNvSpPr>
          <p:nvPr/>
        </p:nvSpPr>
        <p:spPr>
          <a:xfrm>
            <a:off x="1171575" y="2009775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New click?</a:t>
            </a:r>
          </a:p>
        </p:txBody>
      </p:sp>
      <p:sp>
        <p:nvSpPr>
          <p:cNvPr id="9" name="No: skip input for this frame.">
            <a:extLst>
              <a:ext uri="{FF2B5EF4-FFF2-40B4-BE49-F238E27FC236}">
                <a16:creationId xmlns:a16="http://schemas.microsoft.com/office/drawing/2014/main" id="{8668A551-CF5A-4BCA-9A7E-E2AEB627259B}"/>
              </a:ext>
            </a:extLst>
          </p:cNvPr>
          <p:cNvSpPr>
            <a:spLocks noGrp="1"/>
          </p:cNvSpPr>
          <p:nvPr/>
        </p:nvSpPr>
        <p:spPr>
          <a:xfrm>
            <a:off x="6486525" y="200977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No: skip input for this frame.</a:t>
            </a:r>
          </a:p>
        </p:txBody>
      </p:sp>
      <p:sp>
        <p:nvSpPr>
          <p:cNvPr id="10" name="2">
            <a:extLst>
              <a:ext uri="{FF2B5EF4-FFF2-40B4-BE49-F238E27FC236}">
                <a16:creationId xmlns:a16="http://schemas.microsoft.com/office/drawing/2014/main" id="{688688D4-7BAC-49CD-8F09-12476D7E3DA4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Game already finished?">
            <a:extLst>
              <a:ext uri="{FF2B5EF4-FFF2-40B4-BE49-F238E27FC236}">
                <a16:creationId xmlns:a16="http://schemas.microsoft.com/office/drawing/2014/main" id="{93EF00DA-53D5-4598-ADF8-EB41E7F6F392}"/>
              </a:ext>
            </a:extLst>
          </p:cNvPr>
          <p:cNvSpPr>
            <a:spLocks noGrp="1"/>
          </p:cNvSpPr>
          <p:nvPr/>
        </p:nvSpPr>
        <p:spPr>
          <a:xfrm>
            <a:off x="1171575" y="2590800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Game already finished?</a:t>
            </a:r>
          </a:p>
        </p:txBody>
      </p:sp>
      <p:sp>
        <p:nvSpPr>
          <p:cNvPr id="12" name="Yes: ignore the click for now.">
            <a:extLst>
              <a:ext uri="{FF2B5EF4-FFF2-40B4-BE49-F238E27FC236}">
                <a16:creationId xmlns:a16="http://schemas.microsoft.com/office/drawing/2014/main" id="{5D6418B2-EA55-4221-94E0-0C3365516647}"/>
              </a:ext>
            </a:extLst>
          </p:cNvPr>
          <p:cNvSpPr>
            <a:spLocks noGrp="1"/>
          </p:cNvSpPr>
          <p:nvPr/>
        </p:nvSpPr>
        <p:spPr>
          <a:xfrm>
            <a:off x="6486525" y="259080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Yes: ignore the click for now.</a:t>
            </a:r>
          </a:p>
        </p:txBody>
      </p:sp>
      <p:sp>
        <p:nvSpPr>
          <p:cNvPr id="13" name="3">
            <a:extLst>
              <a:ext uri="{FF2B5EF4-FFF2-40B4-BE49-F238E27FC236}">
                <a16:creationId xmlns:a16="http://schemas.microsoft.com/office/drawing/2014/main" id="{8F20932A-41F2-45A0-9BBB-3E40516A22D8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Coordinates inside the window?">
            <a:extLst>
              <a:ext uri="{FF2B5EF4-FFF2-40B4-BE49-F238E27FC236}">
                <a16:creationId xmlns:a16="http://schemas.microsoft.com/office/drawing/2014/main" id="{8FD66735-242E-4B18-A511-7B16C6336CE9}"/>
              </a:ext>
            </a:extLst>
          </p:cNvPr>
          <p:cNvSpPr>
            <a:spLocks noGrp="1"/>
          </p:cNvSpPr>
          <p:nvPr/>
        </p:nvSpPr>
        <p:spPr>
          <a:xfrm>
            <a:off x="1171575" y="3171825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Coordinates inside the window?</a:t>
            </a:r>
          </a:p>
        </p:txBody>
      </p:sp>
      <p:sp>
        <p:nvSpPr>
          <p:cNvPr id="15" name="No: reject before array access.">
            <a:extLst>
              <a:ext uri="{FF2B5EF4-FFF2-40B4-BE49-F238E27FC236}">
                <a16:creationId xmlns:a16="http://schemas.microsoft.com/office/drawing/2014/main" id="{AC30E32E-6FC1-41DB-8491-85B3CA9A2A89}"/>
              </a:ext>
            </a:extLst>
          </p:cNvPr>
          <p:cNvSpPr>
            <a:spLocks noGrp="1"/>
          </p:cNvSpPr>
          <p:nvPr/>
        </p:nvSpPr>
        <p:spPr>
          <a:xfrm>
            <a:off x="6486525" y="317182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No: reject before array access.</a:t>
            </a:r>
          </a:p>
        </p:txBody>
      </p:sp>
      <p:sp>
        <p:nvSpPr>
          <p:cNvPr id="16" name="4">
            <a:extLst>
              <a:ext uri="{FF2B5EF4-FFF2-40B4-BE49-F238E27FC236}">
                <a16:creationId xmlns:a16="http://schemas.microsoft.com/office/drawing/2014/main" id="{B9DA46C7-CD71-468A-BED1-381CBCF91B65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7" name="Selected cell empty?">
            <a:extLst>
              <a:ext uri="{FF2B5EF4-FFF2-40B4-BE49-F238E27FC236}">
                <a16:creationId xmlns:a16="http://schemas.microsoft.com/office/drawing/2014/main" id="{18D79616-CD74-4A25-850A-3DDC3FCF1961}"/>
              </a:ext>
            </a:extLst>
          </p:cNvPr>
          <p:cNvSpPr>
            <a:spLocks noGrp="1"/>
          </p:cNvSpPr>
          <p:nvPr/>
        </p:nvSpPr>
        <p:spPr>
          <a:xfrm>
            <a:off x="1171575" y="3752850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Selected cell empty?</a:t>
            </a:r>
          </a:p>
        </p:txBody>
      </p:sp>
      <p:sp>
        <p:nvSpPr>
          <p:cNvPr id="18" name="No: leave board and turn unchanged.">
            <a:extLst>
              <a:ext uri="{FF2B5EF4-FFF2-40B4-BE49-F238E27FC236}">
                <a16:creationId xmlns:a16="http://schemas.microsoft.com/office/drawing/2014/main" id="{308C4D06-6F9A-4B44-8117-D34F8945853C}"/>
              </a:ext>
            </a:extLst>
          </p:cNvPr>
          <p:cNvSpPr>
            <a:spLocks noGrp="1"/>
          </p:cNvSpPr>
          <p:nvPr/>
        </p:nvSpPr>
        <p:spPr>
          <a:xfrm>
            <a:off x="6486525" y="375285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No: leave board and turn unchanged.</a:t>
            </a:r>
          </a:p>
        </p:txBody>
      </p:sp>
      <p:sp>
        <p:nvSpPr>
          <p:cNvPr id="19" name="5">
            <a:extLst>
              <a:ext uri="{FF2B5EF4-FFF2-40B4-BE49-F238E27FC236}">
                <a16:creationId xmlns:a16="http://schemas.microsoft.com/office/drawing/2014/main" id="{238009E9-5BD7-4FEE-A5A4-122BA86788E0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0" name="Place the piece">
            <a:extLst>
              <a:ext uri="{FF2B5EF4-FFF2-40B4-BE49-F238E27FC236}">
                <a16:creationId xmlns:a16="http://schemas.microsoft.com/office/drawing/2014/main" id="{28A99F62-E889-4804-9EEB-6D828C23DD2C}"/>
              </a:ext>
            </a:extLst>
          </p:cNvPr>
          <p:cNvSpPr>
            <a:spLocks noGrp="1"/>
          </p:cNvSpPr>
          <p:nvPr/>
        </p:nvSpPr>
        <p:spPr>
          <a:xfrm>
            <a:off x="1171575" y="4333875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Place the piece</a:t>
            </a:r>
          </a:p>
        </p:txBody>
      </p:sp>
      <p:sp>
        <p:nvSpPr>
          <p:cNvPr id="21" name="Then test win, then full board.">
            <a:extLst>
              <a:ext uri="{FF2B5EF4-FFF2-40B4-BE49-F238E27FC236}">
                <a16:creationId xmlns:a16="http://schemas.microsoft.com/office/drawing/2014/main" id="{395B54DF-8B85-412F-A150-0CDDF5C1401C}"/>
              </a:ext>
            </a:extLst>
          </p:cNvPr>
          <p:cNvSpPr>
            <a:spLocks noGrp="1"/>
          </p:cNvSpPr>
          <p:nvPr/>
        </p:nvSpPr>
        <p:spPr>
          <a:xfrm>
            <a:off x="6486525" y="433387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Then test win, then full board.</a:t>
            </a:r>
          </a:p>
        </p:txBody>
      </p:sp>
      <p:sp>
        <p:nvSpPr>
          <p:cNvPr id="22" name="6">
            <a:extLst>
              <a:ext uri="{FF2B5EF4-FFF2-40B4-BE49-F238E27FC236}">
                <a16:creationId xmlns:a16="http://schemas.microsoft.com/office/drawing/2014/main" id="{801185B5-D27B-4FB2-BA88-F3574CC114B3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3" name="Game still continuing?">
            <a:extLst>
              <a:ext uri="{FF2B5EF4-FFF2-40B4-BE49-F238E27FC236}">
                <a16:creationId xmlns:a16="http://schemas.microsoft.com/office/drawing/2014/main" id="{C0BE422F-4B03-4C6C-B87B-46FFD9B7FCF8}"/>
              </a:ext>
            </a:extLst>
          </p:cNvPr>
          <p:cNvSpPr>
            <a:spLocks noGrp="1"/>
          </p:cNvSpPr>
          <p:nvPr/>
        </p:nvSpPr>
        <p:spPr>
          <a:xfrm>
            <a:off x="1171575" y="4914900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Game still continuing?</a:t>
            </a:r>
          </a:p>
        </p:txBody>
      </p:sp>
      <p:sp>
        <p:nvSpPr>
          <p:cNvPr id="24" name="Yes: switch the player once.">
            <a:extLst>
              <a:ext uri="{FF2B5EF4-FFF2-40B4-BE49-F238E27FC236}">
                <a16:creationId xmlns:a16="http://schemas.microsoft.com/office/drawing/2014/main" id="{AF9B85C6-BD42-4ABF-95E4-900578F2C659}"/>
              </a:ext>
            </a:extLst>
          </p:cNvPr>
          <p:cNvSpPr>
            <a:spLocks noGrp="1"/>
          </p:cNvSpPr>
          <p:nvPr/>
        </p:nvSpPr>
        <p:spPr>
          <a:xfrm>
            <a:off x="6486525" y="491490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Yes: switch the player once.</a:t>
            </a:r>
          </a:p>
        </p:txBody>
      </p:sp>
      <p:sp>
        <p:nvSpPr>
          <p:cNvPr id="25" name="surface">
            <a:extLst>
              <a:ext uri="{FF2B5EF4-FFF2-40B4-BE49-F238E27FC236}">
                <a16:creationId xmlns:a16="http://schemas.microsoft.com/office/drawing/2014/main" id="{DFB592AB-900B-4D51-A39B-2959F3F17074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Every result and turn update belongs inside a">
            <a:extLst>
              <a:ext uri="{FF2B5EF4-FFF2-40B4-BE49-F238E27FC236}">
                <a16:creationId xmlns:a16="http://schemas.microsoft.com/office/drawing/2014/main" id="{DE226D30-9285-4037-897F-9D2670E4E6B2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Every result and turn update belongs inside a valid, empty-cell move.</a:t>
            </a:r>
          </a:p>
        </p:txBody>
      </p:sp>
    </p:spTree>
    <p:extLst>
      <p:ext uri="{BB962C8B-B14F-4D97-AF65-F5344CB8AC3E}">
        <p14:creationId xmlns:p14="http://schemas.microsoft.com/office/powerpoint/2010/main" val="40311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HECKPOINT 3 · REFERENCE/03.CPP">
            <a:extLst>
              <a:ext uri="{FF2B5EF4-FFF2-40B4-BE49-F238E27FC236}">
                <a16:creationId xmlns:a16="http://schemas.microsoft.com/office/drawing/2014/main" id="{5D5AC801-2483-4011-82B4-879C7AB12DC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CHECKPOINT 3 · REFERENCE/03.CPP</a:t>
            </a:r>
          </a:p>
        </p:txBody>
      </p:sp>
      <p:sp>
        <p:nvSpPr>
          <p:cNvPr id="2" name="Checkpoint 3: playable logic">
            <a:extLst>
              <a:ext uri="{FF2B5EF4-FFF2-40B4-BE49-F238E27FC236}">
                <a16:creationId xmlns:a16="http://schemas.microsoft.com/office/drawing/2014/main" id="{9365771D-F618-449A-BCB3-570330A202B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Checkpoint 3: playable logic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20D41B4C-5EED-4925-AFE9-49AB422A892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3364974A-AF55-42B5-AD60-4AE1100CEBB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5">
            <a:extLst>
              <a:ext uri="{FF2B5EF4-FFF2-40B4-BE49-F238E27FC236}">
                <a16:creationId xmlns:a16="http://schemas.microsoft.com/office/drawing/2014/main" id="{EC0CB09C-9472-4FBD-81A8-7A144D12A0C9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6" name="COMPLETED">
            <a:extLst>
              <a:ext uri="{FF2B5EF4-FFF2-40B4-BE49-F238E27FC236}">
                <a16:creationId xmlns:a16="http://schemas.microsoft.com/office/drawing/2014/main" id="{1709AD07-4D2D-4489-8BB5-1643D511AF4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7" name="Clicks place pieces, alternate turns and calc">
            <a:extLst>
              <a:ext uri="{FF2B5EF4-FFF2-40B4-BE49-F238E27FC236}">
                <a16:creationId xmlns:a16="http://schemas.microsoft.com/office/drawing/2014/main" id="{E2357C1F-2B8E-4D97-8FC6-1C56903E3D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Clicks place pieces, alternate turns and calculate results.</a:t>
            </a:r>
          </a:p>
        </p:txBody>
      </p:sp>
      <p:sp>
        <p:nvSpPr>
          <p:cNvPr id="8" name="RUN AND CHECK">
            <a:extLst>
              <a:ext uri="{FF2B5EF4-FFF2-40B4-BE49-F238E27FC236}">
                <a16:creationId xmlns:a16="http://schemas.microsoft.com/office/drawing/2014/main" id="{CB6B9FE2-67C6-427A-91E4-3D0328614D07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RUN AND CHECK</a:t>
            </a:r>
          </a:p>
        </p:txBody>
      </p:sp>
      <p:sp>
        <p:nvSpPr>
          <p:cNvPr id="9" name="Play X, O, X in different empty cells.">
            <a:extLst>
              <a:ext uri="{FF2B5EF4-FFF2-40B4-BE49-F238E27FC236}">
                <a16:creationId xmlns:a16="http://schemas.microsoft.com/office/drawing/2014/main" id="{7C05E986-3493-428E-9EC3-80B5027091BA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Play X, O, X in different empty cells.</a:t>
            </a:r>
          </a:p>
        </p:txBody>
      </p:sp>
      <p:sp>
        <p:nvSpPr>
          <p:cNvPr id="10" name="Click an occupied cell: nothing changes.">
            <a:extLst>
              <a:ext uri="{FF2B5EF4-FFF2-40B4-BE49-F238E27FC236}">
                <a16:creationId xmlns:a16="http://schemas.microsoft.com/office/drawing/2014/main" id="{95C2865D-DA7A-460B-ADD7-E93572D2BEB7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Click an occupied cell: nothing changes.</a:t>
            </a:r>
          </a:p>
        </p:txBody>
      </p:sp>
      <p:sp>
        <p:nvSpPr>
          <p:cNvPr id="11" name="Complete a winning line, then click again.">
            <a:extLst>
              <a:ext uri="{FF2B5EF4-FFF2-40B4-BE49-F238E27FC236}">
                <a16:creationId xmlns:a16="http://schemas.microsoft.com/office/drawing/2014/main" id="{681C3D24-AFD3-4575-999A-36459E054C76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Complete a winning line, then click again.</a:t>
            </a:r>
          </a:p>
        </p:txBody>
      </p:sp>
      <p:sp>
        <p:nvSpPr>
          <p:cNvPr id="12" name="The finished board must stay unchanged.">
            <a:extLst>
              <a:ext uri="{FF2B5EF4-FFF2-40B4-BE49-F238E27FC236}">
                <a16:creationId xmlns:a16="http://schemas.microsoft.com/office/drawing/2014/main" id="{E959ED19-2D73-4588-9F33-C1F9059BA85B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The finished board must stay unchanged.</a:t>
            </a:r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29ED7D8E-8397-4E13-B4CB-061C12A29129}"/>
              </a:ext>
            </a:extLst>
          </p:cNvPr>
          <p:cNvSpPr>
            <a:spLocks noGrp="1"/>
          </p:cNvSpPr>
          <p:nvPr/>
        </p:nvSpPr>
        <p:spPr>
          <a:xfrm>
            <a:off x="8143875" y="1647825"/>
            <a:ext cx="3438525" cy="3476625"/>
          </a:xfrm>
          <a:prstGeom prst="roundRect">
            <a:avLst>
              <a:gd name="adj" fmla="val 2216"/>
            </a:avLst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xpected now">
            <a:extLst>
              <a:ext uri="{FF2B5EF4-FFF2-40B4-BE49-F238E27FC236}">
                <a16:creationId xmlns:a16="http://schemas.microsoft.com/office/drawing/2014/main" id="{3E139888-E3EE-4189-902F-FC476CA5043F}"/>
              </a:ext>
            </a:extLst>
          </p:cNvPr>
          <p:cNvSpPr>
            <a:spLocks noGrp="1"/>
          </p:cNvSpPr>
          <p:nvPr/>
        </p:nvSpPr>
        <p:spPr>
          <a:xfrm>
            <a:off x="8372475" y="1857375"/>
            <a:ext cx="3000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Expected now</a:t>
            </a:r>
          </a:p>
        </p:txBody>
      </p:sp>
      <p:sp>
        <p:nvSpPr>
          <p:cNvPr id="15" name="Pieces respond.">
            <a:extLst>
              <a:ext uri="{FF2B5EF4-FFF2-40B4-BE49-F238E27FC236}">
                <a16:creationId xmlns:a16="http://schemas.microsoft.com/office/drawing/2014/main" id="{6C1D3121-B368-418E-9550-9E4040058B44}"/>
              </a:ext>
            </a:extLst>
          </p:cNvPr>
          <p:cNvSpPr>
            <a:spLocks noGrp="1"/>
          </p:cNvSpPr>
          <p:nvPr/>
        </p:nvSpPr>
        <p:spPr>
          <a:xfrm>
            <a:off x="8372475" y="24098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Pieces respond.</a:t>
            </a:r>
          </a:p>
        </p:txBody>
      </p:sp>
      <p:sp>
        <p:nvSpPr>
          <p:cNvPr id="16" name="No result message.">
            <a:extLst>
              <a:ext uri="{FF2B5EF4-FFF2-40B4-BE49-F238E27FC236}">
                <a16:creationId xmlns:a16="http://schemas.microsoft.com/office/drawing/2014/main" id="{F98F2E7C-067A-43C0-AFB4-0938D7FDEBB5}"/>
              </a:ext>
            </a:extLst>
          </p:cNvPr>
          <p:cNvSpPr>
            <a:spLocks noGrp="1"/>
          </p:cNvSpPr>
          <p:nvPr/>
        </p:nvSpPr>
        <p:spPr>
          <a:xfrm>
            <a:off x="8372475" y="28289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No result message.</a:t>
            </a:r>
          </a:p>
        </p:txBody>
      </p:sp>
      <p:sp>
        <p:nvSpPr>
          <p:cNvPr id="17" name="Finished game">
            <a:extLst>
              <a:ext uri="{FF2B5EF4-FFF2-40B4-BE49-F238E27FC236}">
                <a16:creationId xmlns:a16="http://schemas.microsoft.com/office/drawing/2014/main" id="{A961EA3D-070E-42FB-881B-B5C62D560D87}"/>
              </a:ext>
            </a:extLst>
          </p:cNvPr>
          <p:cNvSpPr>
            <a:spLocks noGrp="1"/>
          </p:cNvSpPr>
          <p:nvPr/>
        </p:nvSpPr>
        <p:spPr>
          <a:xfrm>
            <a:off x="8372475" y="32480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Finished game</a:t>
            </a:r>
          </a:p>
        </p:txBody>
      </p:sp>
      <p:sp>
        <p:nvSpPr>
          <p:cNvPr id="18" name="ignores clicks.">
            <a:extLst>
              <a:ext uri="{FF2B5EF4-FFF2-40B4-BE49-F238E27FC236}">
                <a16:creationId xmlns:a16="http://schemas.microsoft.com/office/drawing/2014/main" id="{FD0AAD4A-6612-4AF8-B1B7-F32159165612}"/>
              </a:ext>
            </a:extLst>
          </p:cNvPr>
          <p:cNvSpPr>
            <a:spLocks noGrp="1"/>
          </p:cNvSpPr>
          <p:nvPr/>
        </p:nvSpPr>
        <p:spPr>
          <a:xfrm>
            <a:off x="8372475" y="36671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ignores clicks.</a:t>
            </a:r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4ECD8148-224F-4A7C-ADAC-3AB853ABAB76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ference: reference/03.cpp">
            <a:extLst>
              <a:ext uri="{FF2B5EF4-FFF2-40B4-BE49-F238E27FC236}">
                <a16:creationId xmlns:a16="http://schemas.microsoft.com/office/drawing/2014/main" id="{A0DDE028-EFE1-452B-B1DC-F113F8D91416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Reference: reference/03.cpp</a:t>
            </a:r>
          </a:p>
        </p:txBody>
      </p:sp>
      <p:sp>
        <p:nvSpPr>
          <p:cNvPr id="21" name="After draw_board(), add the turn label:">
            <a:extLst>
              <a:ext uri="{FF2B5EF4-FFF2-40B4-BE49-F238E27FC236}">
                <a16:creationId xmlns:a16="http://schemas.microsoft.com/office/drawing/2014/main" id="{CE159733-A84F-41F4-BC67-4970860293F3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After draw_board(), add the turn label:</a:t>
            </a:r>
          </a:p>
        </p:txBody>
      </p:sp>
      <p:sp>
        <p:nvSpPr>
          <p:cNvPr id="22" name="DrawText(TextFormat(&quot;Turn: %c&quot;, current_playe">
            <a:extLst>
              <a:ext uri="{FF2B5EF4-FFF2-40B4-BE49-F238E27FC236}">
                <a16:creationId xmlns:a16="http://schemas.microsoft.com/office/drawing/2014/main" id="{90156D8D-A53D-4C95-9D13-863A0C274E52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17223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172235"/>
                </a:solidFill>
                <a:latin typeface="Consolas"/>
                <a:ea typeface="Consolas"/>
                <a:cs typeface="Consolas"/>
              </a:rPr>
              <a:t>DrawText(TextFormat("Turn: %c", current_player), 20, 20, 24, BLACK);</a:t>
            </a:r>
          </a:p>
        </p:txBody>
      </p:sp>
    </p:spTree>
    <p:extLst>
      <p:ext uri="{BB962C8B-B14F-4D97-AF65-F5344CB8AC3E}">
        <p14:creationId xmlns:p14="http://schemas.microsoft.com/office/powerpoint/2010/main" val="443546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EP 4 · FEEDBACK">
            <a:extLst>
              <a:ext uri="{FF2B5EF4-FFF2-40B4-BE49-F238E27FC236}">
                <a16:creationId xmlns:a16="http://schemas.microsoft.com/office/drawing/2014/main" id="{5B243D17-DEBC-4B51-87DA-2C4AC124E10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4 · FEEDBACK</a:t>
            </a:r>
          </a:p>
        </p:txBody>
      </p:sp>
      <p:sp>
        <p:nvSpPr>
          <p:cNvPr id="2" name="Draw the current status">
            <a:extLst>
              <a:ext uri="{FF2B5EF4-FFF2-40B4-BE49-F238E27FC236}">
                <a16:creationId xmlns:a16="http://schemas.microsoft.com/office/drawing/2014/main" id="{DB1E77B3-C57F-4D1E-BA1C-B2B0CC08276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Draw the current status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1A6C68F1-C9BE-4AB3-A01F-0EDCE186F61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E69671CA-1979-4B19-BE32-F7E67458567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6">
            <a:extLst>
              <a:ext uri="{FF2B5EF4-FFF2-40B4-BE49-F238E27FC236}">
                <a16:creationId xmlns:a16="http://schemas.microsoft.com/office/drawing/2014/main" id="{0B136059-CE3B-43F1-8674-FA9B53A2C756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6" name="ADD / REPLACE: status drawing after draw_boar">
            <a:extLst>
              <a:ext uri="{FF2B5EF4-FFF2-40B4-BE49-F238E27FC236}">
                <a16:creationId xmlns:a16="http://schemas.microsoft.com/office/drawing/2014/main" id="{0541156C-116B-4AF3-8133-75D1D5D6C97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ADD / REPLACE: status drawing after draw_board(), before EndDrawing()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6CC96983-E0C1-4FC9-A6C9-8AC5A9ECAA6E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545881"/>
          </a:xfrm>
          <a:prstGeom prst="roundRect">
            <a:avLst>
              <a:gd name="adj" fmla="val 2149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f (winner == '-') {">
            <a:extLst>
              <a:ext uri="{FF2B5EF4-FFF2-40B4-BE49-F238E27FC236}">
                <a16:creationId xmlns:a16="http://schemas.microsoft.com/office/drawing/2014/main" id="{F05D86E0-B781-452D-A21F-49FB911834FE}"/>
              </a:ext>
            </a:extLst>
          </p:cNvPr>
          <p:cNvSpPr>
            <a:spLocks noGrp="1"/>
          </p:cNvSpPr>
          <p:nvPr/>
        </p:nvSpPr>
        <p:spPr>
          <a:xfrm>
            <a:off x="800100" y="200977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(winner == '-') {</a:t>
            </a:r>
          </a:p>
        </p:txBody>
      </p:sp>
      <p:sp>
        <p:nvSpPr>
          <p:cNvPr id="9" name="    DrawText(TextFormat(&quot;Turn: %c&quot;, current_p">
            <a:extLst>
              <a:ext uri="{FF2B5EF4-FFF2-40B4-BE49-F238E27FC236}">
                <a16:creationId xmlns:a16="http://schemas.microsoft.com/office/drawing/2014/main" id="{4338255B-F24C-43EA-8213-83CC376B1C20}"/>
              </a:ext>
            </a:extLst>
          </p:cNvPr>
          <p:cNvSpPr>
            <a:spLocks noGrp="1"/>
          </p:cNvSpPr>
          <p:nvPr/>
        </p:nvSpPr>
        <p:spPr>
          <a:xfrm>
            <a:off x="800100" y="230441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DrawText(TextFormat("Turn: %c", current_player),</a:t>
            </a:r>
          </a:p>
        </p:txBody>
      </p:sp>
      <p:sp>
        <p:nvSpPr>
          <p:cNvPr id="10" name="             20, 20, 24, BLACK);">
            <a:extLst>
              <a:ext uri="{FF2B5EF4-FFF2-40B4-BE49-F238E27FC236}">
                <a16:creationId xmlns:a16="http://schemas.microsoft.com/office/drawing/2014/main" id="{B365ECE6-10CE-4813-827E-777DC24B6FCE}"/>
              </a:ext>
            </a:extLst>
          </p:cNvPr>
          <p:cNvSpPr>
            <a:spLocks noGrp="1"/>
          </p:cNvSpPr>
          <p:nvPr/>
        </p:nvSpPr>
        <p:spPr>
          <a:xfrm>
            <a:off x="800100" y="259906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20, 20, 24, BLACK);</a:t>
            </a:r>
          </a:p>
        </p:txBody>
      </p:sp>
      <p:sp>
        <p:nvSpPr>
          <p:cNvPr id="11" name="} else {">
            <a:extLst>
              <a:ext uri="{FF2B5EF4-FFF2-40B4-BE49-F238E27FC236}">
                <a16:creationId xmlns:a16="http://schemas.microsoft.com/office/drawing/2014/main" id="{F673FA6B-0146-4582-B9E8-45975F4B7880}"/>
              </a:ext>
            </a:extLst>
          </p:cNvPr>
          <p:cNvSpPr>
            <a:spLocks noGrp="1"/>
          </p:cNvSpPr>
          <p:nvPr/>
        </p:nvSpPr>
        <p:spPr>
          <a:xfrm>
            <a:off x="800100" y="289370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 else {</a:t>
            </a:r>
          </a:p>
        </p:txBody>
      </p:sp>
      <p:sp>
        <p:nvSpPr>
          <p:cNvPr id="12" name="    if (winner == 'D')">
            <a:extLst>
              <a:ext uri="{FF2B5EF4-FFF2-40B4-BE49-F238E27FC236}">
                <a16:creationId xmlns:a16="http://schemas.microsoft.com/office/drawing/2014/main" id="{12D73354-5D23-4776-8316-7C5787A199CE}"/>
              </a:ext>
            </a:extLst>
          </p:cNvPr>
          <p:cNvSpPr>
            <a:spLocks noGrp="1"/>
          </p:cNvSpPr>
          <p:nvPr/>
        </p:nvSpPr>
        <p:spPr>
          <a:xfrm>
            <a:off x="800100" y="318835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(winner == 'D')</a:t>
            </a:r>
          </a:p>
        </p:txBody>
      </p:sp>
      <p:sp>
        <p:nvSpPr>
          <p:cNvPr id="13" name="        DrawText(&quot;Draw!&quot;, 350, 370, 50, BLACK">
            <a:extLst>
              <a:ext uri="{FF2B5EF4-FFF2-40B4-BE49-F238E27FC236}">
                <a16:creationId xmlns:a16="http://schemas.microsoft.com/office/drawing/2014/main" id="{3D32D5D7-2B7B-4BB6-A7C9-0BF5A30111B8}"/>
              </a:ext>
            </a:extLst>
          </p:cNvPr>
          <p:cNvSpPr>
            <a:spLocks noGrp="1"/>
          </p:cNvSpPr>
          <p:nvPr/>
        </p:nvSpPr>
        <p:spPr>
          <a:xfrm>
            <a:off x="800100" y="3482993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DrawText("Draw!", 350, 370, 50, BLACK);</a:t>
            </a:r>
          </a:p>
        </p:txBody>
      </p:sp>
      <p:sp>
        <p:nvSpPr>
          <p:cNvPr id="14" name="    else">
            <a:extLst>
              <a:ext uri="{FF2B5EF4-FFF2-40B4-BE49-F238E27FC236}">
                <a16:creationId xmlns:a16="http://schemas.microsoft.com/office/drawing/2014/main" id="{0F80063C-37D1-4E72-98BE-F227CDF1C48D}"/>
              </a:ext>
            </a:extLst>
          </p:cNvPr>
          <p:cNvSpPr>
            <a:spLocks noGrp="1"/>
          </p:cNvSpPr>
          <p:nvPr/>
        </p:nvSpPr>
        <p:spPr>
          <a:xfrm>
            <a:off x="800100" y="377763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else</a:t>
            </a:r>
          </a:p>
        </p:txBody>
      </p:sp>
      <p:sp>
        <p:nvSpPr>
          <p:cNvPr id="15" name="        DrawText(TextFormat(&quot;%c Wins!&quot;, winne">
            <a:extLst>
              <a:ext uri="{FF2B5EF4-FFF2-40B4-BE49-F238E27FC236}">
                <a16:creationId xmlns:a16="http://schemas.microsoft.com/office/drawing/2014/main" id="{82F96436-192B-4A0F-91B4-22CB42AF203D}"/>
              </a:ext>
            </a:extLst>
          </p:cNvPr>
          <p:cNvSpPr>
            <a:spLocks noGrp="1"/>
          </p:cNvSpPr>
          <p:nvPr/>
        </p:nvSpPr>
        <p:spPr>
          <a:xfrm>
            <a:off x="800100" y="407228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DrawText(TextFormat("%c Wins!", winner),</a:t>
            </a:r>
          </a:p>
        </p:txBody>
      </p:sp>
      <p:sp>
        <p:nvSpPr>
          <p:cNvPr id="16" name="                 330, 370, 50, BLACK);">
            <a:extLst>
              <a:ext uri="{FF2B5EF4-FFF2-40B4-BE49-F238E27FC236}">
                <a16:creationId xmlns:a16="http://schemas.microsoft.com/office/drawing/2014/main" id="{37304A88-C572-4F33-B48C-94173BBD9D46}"/>
              </a:ext>
            </a:extLst>
          </p:cNvPr>
          <p:cNvSpPr>
            <a:spLocks noGrp="1"/>
          </p:cNvSpPr>
          <p:nvPr/>
        </p:nvSpPr>
        <p:spPr>
          <a:xfrm>
            <a:off x="800100" y="436692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330, 370, 50, BLACK);</a:t>
            </a:r>
          </a:p>
        </p:txBody>
      </p:sp>
      <p:sp>
        <p:nvSpPr>
          <p:cNvPr id="17" name="    DrawText(&quot;Click to restart&quot;, 305, 430, 26">
            <a:extLst>
              <a:ext uri="{FF2B5EF4-FFF2-40B4-BE49-F238E27FC236}">
                <a16:creationId xmlns:a16="http://schemas.microsoft.com/office/drawing/2014/main" id="{FFA70B2D-2B9C-4027-A13D-FEF708FE21A4}"/>
              </a:ext>
            </a:extLst>
          </p:cNvPr>
          <p:cNvSpPr>
            <a:spLocks noGrp="1"/>
          </p:cNvSpPr>
          <p:nvPr/>
        </p:nvSpPr>
        <p:spPr>
          <a:xfrm>
            <a:off x="800100" y="4661568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DrawText("Click to restart", 305, 430, 26, BLACK);</a:t>
            </a:r>
          </a:p>
        </p:txBody>
      </p:sp>
      <p:sp>
        <p:nvSpPr>
          <p:cNvPr id="18" name="}">
            <a:extLst>
              <a:ext uri="{FF2B5EF4-FFF2-40B4-BE49-F238E27FC236}">
                <a16:creationId xmlns:a16="http://schemas.microsoft.com/office/drawing/2014/main" id="{E12EE013-8516-412A-A302-00857A89C9EF}"/>
              </a:ext>
            </a:extLst>
          </p:cNvPr>
          <p:cNvSpPr>
            <a:spLocks noGrp="1"/>
          </p:cNvSpPr>
          <p:nvPr/>
        </p:nvSpPr>
        <p:spPr>
          <a:xfrm>
            <a:off x="800100" y="495621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078DFC87-3A69-44DA-901F-9B4F6282B53E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If a Turn label already exists, replace it wi">
            <a:extLst>
              <a:ext uri="{FF2B5EF4-FFF2-40B4-BE49-F238E27FC236}">
                <a16:creationId xmlns:a16="http://schemas.microsoft.com/office/drawing/2014/main" id="{2FA55F90-3595-4734-8B83-3CC424588E59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If a Turn label already exists, replace it with this whole conditional block.</a:t>
            </a:r>
          </a:p>
        </p:txBody>
      </p:sp>
    </p:spTree>
    <p:extLst>
      <p:ext uri="{BB962C8B-B14F-4D97-AF65-F5344CB8AC3E}">
        <p14:creationId xmlns:p14="http://schemas.microsoft.com/office/powerpoint/2010/main" val="501949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EP 4 · RESTART">
            <a:extLst>
              <a:ext uri="{FF2B5EF4-FFF2-40B4-BE49-F238E27FC236}">
                <a16:creationId xmlns:a16="http://schemas.microsoft.com/office/drawing/2014/main" id="{AA157EBD-EE2B-470E-AED2-F163DD861EA9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4 · RESTART</a:t>
            </a:r>
          </a:p>
        </p:txBody>
      </p:sp>
      <p:sp>
        <p:nvSpPr>
          <p:cNvPr id="2" name="One click starts a fresh game">
            <a:extLst>
              <a:ext uri="{FF2B5EF4-FFF2-40B4-BE49-F238E27FC236}">
                <a16:creationId xmlns:a16="http://schemas.microsoft.com/office/drawing/2014/main" id="{940875F0-7863-41FD-8F11-8F968EDCD27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One click starts a fresh game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294B3E9A-4813-41F5-A297-03BABFA6C975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7FA63737-9EC1-4A81-8464-EB348F34865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7">
            <a:extLst>
              <a:ext uri="{FF2B5EF4-FFF2-40B4-BE49-F238E27FC236}">
                <a16:creationId xmlns:a16="http://schemas.microsoft.com/office/drawing/2014/main" id="{CB702D05-BD75-4299-AD77-6C3D34AF826C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6" name="REPLACE: the empty finished-game branch insid">
            <a:extLst>
              <a:ext uri="{FF2B5EF4-FFF2-40B4-BE49-F238E27FC236}">
                <a16:creationId xmlns:a16="http://schemas.microsoft.com/office/drawing/2014/main" id="{7AECE1CB-00B5-446F-B997-0F84FBA71C8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REPLACE: the empty finished-game branch inside the click handler</a:t>
            </a:r>
          </a:p>
        </p:txBody>
      </p:sp>
      <p:sp>
        <p:nvSpPr>
          <p:cNvPr id="7" name="surface">
            <a:extLst>
              <a:ext uri="{FF2B5EF4-FFF2-40B4-BE49-F238E27FC236}">
                <a16:creationId xmlns:a16="http://schemas.microsoft.com/office/drawing/2014/main" id="{AD656E34-35B1-4FD8-9FAF-C73187243C4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3251237"/>
          </a:xfrm>
          <a:prstGeom prst="roundRect">
            <a:avLst>
              <a:gd name="adj" fmla="val 2344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f (winner != '-')">
            <a:extLst>
              <a:ext uri="{FF2B5EF4-FFF2-40B4-BE49-F238E27FC236}">
                <a16:creationId xmlns:a16="http://schemas.microsoft.com/office/drawing/2014/main" id="{C79C78CB-E145-4F8E-903D-5164A051EC3E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(winner != '-')</a:t>
            </a:r>
          </a:p>
        </p:txBody>
      </p:sp>
      <p:sp>
        <p:nvSpPr>
          <p:cNvPr id="9" name="{">
            <a:extLst>
              <a:ext uri="{FF2B5EF4-FFF2-40B4-BE49-F238E27FC236}">
                <a16:creationId xmlns:a16="http://schemas.microsoft.com/office/drawing/2014/main" id="{382E7027-E3C2-4708-A33B-4E2591888670}"/>
              </a:ext>
            </a:extLst>
          </p:cNvPr>
          <p:cNvSpPr>
            <a:spLocks noGrp="1"/>
          </p:cNvSpPr>
          <p:nvPr/>
        </p:nvSpPr>
        <p:spPr>
          <a:xfrm>
            <a:off x="800100" y="231394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0" name="    reset_board(board);">
            <a:extLst>
              <a:ext uri="{FF2B5EF4-FFF2-40B4-BE49-F238E27FC236}">
                <a16:creationId xmlns:a16="http://schemas.microsoft.com/office/drawing/2014/main" id="{E3DC8507-92BC-4B3F-AE69-C24B12B8ADC1}"/>
              </a:ext>
            </a:extLst>
          </p:cNvPr>
          <p:cNvSpPr>
            <a:spLocks noGrp="1"/>
          </p:cNvSpPr>
          <p:nvPr/>
        </p:nvSpPr>
        <p:spPr>
          <a:xfrm>
            <a:off x="800100" y="2608587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reset_board(board);</a:t>
            </a:r>
          </a:p>
        </p:txBody>
      </p:sp>
      <p:sp>
        <p:nvSpPr>
          <p:cNvPr id="11" name="    current_player = 'X';">
            <a:extLst>
              <a:ext uri="{FF2B5EF4-FFF2-40B4-BE49-F238E27FC236}">
                <a16:creationId xmlns:a16="http://schemas.microsoft.com/office/drawing/2014/main" id="{1666A70F-2F98-4A1D-BE93-9BB780393AC0}"/>
              </a:ext>
            </a:extLst>
          </p:cNvPr>
          <p:cNvSpPr>
            <a:spLocks noGrp="1"/>
          </p:cNvSpPr>
          <p:nvPr/>
        </p:nvSpPr>
        <p:spPr>
          <a:xfrm>
            <a:off x="800100" y="2903231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current_player = 'X';</a:t>
            </a:r>
          </a:p>
        </p:txBody>
      </p:sp>
      <p:sp>
        <p:nvSpPr>
          <p:cNvPr id="12" name="    winner = '-';">
            <a:extLst>
              <a:ext uri="{FF2B5EF4-FFF2-40B4-BE49-F238E27FC236}">
                <a16:creationId xmlns:a16="http://schemas.microsoft.com/office/drawing/2014/main" id="{3CB734BC-9BA8-43E7-B0B8-C91AEE296CFF}"/>
              </a:ext>
            </a:extLst>
          </p:cNvPr>
          <p:cNvSpPr>
            <a:spLocks noGrp="1"/>
          </p:cNvSpPr>
          <p:nvPr/>
        </p:nvSpPr>
        <p:spPr>
          <a:xfrm>
            <a:off x="800100" y="3197875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winner = '-';</a:t>
            </a:r>
          </a:p>
        </p:txBody>
      </p:sp>
      <p:sp>
        <p:nvSpPr>
          <p:cNvPr id="13" name="}">
            <a:extLst>
              <a:ext uri="{FF2B5EF4-FFF2-40B4-BE49-F238E27FC236}">
                <a16:creationId xmlns:a16="http://schemas.microsoft.com/office/drawing/2014/main" id="{F5FF7349-BDDE-46B0-AEB3-A61BCEAF3A89}"/>
              </a:ext>
            </a:extLst>
          </p:cNvPr>
          <p:cNvSpPr>
            <a:spLocks noGrp="1"/>
          </p:cNvSpPr>
          <p:nvPr/>
        </p:nvSpPr>
        <p:spPr>
          <a:xfrm>
            <a:off x="800100" y="3492518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else">
            <a:extLst>
              <a:ext uri="{FF2B5EF4-FFF2-40B4-BE49-F238E27FC236}">
                <a16:creationId xmlns:a16="http://schemas.microsoft.com/office/drawing/2014/main" id="{A21F6EF4-BB00-403A-8AE6-E276E4C4A03B}"/>
              </a:ext>
            </a:extLst>
          </p:cNvPr>
          <p:cNvSpPr>
            <a:spLocks noGrp="1"/>
          </p:cNvSpPr>
          <p:nvPr/>
        </p:nvSpPr>
        <p:spPr>
          <a:xfrm>
            <a:off x="800100" y="3787162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</a:t>
            </a:r>
          </a:p>
        </p:txBody>
      </p:sp>
      <p:sp>
        <p:nvSpPr>
          <p:cNvPr id="15" name="{">
            <a:extLst>
              <a:ext uri="{FF2B5EF4-FFF2-40B4-BE49-F238E27FC236}">
                <a16:creationId xmlns:a16="http://schemas.microsoft.com/office/drawing/2014/main" id="{5A102092-461F-4275-8980-31A4D2CABE03}"/>
              </a:ext>
            </a:extLst>
          </p:cNvPr>
          <p:cNvSpPr>
            <a:spLocks noGrp="1"/>
          </p:cNvSpPr>
          <p:nvPr/>
        </p:nvSpPr>
        <p:spPr>
          <a:xfrm>
            <a:off x="800100" y="4081806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6" name="    // Keep the existing bounds and move logi">
            <a:extLst>
              <a:ext uri="{FF2B5EF4-FFF2-40B4-BE49-F238E27FC236}">
                <a16:creationId xmlns:a16="http://schemas.microsoft.com/office/drawing/2014/main" id="{66C0C17F-5B85-4B77-800E-9802E2809B47}"/>
              </a:ext>
            </a:extLst>
          </p:cNvPr>
          <p:cNvSpPr>
            <a:spLocks noGrp="1"/>
          </p:cNvSpPr>
          <p:nvPr/>
        </p:nvSpPr>
        <p:spPr>
          <a:xfrm>
            <a:off x="800100" y="4376449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BFCED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BFCEDF"/>
                </a:solidFill>
                <a:latin typeface="Consolas"/>
                <a:ea typeface="Consolas"/>
                <a:cs typeface="Consolas"/>
              </a:rPr>
              <a:t>    // Keep the existing bounds and move logic here.</a:t>
            </a:r>
          </a:p>
        </p:txBody>
      </p:sp>
      <p:sp>
        <p:nvSpPr>
          <p:cNvPr id="17" name="}">
            <a:extLst>
              <a:ext uri="{FF2B5EF4-FFF2-40B4-BE49-F238E27FC236}">
                <a16:creationId xmlns:a16="http://schemas.microsoft.com/office/drawing/2014/main" id="{2B4A5416-448B-4372-8C3A-B670168FBEB8}"/>
              </a:ext>
            </a:extLst>
          </p:cNvPr>
          <p:cNvSpPr>
            <a:spLocks noGrp="1"/>
          </p:cNvSpPr>
          <p:nvPr/>
        </p:nvSpPr>
        <p:spPr>
          <a:xfrm>
            <a:off x="800100" y="4671093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surface">
            <a:extLst>
              <a:ext uri="{FF2B5EF4-FFF2-40B4-BE49-F238E27FC236}">
                <a16:creationId xmlns:a16="http://schemas.microsoft.com/office/drawing/2014/main" id="{E2F9B72D-EB17-470C-AB45-4618EFE7392A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Keep this inside IsMouseButtonPressed(). The ">
            <a:extLst>
              <a:ext uri="{FF2B5EF4-FFF2-40B4-BE49-F238E27FC236}">
                <a16:creationId xmlns:a16="http://schemas.microsoft.com/office/drawing/2014/main" id="{7E89ED0A-36E2-4D76-AAF9-A5BE60CFE1EE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Keep this inside IsMouseButtonPressed(). The else prevents a restart click from moving.</a:t>
            </a:r>
          </a:p>
        </p:txBody>
      </p:sp>
    </p:spTree>
    <p:extLst>
      <p:ext uri="{BB962C8B-B14F-4D97-AF65-F5344CB8AC3E}">
        <p14:creationId xmlns:p14="http://schemas.microsoft.com/office/powerpoint/2010/main" val="443546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ECKPOINT 4 · REFERENCE/04.CPP">
            <a:extLst>
              <a:ext uri="{FF2B5EF4-FFF2-40B4-BE49-F238E27FC236}">
                <a16:creationId xmlns:a16="http://schemas.microsoft.com/office/drawing/2014/main" id="{AF8BF1B1-4A0C-42A3-99AA-9A28BD841A5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CHECKPOINT 4 · REFERENCE/04.CPP</a:t>
            </a:r>
          </a:p>
        </p:txBody>
      </p:sp>
      <p:sp>
        <p:nvSpPr>
          <p:cNvPr id="2" name="Checkpoint 4: a complete game">
            <a:extLst>
              <a:ext uri="{FF2B5EF4-FFF2-40B4-BE49-F238E27FC236}">
                <a16:creationId xmlns:a16="http://schemas.microsoft.com/office/drawing/2014/main" id="{9733804B-8664-4C68-B928-6C252C12BC3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Checkpoint 4: a complete game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34689A18-F9C5-4B81-AC60-67B7A3322F9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703F4428-971E-44DB-967D-33F0486CA1E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8">
            <a:extLst>
              <a:ext uri="{FF2B5EF4-FFF2-40B4-BE49-F238E27FC236}">
                <a16:creationId xmlns:a16="http://schemas.microsoft.com/office/drawing/2014/main" id="{01EA5A58-71D7-4C85-B5EE-7852007429B0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6" name="COMPLETED">
            <a:extLst>
              <a:ext uri="{FF2B5EF4-FFF2-40B4-BE49-F238E27FC236}">
                <a16:creationId xmlns:a16="http://schemas.microsoft.com/office/drawing/2014/main" id="{DD109BE3-54DF-4D4F-8E2E-C535502CDE27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7" name="Results are visible. A click resets all game ">
            <a:extLst>
              <a:ext uri="{FF2B5EF4-FFF2-40B4-BE49-F238E27FC236}">
                <a16:creationId xmlns:a16="http://schemas.microsoft.com/office/drawing/2014/main" id="{DEEBBB38-7E09-49FE-8AC0-9671CC2CFDF7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Results are visible. A click resets all game state.</a:t>
            </a:r>
          </a:p>
        </p:txBody>
      </p:sp>
      <p:sp>
        <p:nvSpPr>
          <p:cNvPr id="8" name="RUN AND CHECK">
            <a:extLst>
              <a:ext uri="{FF2B5EF4-FFF2-40B4-BE49-F238E27FC236}">
                <a16:creationId xmlns:a16="http://schemas.microsoft.com/office/drawing/2014/main" id="{FB2F8D12-59E0-4EE1-B0CA-81E47C640A2D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RUN AND CHECK</a:t>
            </a:r>
          </a:p>
        </p:txBody>
      </p:sp>
      <p:sp>
        <p:nvSpPr>
          <p:cNvPr id="9" name="Verify all 8 winning lines and a draw.">
            <a:extLst>
              <a:ext uri="{FF2B5EF4-FFF2-40B4-BE49-F238E27FC236}">
                <a16:creationId xmlns:a16="http://schemas.microsoft.com/office/drawing/2014/main" id="{CA759397-CE25-4D46-A52D-2005FE736D51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Verify all 8 winning lines and a draw.</a:t>
            </a:r>
          </a:p>
        </p:txBody>
      </p:sp>
      <p:sp>
        <p:nvSpPr>
          <p:cNvPr id="10" name="Check a winning ninth move: it is a win.">
            <a:extLst>
              <a:ext uri="{FF2B5EF4-FFF2-40B4-BE49-F238E27FC236}">
                <a16:creationId xmlns:a16="http://schemas.microsoft.com/office/drawing/2014/main" id="{DD236670-F3BA-4FB5-BF6F-56E2F422ADE9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 a winning ninth move: it is a win.</a:t>
            </a:r>
          </a:p>
        </p:txBody>
      </p:sp>
      <p:sp>
        <p:nvSpPr>
          <p:cNvPr id="11" name="Click after the result: empty board, X next.">
            <a:extLst>
              <a:ext uri="{FF2B5EF4-FFF2-40B4-BE49-F238E27FC236}">
                <a16:creationId xmlns:a16="http://schemas.microsoft.com/office/drawing/2014/main" id="{2572B4D1-9940-4897-97C0-791739A4E75B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Click after the result: empty board, X next.</a:t>
            </a:r>
          </a:p>
        </p:txBody>
      </p:sp>
      <p:sp>
        <p:nvSpPr>
          <p:cNvPr id="12" name="Click once more: the first X appears.">
            <a:extLst>
              <a:ext uri="{FF2B5EF4-FFF2-40B4-BE49-F238E27FC236}">
                <a16:creationId xmlns:a16="http://schemas.microsoft.com/office/drawing/2014/main" id="{32F9B112-9B9A-45E0-BCB5-BA532BBE9123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70961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Click once more: the first X appears.</a:t>
            </a:r>
          </a:p>
        </p:txBody>
      </p:sp>
      <p:sp>
        <p:nvSpPr>
          <p:cNvPr id="13" name="surface">
            <a:extLst>
              <a:ext uri="{FF2B5EF4-FFF2-40B4-BE49-F238E27FC236}">
                <a16:creationId xmlns:a16="http://schemas.microsoft.com/office/drawing/2014/main" id="{A30B9A87-0035-42EA-AC9A-CE64E0E52E9E}"/>
              </a:ext>
            </a:extLst>
          </p:cNvPr>
          <p:cNvSpPr>
            <a:spLocks noGrp="1"/>
          </p:cNvSpPr>
          <p:nvPr/>
        </p:nvSpPr>
        <p:spPr>
          <a:xfrm>
            <a:off x="8143875" y="1647825"/>
            <a:ext cx="3438525" cy="3476625"/>
          </a:xfrm>
          <a:prstGeom prst="roundRect">
            <a:avLst>
              <a:gd name="adj" fmla="val 2216"/>
            </a:avLst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xpected now">
            <a:extLst>
              <a:ext uri="{FF2B5EF4-FFF2-40B4-BE49-F238E27FC236}">
                <a16:creationId xmlns:a16="http://schemas.microsoft.com/office/drawing/2014/main" id="{94EB9062-ECB4-4218-8C17-3F60E585F59D}"/>
              </a:ext>
            </a:extLst>
          </p:cNvPr>
          <p:cNvSpPr>
            <a:spLocks noGrp="1"/>
          </p:cNvSpPr>
          <p:nvPr/>
        </p:nvSpPr>
        <p:spPr>
          <a:xfrm>
            <a:off x="8372475" y="1857375"/>
            <a:ext cx="3000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Expected now</a:t>
            </a:r>
          </a:p>
        </p:txBody>
      </p:sp>
      <p:sp>
        <p:nvSpPr>
          <p:cNvPr id="15" name="Turn during play.">
            <a:extLst>
              <a:ext uri="{FF2B5EF4-FFF2-40B4-BE49-F238E27FC236}">
                <a16:creationId xmlns:a16="http://schemas.microsoft.com/office/drawing/2014/main" id="{CECC7403-BE44-43EA-8273-C5B16DD20350}"/>
              </a:ext>
            </a:extLst>
          </p:cNvPr>
          <p:cNvSpPr>
            <a:spLocks noGrp="1"/>
          </p:cNvSpPr>
          <p:nvPr/>
        </p:nvSpPr>
        <p:spPr>
          <a:xfrm>
            <a:off x="8372475" y="24098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Turn during play.</a:t>
            </a:r>
          </a:p>
        </p:txBody>
      </p:sp>
      <p:sp>
        <p:nvSpPr>
          <p:cNvPr id="16" name="Win or draw at end.">
            <a:extLst>
              <a:ext uri="{FF2B5EF4-FFF2-40B4-BE49-F238E27FC236}">
                <a16:creationId xmlns:a16="http://schemas.microsoft.com/office/drawing/2014/main" id="{C40596D7-1682-4861-975A-E65E15C447A4}"/>
              </a:ext>
            </a:extLst>
          </p:cNvPr>
          <p:cNvSpPr>
            <a:spLocks noGrp="1"/>
          </p:cNvSpPr>
          <p:nvPr/>
        </p:nvSpPr>
        <p:spPr>
          <a:xfrm>
            <a:off x="8372475" y="28289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Win or draw at end.</a:t>
            </a:r>
          </a:p>
        </p:txBody>
      </p:sp>
      <p:sp>
        <p:nvSpPr>
          <p:cNvPr id="17" name="Restart leaves">
            <a:extLst>
              <a:ext uri="{FF2B5EF4-FFF2-40B4-BE49-F238E27FC236}">
                <a16:creationId xmlns:a16="http://schemas.microsoft.com/office/drawing/2014/main" id="{322437D7-8E82-455C-A1F6-139A14B78C9C}"/>
              </a:ext>
            </a:extLst>
          </p:cNvPr>
          <p:cNvSpPr>
            <a:spLocks noGrp="1"/>
          </p:cNvSpPr>
          <p:nvPr/>
        </p:nvSpPr>
        <p:spPr>
          <a:xfrm>
            <a:off x="8372475" y="32480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Restart leaves</a:t>
            </a:r>
          </a:p>
        </p:txBody>
      </p:sp>
      <p:sp>
        <p:nvSpPr>
          <p:cNvPr id="18" name="an empty board.">
            <a:extLst>
              <a:ext uri="{FF2B5EF4-FFF2-40B4-BE49-F238E27FC236}">
                <a16:creationId xmlns:a16="http://schemas.microsoft.com/office/drawing/2014/main" id="{86E4047A-79E4-4ECC-A746-DCCFCFCEA9E3}"/>
              </a:ext>
            </a:extLst>
          </p:cNvPr>
          <p:cNvSpPr>
            <a:spLocks noGrp="1"/>
          </p:cNvSpPr>
          <p:nvPr/>
        </p:nvSpPr>
        <p:spPr>
          <a:xfrm>
            <a:off x="8372475" y="3667125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an empty board.</a:t>
            </a:r>
          </a:p>
        </p:txBody>
      </p:sp>
      <p:sp>
        <p:nvSpPr>
          <p:cNvPr id="19" name="surface">
            <a:extLst>
              <a:ext uri="{FF2B5EF4-FFF2-40B4-BE49-F238E27FC236}">
                <a16:creationId xmlns:a16="http://schemas.microsoft.com/office/drawing/2014/main" id="{6AE32592-BD09-4354-863F-2CBC4B5B3499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ference: reference/04.cpp">
            <a:extLst>
              <a:ext uri="{FF2B5EF4-FFF2-40B4-BE49-F238E27FC236}">
                <a16:creationId xmlns:a16="http://schemas.microsoft.com/office/drawing/2014/main" id="{13742EF2-3F4B-4614-B903-E798712CF207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Reference: reference/04.cpp</a:t>
            </a:r>
          </a:p>
        </p:txBody>
      </p:sp>
    </p:spTree>
    <p:extLst>
      <p:ext uri="{BB962C8B-B14F-4D97-AF65-F5344CB8AC3E}">
        <p14:creationId xmlns:p14="http://schemas.microsoft.com/office/powerpoint/2010/main" val="40311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TEP 5 · REFERENCE/05.CPP">
            <a:extLst>
              <a:ext uri="{FF2B5EF4-FFF2-40B4-BE49-F238E27FC236}">
                <a16:creationId xmlns:a16="http://schemas.microsoft.com/office/drawing/2014/main" id="{FD958070-F5A1-4084-8FA1-27D6BE93DBBE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STEP 5 · REFERENCE/05.CPP</a:t>
            </a:r>
          </a:p>
        </p:txBody>
      </p:sp>
      <p:sp>
        <p:nvSpPr>
          <p:cNvPr id="2" name="Checkpoint 5: polish the final game">
            <a:extLst>
              <a:ext uri="{FF2B5EF4-FFF2-40B4-BE49-F238E27FC236}">
                <a16:creationId xmlns:a16="http://schemas.microsoft.com/office/drawing/2014/main" id="{58EEEFEB-A9DE-40F9-92F2-919D596E22F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Checkpoint 5: polish the final game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2F8B2E99-66B0-4FB3-98EE-685E10DF12B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E1E1F45C-02BA-49C7-BD30-20AAF91C510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29">
            <a:extLst>
              <a:ext uri="{FF2B5EF4-FFF2-40B4-BE49-F238E27FC236}">
                <a16:creationId xmlns:a16="http://schemas.microsoft.com/office/drawing/2014/main" id="{21888CD5-BA95-435A-8D55-DAE0A16D2DFF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6" name="EDIT: symbol spacing in draw_board(); panel b">
            <a:extLst>
              <a:ext uri="{FF2B5EF4-FFF2-40B4-BE49-F238E27FC236}">
                <a16:creationId xmlns:a16="http://schemas.microsoft.com/office/drawing/2014/main" id="{85A30F2C-7446-4FDD-94B4-C70129B4083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EDIT: symbol spacing in draw_board(); panel before the result text</a:t>
            </a:r>
          </a:p>
        </p:txBody>
      </p:sp>
      <p:sp>
        <p:nvSpPr>
          <p:cNvPr id="7" name="Before">
            <a:extLst>
              <a:ext uri="{FF2B5EF4-FFF2-40B4-BE49-F238E27FC236}">
                <a16:creationId xmlns:a16="http://schemas.microsoft.com/office/drawing/2014/main" id="{DCD68C8D-DE08-4BE7-9D18-D0A436AC6EFD}"/>
              </a:ext>
            </a:extLst>
          </p:cNvPr>
          <p:cNvSpPr>
            <a:spLocks noGrp="1"/>
          </p:cNvSpPr>
          <p:nvPr/>
        </p:nvSpPr>
        <p:spPr>
          <a:xfrm>
            <a:off x="838200" y="1990725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Before</a:t>
            </a:r>
          </a:p>
        </p:txBody>
      </p:sp>
      <p:sp>
        <p:nvSpPr>
          <p:cNvPr id="8" name="After">
            <a:extLst>
              <a:ext uri="{FF2B5EF4-FFF2-40B4-BE49-F238E27FC236}">
                <a16:creationId xmlns:a16="http://schemas.microsoft.com/office/drawing/2014/main" id="{6D340E3E-72CB-457E-9C96-6E45326296AD}"/>
              </a:ext>
            </a:extLst>
          </p:cNvPr>
          <p:cNvSpPr>
            <a:spLocks noGrp="1"/>
          </p:cNvSpPr>
          <p:nvPr/>
        </p:nvSpPr>
        <p:spPr>
          <a:xfrm>
            <a:off x="3543300" y="1990725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After</a:t>
            </a:r>
          </a:p>
        </p:txBody>
      </p:sp>
      <p:sp>
        <p:nvSpPr>
          <p:cNvPr id="9" name="surface">
            <a:extLst>
              <a:ext uri="{FF2B5EF4-FFF2-40B4-BE49-F238E27FC236}">
                <a16:creationId xmlns:a16="http://schemas.microsoft.com/office/drawing/2014/main" id="{53096AE3-65FD-4AB6-87E8-CE963933A61D}"/>
              </a:ext>
            </a:extLst>
          </p:cNvPr>
          <p:cNvSpPr>
            <a:spLocks noGrp="1"/>
          </p:cNvSpPr>
          <p:nvPr/>
        </p:nvSpPr>
        <p:spPr>
          <a:xfrm>
            <a:off x="1457325" y="2419350"/>
            <a:ext cx="9525" cy="185737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urface">
            <a:extLst>
              <a:ext uri="{FF2B5EF4-FFF2-40B4-BE49-F238E27FC236}">
                <a16:creationId xmlns:a16="http://schemas.microsoft.com/office/drawing/2014/main" id="{83E9EE02-83B6-48AC-B3BE-436FA246BA07}"/>
              </a:ext>
            </a:extLst>
          </p:cNvPr>
          <p:cNvSpPr>
            <a:spLocks noGrp="1"/>
          </p:cNvSpPr>
          <p:nvPr/>
        </p:nvSpPr>
        <p:spPr>
          <a:xfrm>
            <a:off x="838200" y="3038475"/>
            <a:ext cx="1857375" cy="952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urface">
            <a:extLst>
              <a:ext uri="{FF2B5EF4-FFF2-40B4-BE49-F238E27FC236}">
                <a16:creationId xmlns:a16="http://schemas.microsoft.com/office/drawing/2014/main" id="{0CD2508F-0CAB-42F8-9FFA-23C84FD15083}"/>
              </a:ext>
            </a:extLst>
          </p:cNvPr>
          <p:cNvSpPr>
            <a:spLocks noGrp="1"/>
          </p:cNvSpPr>
          <p:nvPr/>
        </p:nvSpPr>
        <p:spPr>
          <a:xfrm>
            <a:off x="2076450" y="2419350"/>
            <a:ext cx="9525" cy="185737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urface">
            <a:extLst>
              <a:ext uri="{FF2B5EF4-FFF2-40B4-BE49-F238E27FC236}">
                <a16:creationId xmlns:a16="http://schemas.microsoft.com/office/drawing/2014/main" id="{C32E43D8-16EC-43BD-846F-956F552E346C}"/>
              </a:ext>
            </a:extLst>
          </p:cNvPr>
          <p:cNvSpPr>
            <a:spLocks noGrp="1"/>
          </p:cNvSpPr>
          <p:nvPr/>
        </p:nvSpPr>
        <p:spPr>
          <a:xfrm>
            <a:off x="838200" y="3657600"/>
            <a:ext cx="1857375" cy="952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B825E787-5668-49B7-87E8-1C02AB3E7727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619125" cy="6191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7D8BE219-D194-4551-A553-F4E13347DFF8}"/>
              </a:ext>
            </a:extLst>
          </p:cNvPr>
          <p:cNvSpPr>
            <a:spLocks noGrp="1"/>
          </p:cNvSpPr>
          <p:nvPr/>
        </p:nvSpPr>
        <p:spPr>
          <a:xfrm flipH="1">
            <a:off x="838200" y="2419350"/>
            <a:ext cx="619125" cy="6191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63E2AAE5-D6BA-4101-9885-66D6FB31B527}"/>
              </a:ext>
            </a:extLst>
          </p:cNvPr>
          <p:cNvSpPr>
            <a:spLocks noGrp="1"/>
          </p:cNvSpPr>
          <p:nvPr/>
        </p:nvSpPr>
        <p:spPr>
          <a:xfrm>
            <a:off x="1457325" y="2419350"/>
            <a:ext cx="619125" cy="6191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994F5111-CB38-4ABF-A138-1C2301B5FA95}"/>
              </a:ext>
            </a:extLst>
          </p:cNvPr>
          <p:cNvSpPr>
            <a:spLocks noGrp="1"/>
          </p:cNvSpPr>
          <p:nvPr/>
        </p:nvSpPr>
        <p:spPr>
          <a:xfrm flipH="1">
            <a:off x="1457325" y="2419350"/>
            <a:ext cx="619125" cy="6191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2A60B6F0-6BE4-486D-8AFF-26E5E20FCA6C}"/>
              </a:ext>
            </a:extLst>
          </p:cNvPr>
          <p:cNvSpPr>
            <a:spLocks noGrp="1"/>
          </p:cNvSpPr>
          <p:nvPr/>
        </p:nvSpPr>
        <p:spPr>
          <a:xfrm>
            <a:off x="2076450" y="2419350"/>
            <a:ext cx="619125" cy="6191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86DFB547-E24F-42D6-AB03-0B0C7199BFE8}"/>
              </a:ext>
            </a:extLst>
          </p:cNvPr>
          <p:cNvSpPr>
            <a:spLocks noGrp="1"/>
          </p:cNvSpPr>
          <p:nvPr/>
        </p:nvSpPr>
        <p:spPr>
          <a:xfrm flipH="1">
            <a:off x="2076450" y="2419350"/>
            <a:ext cx="619125" cy="6191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5267A4A-7C5B-47F9-82B7-0D368E498E9B}"/>
              </a:ext>
            </a:extLst>
          </p:cNvPr>
          <p:cNvSpPr>
            <a:spLocks noGrp="1"/>
          </p:cNvSpPr>
          <p:nvPr/>
        </p:nvSpPr>
        <p:spPr>
          <a:xfrm>
            <a:off x="838200" y="3038475"/>
            <a:ext cx="619125" cy="619125"/>
          </a:xfrm>
          <a:prstGeom prst="ellipse">
            <a:avLst/>
          </a:prstGeom>
          <a:noFill/>
          <a:ln w="19050">
            <a:solidFill>
              <a:srgbClr val="287D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BA01AFE-D770-4D81-9EF7-EE2C5D69021D}"/>
              </a:ext>
            </a:extLst>
          </p:cNvPr>
          <p:cNvSpPr>
            <a:spLocks noGrp="1"/>
          </p:cNvSpPr>
          <p:nvPr/>
        </p:nvSpPr>
        <p:spPr>
          <a:xfrm>
            <a:off x="1457325" y="3038475"/>
            <a:ext cx="619125" cy="619125"/>
          </a:xfrm>
          <a:prstGeom prst="ellipse">
            <a:avLst/>
          </a:prstGeom>
          <a:noFill/>
          <a:ln w="19050">
            <a:solidFill>
              <a:srgbClr val="287D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urface">
            <a:extLst>
              <a:ext uri="{FF2B5EF4-FFF2-40B4-BE49-F238E27FC236}">
                <a16:creationId xmlns:a16="http://schemas.microsoft.com/office/drawing/2014/main" id="{E71C4142-FA20-4338-AD4E-F9180AFD295D}"/>
              </a:ext>
            </a:extLst>
          </p:cNvPr>
          <p:cNvSpPr>
            <a:spLocks noGrp="1"/>
          </p:cNvSpPr>
          <p:nvPr/>
        </p:nvSpPr>
        <p:spPr>
          <a:xfrm>
            <a:off x="4162425" y="2419350"/>
            <a:ext cx="9525" cy="185737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urface">
            <a:extLst>
              <a:ext uri="{FF2B5EF4-FFF2-40B4-BE49-F238E27FC236}">
                <a16:creationId xmlns:a16="http://schemas.microsoft.com/office/drawing/2014/main" id="{D8D07214-851A-4EF9-83E5-98B32FB5B8E2}"/>
              </a:ext>
            </a:extLst>
          </p:cNvPr>
          <p:cNvSpPr>
            <a:spLocks noGrp="1"/>
          </p:cNvSpPr>
          <p:nvPr/>
        </p:nvSpPr>
        <p:spPr>
          <a:xfrm>
            <a:off x="3543300" y="3038475"/>
            <a:ext cx="1857375" cy="952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urface">
            <a:extLst>
              <a:ext uri="{FF2B5EF4-FFF2-40B4-BE49-F238E27FC236}">
                <a16:creationId xmlns:a16="http://schemas.microsoft.com/office/drawing/2014/main" id="{379A33C7-6CAE-459D-9975-5E5475564095}"/>
              </a:ext>
            </a:extLst>
          </p:cNvPr>
          <p:cNvSpPr>
            <a:spLocks noGrp="1"/>
          </p:cNvSpPr>
          <p:nvPr/>
        </p:nvSpPr>
        <p:spPr>
          <a:xfrm>
            <a:off x="4781550" y="2419350"/>
            <a:ext cx="9525" cy="185737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urface">
            <a:extLst>
              <a:ext uri="{FF2B5EF4-FFF2-40B4-BE49-F238E27FC236}">
                <a16:creationId xmlns:a16="http://schemas.microsoft.com/office/drawing/2014/main" id="{8B463129-8446-4B9F-9187-9BEDA7280A23}"/>
              </a:ext>
            </a:extLst>
          </p:cNvPr>
          <p:cNvSpPr>
            <a:spLocks noGrp="1"/>
          </p:cNvSpPr>
          <p:nvPr/>
        </p:nvSpPr>
        <p:spPr>
          <a:xfrm>
            <a:off x="3543300" y="3657600"/>
            <a:ext cx="1857375" cy="9525"/>
          </a:xfrm>
          <a:prstGeom prst="rect">
            <a:avLst/>
          </a:prstGeom>
          <a:solidFill>
            <a:srgbClr val="1722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33B44AC2-03C9-478D-BE06-F789049E5707}"/>
              </a:ext>
            </a:extLst>
          </p:cNvPr>
          <p:cNvSpPr>
            <a:spLocks noGrp="1"/>
          </p:cNvSpPr>
          <p:nvPr/>
        </p:nvSpPr>
        <p:spPr>
          <a:xfrm>
            <a:off x="3625850" y="2501900"/>
            <a:ext cx="454025" cy="4540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1DF878DB-620B-43AE-B1CE-ED6BDEBC223C}"/>
              </a:ext>
            </a:extLst>
          </p:cNvPr>
          <p:cNvSpPr>
            <a:spLocks noGrp="1"/>
          </p:cNvSpPr>
          <p:nvPr/>
        </p:nvSpPr>
        <p:spPr>
          <a:xfrm flipH="1">
            <a:off x="3625850" y="2501900"/>
            <a:ext cx="454025" cy="4540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75A48BD0-62BD-4C19-892B-E98037CE2231}"/>
              </a:ext>
            </a:extLst>
          </p:cNvPr>
          <p:cNvSpPr>
            <a:spLocks noGrp="1"/>
          </p:cNvSpPr>
          <p:nvPr/>
        </p:nvSpPr>
        <p:spPr>
          <a:xfrm>
            <a:off x="4244975" y="2501900"/>
            <a:ext cx="454025" cy="4540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F56B0847-C563-41B4-969A-542B9F69540A}"/>
              </a:ext>
            </a:extLst>
          </p:cNvPr>
          <p:cNvSpPr>
            <a:spLocks noGrp="1"/>
          </p:cNvSpPr>
          <p:nvPr/>
        </p:nvSpPr>
        <p:spPr>
          <a:xfrm flipH="1">
            <a:off x="4244975" y="2501900"/>
            <a:ext cx="454025" cy="4540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直線接點 28">
            <a:extLst>
              <a:ext uri="{FF2B5EF4-FFF2-40B4-BE49-F238E27FC236}">
                <a16:creationId xmlns:a16="http://schemas.microsoft.com/office/drawing/2014/main" id="{023E6C3F-E90E-464B-A0F1-18C49EF07A27}"/>
              </a:ext>
            </a:extLst>
          </p:cNvPr>
          <p:cNvSpPr>
            <a:spLocks noGrp="1"/>
          </p:cNvSpPr>
          <p:nvPr/>
        </p:nvSpPr>
        <p:spPr>
          <a:xfrm>
            <a:off x="4864100" y="2501900"/>
            <a:ext cx="454025" cy="4540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直線接點 29">
            <a:extLst>
              <a:ext uri="{FF2B5EF4-FFF2-40B4-BE49-F238E27FC236}">
                <a16:creationId xmlns:a16="http://schemas.microsoft.com/office/drawing/2014/main" id="{35961EF4-788D-48A6-81A6-D23554476244}"/>
              </a:ext>
            </a:extLst>
          </p:cNvPr>
          <p:cNvSpPr>
            <a:spLocks noGrp="1"/>
          </p:cNvSpPr>
          <p:nvPr/>
        </p:nvSpPr>
        <p:spPr>
          <a:xfrm flipH="1">
            <a:off x="4864100" y="2501900"/>
            <a:ext cx="454025" cy="454025"/>
          </a:xfrm>
          <a:prstGeom prst="line">
            <a:avLst/>
          </a:prstGeom>
          <a:noFill/>
          <a:ln w="19050">
            <a:solidFill>
              <a:srgbClr val="297C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DFF3BBAE-D947-462C-8F47-5205AB4B4BE7}"/>
              </a:ext>
            </a:extLst>
          </p:cNvPr>
          <p:cNvSpPr>
            <a:spLocks noGrp="1"/>
          </p:cNvSpPr>
          <p:nvPr/>
        </p:nvSpPr>
        <p:spPr>
          <a:xfrm>
            <a:off x="3625850" y="3121025"/>
            <a:ext cx="454025" cy="454025"/>
          </a:xfrm>
          <a:prstGeom prst="ellipse">
            <a:avLst/>
          </a:prstGeom>
          <a:noFill/>
          <a:ln w="19050">
            <a:solidFill>
              <a:srgbClr val="287D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D721276-1E98-4BE7-991B-40540CA63441}"/>
              </a:ext>
            </a:extLst>
          </p:cNvPr>
          <p:cNvSpPr>
            <a:spLocks noGrp="1"/>
          </p:cNvSpPr>
          <p:nvPr/>
        </p:nvSpPr>
        <p:spPr>
          <a:xfrm>
            <a:off x="4244975" y="3121025"/>
            <a:ext cx="454025" cy="454025"/>
          </a:xfrm>
          <a:prstGeom prst="ellipse">
            <a:avLst/>
          </a:prstGeom>
          <a:noFill/>
          <a:ln w="19050">
            <a:solidFill>
              <a:srgbClr val="287D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urface">
            <a:extLst>
              <a:ext uri="{FF2B5EF4-FFF2-40B4-BE49-F238E27FC236}">
                <a16:creationId xmlns:a16="http://schemas.microsoft.com/office/drawing/2014/main" id="{A15B5E84-5C45-4CA6-906E-B814594632F0}"/>
              </a:ext>
            </a:extLst>
          </p:cNvPr>
          <p:cNvSpPr>
            <a:spLocks noGrp="1"/>
          </p:cNvSpPr>
          <p:nvPr/>
        </p:nvSpPr>
        <p:spPr>
          <a:xfrm>
            <a:off x="4059238" y="3100388"/>
            <a:ext cx="825500" cy="33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7223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X wins">
            <a:extLst>
              <a:ext uri="{FF2B5EF4-FFF2-40B4-BE49-F238E27FC236}">
                <a16:creationId xmlns:a16="http://schemas.microsoft.com/office/drawing/2014/main" id="{5199AE91-CD10-468B-82E1-1A92F7206E4F}"/>
              </a:ext>
            </a:extLst>
          </p:cNvPr>
          <p:cNvSpPr>
            <a:spLocks noGrp="1"/>
          </p:cNvSpPr>
          <p:nvPr/>
        </p:nvSpPr>
        <p:spPr>
          <a:xfrm>
            <a:off x="4059238" y="3148013"/>
            <a:ext cx="825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25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 wins</a:t>
            </a:r>
          </a:p>
        </p:txBody>
      </p:sp>
      <p:sp>
        <p:nvSpPr>
          <p:cNvPr id="35" name="Schematic comparison">
            <a:extLst>
              <a:ext uri="{FF2B5EF4-FFF2-40B4-BE49-F238E27FC236}">
                <a16:creationId xmlns:a16="http://schemas.microsoft.com/office/drawing/2014/main" id="{43866CE7-378D-4559-AA86-949DAE8DA8B3}"/>
              </a:ext>
            </a:extLst>
          </p:cNvPr>
          <p:cNvSpPr>
            <a:spLocks noGrp="1"/>
          </p:cNvSpPr>
          <p:nvPr/>
        </p:nvSpPr>
        <p:spPr>
          <a:xfrm>
            <a:off x="838200" y="43719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Schematic comparison</a:t>
            </a:r>
          </a:p>
        </p:txBody>
      </p:sp>
      <p:sp>
        <p:nvSpPr>
          <p:cNvPr id="36" name="X: inset all endpoints by 40 px.">
            <a:extLst>
              <a:ext uri="{FF2B5EF4-FFF2-40B4-BE49-F238E27FC236}">
                <a16:creationId xmlns:a16="http://schemas.microsoft.com/office/drawing/2014/main" id="{1FEE7A04-B953-4618-A5E3-D8ACA00E39B2}"/>
              </a:ext>
            </a:extLst>
          </p:cNvPr>
          <p:cNvSpPr>
            <a:spLocks noGrp="1"/>
          </p:cNvSpPr>
          <p:nvPr/>
        </p:nvSpPr>
        <p:spPr>
          <a:xfrm>
            <a:off x="6267450" y="2324100"/>
            <a:ext cx="53149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X: inset all endpoints by 40 px.</a:t>
            </a:r>
          </a:p>
        </p:txBody>
      </p:sp>
      <p:sp>
        <p:nvSpPr>
          <p:cNvPr id="37" name="O: keep the center; use radius">
            <a:extLst>
              <a:ext uri="{FF2B5EF4-FFF2-40B4-BE49-F238E27FC236}">
                <a16:creationId xmlns:a16="http://schemas.microsoft.com/office/drawing/2014/main" id="{FAE051DD-BE4F-42F3-95AD-0617CD28FDB2}"/>
              </a:ext>
            </a:extLst>
          </p:cNvPr>
          <p:cNvSpPr>
            <a:spLocks noGrp="1"/>
          </p:cNvSpPr>
          <p:nvPr/>
        </p:nvSpPr>
        <p:spPr>
          <a:xfrm>
            <a:off x="6267450" y="2828925"/>
            <a:ext cx="53149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O: keep the center; use radius</a:t>
            </a:r>
          </a:p>
        </p:txBody>
      </p:sp>
      <p:sp>
        <p:nvSpPr>
          <p:cNvPr id="38" name="300 / 2.0f - 40.0f.">
            <a:extLst>
              <a:ext uri="{FF2B5EF4-FFF2-40B4-BE49-F238E27FC236}">
                <a16:creationId xmlns:a16="http://schemas.microsoft.com/office/drawing/2014/main" id="{E3D92FFC-A038-48C1-8E0C-22501FCEB9D8}"/>
              </a:ext>
            </a:extLst>
          </p:cNvPr>
          <p:cNvSpPr>
            <a:spLocks noGrp="1"/>
          </p:cNvSpPr>
          <p:nvPr/>
        </p:nvSpPr>
        <p:spPr>
          <a:xfrm>
            <a:off x="6267450" y="3333750"/>
            <a:ext cx="53149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300 / 2.0f - 40.0f.</a:t>
            </a:r>
          </a:p>
        </p:txBody>
      </p:sp>
      <p:sp>
        <p:nvSpPr>
          <p:cNvPr id="39" name="Replay a win and a restart.">
            <a:extLst>
              <a:ext uri="{FF2B5EF4-FFF2-40B4-BE49-F238E27FC236}">
                <a16:creationId xmlns:a16="http://schemas.microsoft.com/office/drawing/2014/main" id="{19EDA1E0-169E-496F-9E26-3B601218D2E1}"/>
              </a:ext>
            </a:extLst>
          </p:cNvPr>
          <p:cNvSpPr>
            <a:spLocks noGrp="1"/>
          </p:cNvSpPr>
          <p:nvPr/>
        </p:nvSpPr>
        <p:spPr>
          <a:xfrm>
            <a:off x="6267450" y="3838575"/>
            <a:ext cx="53149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Replay a win and a restart.</a:t>
            </a:r>
          </a:p>
        </p:txBody>
      </p:sp>
      <p:sp>
        <p:nvSpPr>
          <p:cNvPr id="40" name="ADD: before result text, inside the finished-">
            <a:extLst>
              <a:ext uri="{FF2B5EF4-FFF2-40B4-BE49-F238E27FC236}">
                <a16:creationId xmlns:a16="http://schemas.microsoft.com/office/drawing/2014/main" id="{26960D1D-F0F7-4CA2-BE2D-3031B4B310BD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ADD: before result text, inside the finished-game render branch</a:t>
            </a:r>
          </a:p>
        </p:txBody>
      </p:sp>
      <p:sp>
        <p:nvSpPr>
          <p:cNvPr id="41" name="surface">
            <a:extLst>
              <a:ext uri="{FF2B5EF4-FFF2-40B4-BE49-F238E27FC236}">
                <a16:creationId xmlns:a16="http://schemas.microsoft.com/office/drawing/2014/main" id="{5A3C5410-7371-4B8B-9B60-B887EC4D4BCE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894087"/>
          </a:xfrm>
          <a:prstGeom prst="roundRect">
            <a:avLst>
              <a:gd name="adj" fmla="val 8523"/>
            </a:avLst>
          </a:prstGeom>
          <a:solidFill>
            <a:srgbClr val="101A2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DrawRectangle(250, 330, 400, 160, RAYWHITE);">
            <a:extLst>
              <a:ext uri="{FF2B5EF4-FFF2-40B4-BE49-F238E27FC236}">
                <a16:creationId xmlns:a16="http://schemas.microsoft.com/office/drawing/2014/main" id="{00F0B522-FECE-4698-AEBF-B57C07E5637D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DrawRectangle(250, 330, 400, 160, RAYWHITE);</a:t>
            </a:r>
          </a:p>
        </p:txBody>
      </p:sp>
      <p:sp>
        <p:nvSpPr>
          <p:cNvPr id="43" name="DrawRectangleLines(250, 330, 400, 160, BLACK)">
            <a:extLst>
              <a:ext uri="{FF2B5EF4-FFF2-40B4-BE49-F238E27FC236}">
                <a16:creationId xmlns:a16="http://schemas.microsoft.com/office/drawing/2014/main" id="{2E3C52F8-3E8A-4415-BE07-78A908B227E7}"/>
              </a:ext>
            </a:extLst>
          </p:cNvPr>
          <p:cNvSpPr>
            <a:spLocks noGrp="1"/>
          </p:cNvSpPr>
          <p:nvPr/>
        </p:nvSpPr>
        <p:spPr>
          <a:xfrm>
            <a:off x="800100" y="5590544"/>
            <a:ext cx="10591800" cy="3232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DrawRectangleLines(250, 330, 400, 160, BLACK);</a:t>
            </a:r>
          </a:p>
        </p:txBody>
      </p:sp>
      <p:sp>
        <p:nvSpPr>
          <p:cNvPr id="44" name="Same rules, clearer drawing. Compare with ref">
            <a:extLst>
              <a:ext uri="{FF2B5EF4-FFF2-40B4-BE49-F238E27FC236}">
                <a16:creationId xmlns:a16="http://schemas.microsoft.com/office/drawing/2014/main" id="{B35EE97F-B1D5-4DCC-BF0E-C941DF0676BA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Same rules, clearer drawing. Compare with reference/05.cpp.</a:t>
            </a:r>
          </a:p>
        </p:txBody>
      </p:sp>
    </p:spTree>
    <p:extLst>
      <p:ext uri="{BB962C8B-B14F-4D97-AF65-F5344CB8AC3E}">
        <p14:creationId xmlns:p14="http://schemas.microsoft.com/office/powerpoint/2010/main" val="2087739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ORKSHOP REVIEW">
            <a:extLst>
              <a:ext uri="{FF2B5EF4-FFF2-40B4-BE49-F238E27FC236}">
                <a16:creationId xmlns:a16="http://schemas.microsoft.com/office/drawing/2014/main" id="{12A30747-94ED-4F42-9251-5A0650C35D4E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WORKSHOP REVIEW</a:t>
            </a:r>
          </a:p>
        </p:txBody>
      </p:sp>
      <p:sp>
        <p:nvSpPr>
          <p:cNvPr id="2" name="Explain the game without reading the code">
            <a:extLst>
              <a:ext uri="{FF2B5EF4-FFF2-40B4-BE49-F238E27FC236}">
                <a16:creationId xmlns:a16="http://schemas.microsoft.com/office/drawing/2014/main" id="{33D7C95A-B06F-47EA-89B3-7CB67ADE652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Explain the game without reading the code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E62BD474-AD82-4292-B5CF-A06597350DD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386F921E-F958-4183-AD6C-C04812A961C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30">
            <a:extLst>
              <a:ext uri="{FF2B5EF4-FFF2-40B4-BE49-F238E27FC236}">
                <a16:creationId xmlns:a16="http://schemas.microsoft.com/office/drawing/2014/main" id="{3D8930A3-D4B0-4D40-BF8F-2113AFCD4FC9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6" name="Board">
            <a:extLst>
              <a:ext uri="{FF2B5EF4-FFF2-40B4-BE49-F238E27FC236}">
                <a16:creationId xmlns:a16="http://schemas.microsoft.com/office/drawing/2014/main" id="{14C095F5-3315-4D48-B2D9-BC6AA926674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Board</a:t>
            </a:r>
          </a:p>
        </p:txBody>
      </p:sp>
      <p:sp>
        <p:nvSpPr>
          <p:cNvPr id="7" name="Where is a move remembered between frames?">
            <a:extLst>
              <a:ext uri="{FF2B5EF4-FFF2-40B4-BE49-F238E27FC236}">
                <a16:creationId xmlns:a16="http://schemas.microsoft.com/office/drawing/2014/main" id="{1745332E-4DDC-4995-8CA5-1FEDCEC16E1E}"/>
              </a:ext>
            </a:extLst>
          </p:cNvPr>
          <p:cNvSpPr>
            <a:spLocks noGrp="1"/>
          </p:cNvSpPr>
          <p:nvPr/>
        </p:nvSpPr>
        <p:spPr>
          <a:xfrm>
            <a:off x="2990850" y="1885950"/>
            <a:ext cx="85915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Where is a move remembered between frames?</a:t>
            </a:r>
          </a:p>
        </p:txBody>
      </p:sp>
      <p:sp>
        <p:nvSpPr>
          <p:cNvPr id="8" name="Coordinates">
            <a:extLst>
              <a:ext uri="{FF2B5EF4-FFF2-40B4-BE49-F238E27FC236}">
                <a16:creationId xmlns:a16="http://schemas.microsoft.com/office/drawing/2014/main" id="{E5A978F3-57BF-43BC-83C3-FC6B265EDC9C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Coordinates</a:t>
            </a:r>
          </a:p>
        </p:txBody>
      </p:sp>
      <p:sp>
        <p:nvSpPr>
          <p:cNvPr id="9" name="Why does mouse (742, 465) select board[1][2]?">
            <a:extLst>
              <a:ext uri="{FF2B5EF4-FFF2-40B4-BE49-F238E27FC236}">
                <a16:creationId xmlns:a16="http://schemas.microsoft.com/office/drawing/2014/main" id="{FD20A605-886E-479F-AAB7-4DDD0520790D}"/>
              </a:ext>
            </a:extLst>
          </p:cNvPr>
          <p:cNvSpPr>
            <a:spLocks noGrp="1"/>
          </p:cNvSpPr>
          <p:nvPr/>
        </p:nvSpPr>
        <p:spPr>
          <a:xfrm>
            <a:off x="2990850" y="2600325"/>
            <a:ext cx="85915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Why does mouse (742, 465) select board[1][2]?</a:t>
            </a:r>
          </a:p>
        </p:txBody>
      </p:sp>
      <p:sp>
        <p:nvSpPr>
          <p:cNvPr id="10" name="Validation">
            <a:extLst>
              <a:ext uri="{FF2B5EF4-FFF2-40B4-BE49-F238E27FC236}">
                <a16:creationId xmlns:a16="http://schemas.microsoft.com/office/drawing/2014/main" id="{7D3FBC9C-94E4-4171-A1B4-E474DF3B08A0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11" name="Why does clicking an occupied cell preserve t">
            <a:extLst>
              <a:ext uri="{FF2B5EF4-FFF2-40B4-BE49-F238E27FC236}">
                <a16:creationId xmlns:a16="http://schemas.microsoft.com/office/drawing/2014/main" id="{E4F342AE-2489-4C14-96FC-0CF34BC77C48}"/>
              </a:ext>
            </a:extLst>
          </p:cNvPr>
          <p:cNvSpPr>
            <a:spLocks noGrp="1"/>
          </p:cNvSpPr>
          <p:nvPr/>
        </p:nvSpPr>
        <p:spPr>
          <a:xfrm>
            <a:off x="2990850" y="3314700"/>
            <a:ext cx="85915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Why does clicking an occupied cell preserve the turn?</a:t>
            </a:r>
          </a:p>
        </p:txBody>
      </p:sp>
      <p:sp>
        <p:nvSpPr>
          <p:cNvPr id="12" name="Result">
            <a:extLst>
              <a:ext uri="{FF2B5EF4-FFF2-40B4-BE49-F238E27FC236}">
                <a16:creationId xmlns:a16="http://schemas.microsoft.com/office/drawing/2014/main" id="{7F0A5EFC-D93A-49FB-83D7-A621DBED06E6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13" name="Why do we test a win before testing a full bo">
            <a:extLst>
              <a:ext uri="{FF2B5EF4-FFF2-40B4-BE49-F238E27FC236}">
                <a16:creationId xmlns:a16="http://schemas.microsoft.com/office/drawing/2014/main" id="{46264C41-D29D-4A8B-BB76-56349F163E48}"/>
              </a:ext>
            </a:extLst>
          </p:cNvPr>
          <p:cNvSpPr>
            <a:spLocks noGrp="1"/>
          </p:cNvSpPr>
          <p:nvPr/>
        </p:nvSpPr>
        <p:spPr>
          <a:xfrm>
            <a:off x="2990850" y="4029075"/>
            <a:ext cx="85915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Why do we test a win before testing a full board?</a:t>
            </a:r>
          </a:p>
        </p:txBody>
      </p:sp>
      <p:sp>
        <p:nvSpPr>
          <p:cNvPr id="14" name="Restart">
            <a:extLst>
              <a:ext uri="{FF2B5EF4-FFF2-40B4-BE49-F238E27FC236}">
                <a16:creationId xmlns:a16="http://schemas.microsoft.com/office/drawing/2014/main" id="{3230D738-417B-429A-B42E-7E29970195DE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Restart</a:t>
            </a:r>
          </a:p>
        </p:txBody>
      </p:sp>
      <p:sp>
        <p:nvSpPr>
          <p:cNvPr id="15" name="Which values must change, and which click pla">
            <a:extLst>
              <a:ext uri="{FF2B5EF4-FFF2-40B4-BE49-F238E27FC236}">
                <a16:creationId xmlns:a16="http://schemas.microsoft.com/office/drawing/2014/main" id="{0D469CBC-22C6-466B-BEAD-A9CF1EEB76F5}"/>
              </a:ext>
            </a:extLst>
          </p:cNvPr>
          <p:cNvSpPr>
            <a:spLocks noGrp="1"/>
          </p:cNvSpPr>
          <p:nvPr/>
        </p:nvSpPr>
        <p:spPr>
          <a:xfrm>
            <a:off x="2990850" y="4743450"/>
            <a:ext cx="85915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Which values must change, and which click places X?</a:t>
            </a:r>
          </a:p>
        </p:txBody>
      </p:sp>
      <p:sp>
        <p:nvSpPr>
          <p:cNvPr id="16" name="surface">
            <a:extLst>
              <a:ext uri="{FF2B5EF4-FFF2-40B4-BE49-F238E27FC236}">
                <a16:creationId xmlns:a16="http://schemas.microsoft.com/office/drawing/2014/main" id="{ACED2B93-2B67-4315-B4AD-40FCD99396C1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You can now connect persistent data, valid in">
            <a:extLst>
              <a:ext uri="{FF2B5EF4-FFF2-40B4-BE49-F238E27FC236}">
                <a16:creationId xmlns:a16="http://schemas.microsoft.com/office/drawing/2014/main" id="{A775BA4E-EE09-4569-9DB1-E4B588B69EDC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You can now connect persistent data, valid input, state changes and drawing.</a:t>
            </a:r>
          </a:p>
        </p:txBody>
      </p:sp>
    </p:spTree>
    <p:extLst>
      <p:ext uri="{BB962C8B-B14F-4D97-AF65-F5344CB8AC3E}">
        <p14:creationId xmlns:p14="http://schemas.microsoft.com/office/powerpoint/2010/main" val="443546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PTIONAL EXTENSIONS">
            <a:extLst>
              <a:ext uri="{FF2B5EF4-FFF2-40B4-BE49-F238E27FC236}">
                <a16:creationId xmlns:a16="http://schemas.microsoft.com/office/drawing/2014/main" id="{FDFF25C8-40C4-4B93-8F90-8E7AEE98E20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OPTIONAL EXTENSIONS</a:t>
            </a:r>
          </a:p>
        </p:txBody>
      </p:sp>
      <p:sp>
        <p:nvSpPr>
          <p:cNvPr id="2" name="Choose a challenge after the workshop">
            <a:extLst>
              <a:ext uri="{FF2B5EF4-FFF2-40B4-BE49-F238E27FC236}">
                <a16:creationId xmlns:a16="http://schemas.microsoft.com/office/drawing/2014/main" id="{E0FCAA3D-739F-42F4-AA35-F2195E4BFDE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Choose a challenge after the workshop</a:t>
            </a:r>
          </a:p>
        </p:txBody>
      </p:sp>
      <p:sp>
        <p:nvSpPr>
          <p:cNvPr id="3" name="surface">
            <a:extLst>
              <a:ext uri="{FF2B5EF4-FFF2-40B4-BE49-F238E27FC236}">
                <a16:creationId xmlns:a16="http://schemas.microsoft.com/office/drawing/2014/main" id="{CC7570F2-85B3-4660-9735-2D4C9CFDAD7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DCE3E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Club · Tic Tac Toe">
            <a:extLst>
              <a:ext uri="{FF2B5EF4-FFF2-40B4-BE49-F238E27FC236}">
                <a16:creationId xmlns:a16="http://schemas.microsoft.com/office/drawing/2014/main" id="{51859E57-002F-4C16-9E73-BC43348FA13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Club · Tic Tac Toe</a:t>
            </a:r>
          </a:p>
        </p:txBody>
      </p:sp>
      <p:sp>
        <p:nvSpPr>
          <p:cNvPr id="5" name="31">
            <a:extLst>
              <a:ext uri="{FF2B5EF4-FFF2-40B4-BE49-F238E27FC236}">
                <a16:creationId xmlns:a16="http://schemas.microsoft.com/office/drawing/2014/main" id="{CAB0D60D-B8BA-4950-8921-46D19D796565}"/>
              </a:ext>
            </a:extLst>
          </p:cNvPr>
          <p:cNvSpPr>
            <a:spLocks noGrp="1"/>
          </p:cNvSpPr>
          <p:nvPr/>
        </p:nvSpPr>
        <p:spPr>
          <a:xfrm>
            <a:off x="11010900" y="654367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00" b="0">
                <a:solidFill>
                  <a:srgbClr val="45546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55469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6" name="Small change">
            <a:extLst>
              <a:ext uri="{FF2B5EF4-FFF2-40B4-BE49-F238E27FC236}">
                <a16:creationId xmlns:a16="http://schemas.microsoft.com/office/drawing/2014/main" id="{8FD5A871-84CE-4B7D-9129-FA3979A501BB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297C9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97C9F"/>
                </a:solidFill>
                <a:latin typeface="Calibri"/>
                <a:ea typeface="Calibri"/>
                <a:cs typeface="Calibri"/>
              </a:rPr>
              <a:t>Small change</a:t>
            </a:r>
          </a:p>
        </p:txBody>
      </p:sp>
      <p:sp>
        <p:nvSpPr>
          <p:cNvPr id="7" name="Change symbol colors or highlight the most re">
            <a:extLst>
              <a:ext uri="{FF2B5EF4-FFF2-40B4-BE49-F238E27FC236}">
                <a16:creationId xmlns:a16="http://schemas.microsoft.com/office/drawing/2014/main" id="{25197288-A538-4169-9309-1FFA56337F23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Change symbol colors or highlight the most recent move.</a:t>
            </a:r>
          </a:p>
        </p:txBody>
      </p:sp>
      <p:sp>
        <p:nvSpPr>
          <p:cNvPr id="8" name="More state">
            <a:extLst>
              <a:ext uri="{FF2B5EF4-FFF2-40B4-BE49-F238E27FC236}">
                <a16:creationId xmlns:a16="http://schemas.microsoft.com/office/drawing/2014/main" id="{D9ABF910-48A0-4246-ACCB-E0E72B93AB53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287D6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87D63"/>
                </a:solidFill>
                <a:latin typeface="Calibri"/>
                <a:ea typeface="Calibri"/>
                <a:cs typeface="Calibri"/>
              </a:rPr>
              <a:t>More state</a:t>
            </a:r>
          </a:p>
        </p:txBody>
      </p:sp>
      <p:sp>
        <p:nvSpPr>
          <p:cNvPr id="9" name="Keep X and O scores across rounds. Count each">
            <a:extLst>
              <a:ext uri="{FF2B5EF4-FFF2-40B4-BE49-F238E27FC236}">
                <a16:creationId xmlns:a16="http://schemas.microsoft.com/office/drawing/2014/main" id="{8366D85A-B660-48B0-A17E-09430269914A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Keep X and O scores across rounds. Count each result once.</a:t>
            </a:r>
          </a:p>
        </p:txBody>
      </p:sp>
      <p:sp>
        <p:nvSpPr>
          <p:cNvPr id="10" name="New rules: Gomoku">
            <a:extLst>
              <a:ext uri="{FF2B5EF4-FFF2-40B4-BE49-F238E27FC236}">
                <a16:creationId xmlns:a16="http://schemas.microsoft.com/office/drawing/2014/main" id="{BC26C41B-CCD6-458D-94F3-5FC188427ED8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>
                <a:solidFill>
                  <a:srgbClr val="906C1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906C13"/>
                </a:solidFill>
                <a:latin typeface="Calibri"/>
                <a:ea typeface="Calibri"/>
                <a:cs typeface="Calibri"/>
              </a:rPr>
              <a:t>New rules: Gomoku</a:t>
            </a:r>
          </a:p>
        </p:txBody>
      </p:sp>
      <p:sp>
        <p:nvSpPr>
          <p:cNvPr id="11" name="Use a larger board and detect five consecutiv">
            <a:extLst>
              <a:ext uri="{FF2B5EF4-FFF2-40B4-BE49-F238E27FC236}">
                <a16:creationId xmlns:a16="http://schemas.microsoft.com/office/drawing/2014/main" id="{5EF07B23-1283-4501-902A-98263F2EB4C6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Use a larger board and detect five consecutive matching pieces.</a:t>
            </a:r>
          </a:p>
        </p:txBody>
      </p:sp>
      <p:sp>
        <p:nvSpPr>
          <p:cNvPr id="12" name="surface">
            <a:extLst>
              <a:ext uri="{FF2B5EF4-FFF2-40B4-BE49-F238E27FC236}">
                <a16:creationId xmlns:a16="http://schemas.microsoft.com/office/drawing/2014/main" id="{ABE0FF66-9B05-4079-91A1-D760A0E735C2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409575"/>
          </a:xfrm>
          <a:prstGeom prst="rect">
            <a:avLst/>
          </a:prstGeom>
          <a:solidFill>
            <a:srgbClr val="EF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Gomoku needs generalized line checks. Enlargi">
            <a:extLst>
              <a:ext uri="{FF2B5EF4-FFF2-40B4-BE49-F238E27FC236}">
                <a16:creationId xmlns:a16="http://schemas.microsoft.com/office/drawing/2014/main" id="{26CE2849-E260-44B4-984C-D1D3D1F7C88A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7223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235"/>
                </a:solidFill>
                <a:latin typeface="Calibri"/>
                <a:ea typeface="Calibri"/>
                <a:cs typeface="Calibri"/>
              </a:rPr>
              <a:t>Gomoku needs generalized line checks. Enlarging the array alone is not enough.</a:t>
            </a:r>
          </a:p>
        </p:txBody>
      </p:sp>
    </p:spTree>
    <p:extLst>
      <p:ext uri="{BB962C8B-B14F-4D97-AF65-F5344CB8AC3E}">
        <p14:creationId xmlns:p14="http://schemas.microsoft.com/office/powerpoint/2010/main" val="10518397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7011</Words>
  <Application>Microsoft Office PowerPoint</Application>
  <DocSecurity>0</DocSecurity>
  <PresentationFormat>寬螢幕</PresentationFormat>
  <Paragraphs>998</Paragraphs>
  <Slides>31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4" baseType="lpstr"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Akil Adil</cp:lastModifiedBy>
  <cp:revision>1</cp:revision>
  <dcterms:created xsi:type="dcterms:W3CDTF">2026-09-11T06:44:05Z</dcterms:created>
  <dcterms:modified xsi:type="dcterms:W3CDTF">2026-09-11T07:07:24Z</dcterms:modified>
</cp:coreProperties>
</file>