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0fe129fc04ff6" /><Relationship Type="http://schemas.openxmlformats.org/officeDocument/2006/relationships/extended-properties" Target="/docProps/app.xml" Id="R63bc97723c3644af" /><Relationship Type="http://schemas.openxmlformats.org/officeDocument/2006/relationships/officeDocument" Target="/ppt/presentation.xml" Id="R66e4a82ca258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40c6d158bc4aea"/>
  </p:sldMasterIdLst>
  <p:notesMasterIdLst>
    <p:notesMasterId xmlns:r="http://schemas.openxmlformats.org/officeDocument/2006/relationships" r:id="R410b20bc9d5f42de"/>
  </p:notesMasterIdLst>
  <p:sldIdLst>
    <p:sldId xmlns:r="http://schemas.openxmlformats.org/officeDocument/2006/relationships" id="256" r:id="Rd1b706a60838403d"/>
    <p:sldId xmlns:r="http://schemas.openxmlformats.org/officeDocument/2006/relationships" id="257" r:id="R5f3c22852e2e4568"/>
    <p:sldId xmlns:r="http://schemas.openxmlformats.org/officeDocument/2006/relationships" id="258" r:id="Rd68b56c387dc4631"/>
    <p:sldId xmlns:r="http://schemas.openxmlformats.org/officeDocument/2006/relationships" id="259" r:id="Rb2694c222bf34904"/>
    <p:sldId xmlns:r="http://schemas.openxmlformats.org/officeDocument/2006/relationships" id="260" r:id="R4398709ab20f479e"/>
    <p:sldId xmlns:r="http://schemas.openxmlformats.org/officeDocument/2006/relationships" id="261" r:id="Rde3b104a0b154604"/>
    <p:sldId xmlns:r="http://schemas.openxmlformats.org/officeDocument/2006/relationships" id="262" r:id="Rb39e76e4a06c4b15"/>
    <p:sldId xmlns:r="http://schemas.openxmlformats.org/officeDocument/2006/relationships" id="263" r:id="R6aae1f1c047b4475"/>
    <p:sldId xmlns:r="http://schemas.openxmlformats.org/officeDocument/2006/relationships" id="264" r:id="Rdde50cadde484d24"/>
    <p:sldId xmlns:r="http://schemas.openxmlformats.org/officeDocument/2006/relationships" id="265" r:id="Rde88358432fd458c"/>
    <p:sldId xmlns:r="http://schemas.openxmlformats.org/officeDocument/2006/relationships" id="266" r:id="Rd5bf93054cdb4dd1"/>
    <p:sldId xmlns:r="http://schemas.openxmlformats.org/officeDocument/2006/relationships" id="267" r:id="R4912a74c55354793"/>
    <p:sldId xmlns:r="http://schemas.openxmlformats.org/officeDocument/2006/relationships" id="268" r:id="Rac990b43caba4e5e"/>
    <p:sldId xmlns:r="http://schemas.openxmlformats.org/officeDocument/2006/relationships" id="269" r:id="R90e576f0d23d4636"/>
    <p:sldId xmlns:r="http://schemas.openxmlformats.org/officeDocument/2006/relationships" id="270" r:id="R611ae6d4595d482b"/>
    <p:sldId xmlns:r="http://schemas.openxmlformats.org/officeDocument/2006/relationships" id="271" r:id="R53b9eb3965164e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d70ec18df4718" /><Relationship Type="http://schemas.openxmlformats.org/officeDocument/2006/relationships/slideMaster" Target="/ppt/slideMasters/slideMaster1.xml" Id="R4540c6d158bc4aea" /><Relationship Type="http://schemas.openxmlformats.org/officeDocument/2006/relationships/notesMaster" Target="/ppt/notesMasters/notesMaster1.xml" Id="R410b20bc9d5f42de" /><Relationship Type="http://schemas.openxmlformats.org/officeDocument/2006/relationships/presProps" Target="/ppt/presProps.xml" Id="Rbcfb2d5d20e34d61" /><Relationship Type="http://schemas.openxmlformats.org/officeDocument/2006/relationships/viewProps" Target="/ppt/viewProps.xml" Id="R9c496b7f406c45c0" /><Relationship Type="http://schemas.openxmlformats.org/officeDocument/2006/relationships/tableStyles" Target="/ppt/tableStyles.xml" Id="R57ed8a1331084e58" /><Relationship Type="http://schemas.openxmlformats.org/officeDocument/2006/relationships/slide" Target="/ppt/slides/slide1.xml" Id="Rd1b706a60838403d" /><Relationship Type="http://schemas.openxmlformats.org/officeDocument/2006/relationships/slide" Target="/ppt/slides/slide2.xml" Id="R5f3c22852e2e4568" /><Relationship Type="http://schemas.openxmlformats.org/officeDocument/2006/relationships/slide" Target="/ppt/slides/slide3.xml" Id="Rd68b56c387dc4631" /><Relationship Type="http://schemas.openxmlformats.org/officeDocument/2006/relationships/slide" Target="/ppt/slides/slide4.xml" Id="Rb2694c222bf34904" /><Relationship Type="http://schemas.openxmlformats.org/officeDocument/2006/relationships/slide" Target="/ppt/slides/slide5.xml" Id="R4398709ab20f479e" /><Relationship Type="http://schemas.openxmlformats.org/officeDocument/2006/relationships/slide" Target="/ppt/slides/slide6.xml" Id="Rde3b104a0b154604" /><Relationship Type="http://schemas.openxmlformats.org/officeDocument/2006/relationships/slide" Target="/ppt/slides/slide7.xml" Id="Rb39e76e4a06c4b15" /><Relationship Type="http://schemas.openxmlformats.org/officeDocument/2006/relationships/slide" Target="/ppt/slides/slide8.xml" Id="R6aae1f1c047b4475" /><Relationship Type="http://schemas.openxmlformats.org/officeDocument/2006/relationships/slide" Target="/ppt/slides/slide9.xml" Id="Rdde50cadde484d24" /><Relationship Type="http://schemas.openxmlformats.org/officeDocument/2006/relationships/slide" Target="/ppt/slides/slide10.xml" Id="Rde88358432fd458c" /><Relationship Type="http://schemas.openxmlformats.org/officeDocument/2006/relationships/slide" Target="/ppt/slides/slide11.xml" Id="Rd5bf93054cdb4dd1" /><Relationship Type="http://schemas.openxmlformats.org/officeDocument/2006/relationships/slide" Target="/ppt/slides/slide12.xml" Id="R4912a74c55354793" /><Relationship Type="http://schemas.openxmlformats.org/officeDocument/2006/relationships/slide" Target="/ppt/slides/slide13.xml" Id="Rac990b43caba4e5e" /><Relationship Type="http://schemas.openxmlformats.org/officeDocument/2006/relationships/slide" Target="/ppt/slides/slide14.xml" Id="R90e576f0d23d4636" /><Relationship Type="http://schemas.openxmlformats.org/officeDocument/2006/relationships/slide" Target="/ppt/slides/slide15.xml" Id="R611ae6d4595d482b" /><Relationship Type="http://schemas.openxmlformats.org/officeDocument/2006/relationships/slide" Target="/ppt/slides/slide16.xml" Id="R53b9eb3965164e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7b3fde92a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1406dee9143a0" /><Relationship Type="http://schemas.openxmlformats.org/officeDocument/2006/relationships/notesMaster" Target="/ppt/notesMasters/notesMaster1.xml" Id="Rd268401bccca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a026fb1fc4ad0" /><Relationship Type="http://schemas.openxmlformats.org/officeDocument/2006/relationships/notesMaster" Target="/ppt/notesMasters/notesMaster1.xml" Id="R0721ecee2178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7c9e3b47e64934" /><Relationship Type="http://schemas.openxmlformats.org/officeDocument/2006/relationships/notesMaster" Target="/ppt/notesMasters/notesMaster1.xml" Id="Rbeb92a1feadc47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a4592f8af34482" /><Relationship Type="http://schemas.openxmlformats.org/officeDocument/2006/relationships/notesMaster" Target="/ppt/notesMasters/notesMaster1.xml" Id="Rbbb73af4585b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ced3788c26429f" /><Relationship Type="http://schemas.openxmlformats.org/officeDocument/2006/relationships/notesMaster" Target="/ppt/notesMasters/notesMaster1.xml" Id="R1e07f3ca903c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48cce28454c54" /><Relationship Type="http://schemas.openxmlformats.org/officeDocument/2006/relationships/notesMaster" Target="/ppt/notesMasters/notesMaster1.xml" Id="R58e756a08ad946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f25be1672b416d" /><Relationship Type="http://schemas.openxmlformats.org/officeDocument/2006/relationships/notesMaster" Target="/ppt/notesMasters/notesMaster1.xml" Id="R93ac25aab4b346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c992aaa9241e7" /><Relationship Type="http://schemas.openxmlformats.org/officeDocument/2006/relationships/notesMaster" Target="/ppt/notesMasters/notesMaster1.xml" Id="Rc26aaf809fdb4d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96695f47874a52" /><Relationship Type="http://schemas.openxmlformats.org/officeDocument/2006/relationships/notesMaster" Target="/ppt/notesMasters/notesMaster1.xml" Id="Raa306dd6b7304d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f9cbc83b6f4ed5" /><Relationship Type="http://schemas.openxmlformats.org/officeDocument/2006/relationships/notesMaster" Target="/ppt/notesMasters/notesMaster1.xml" Id="R989201230e3948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26a9339f134253" /><Relationship Type="http://schemas.openxmlformats.org/officeDocument/2006/relationships/notesMaster" Target="/ppt/notesMasters/notesMaster1.xml" Id="R422d21d3c50e41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c089b8314046d6" /><Relationship Type="http://schemas.openxmlformats.org/officeDocument/2006/relationships/notesMaster" Target="/ppt/notesMasters/notesMaster1.xml" Id="Rec2afae46db74e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4111b43fdd4b1e" /><Relationship Type="http://schemas.openxmlformats.org/officeDocument/2006/relationships/notesMaster" Target="/ppt/notesMasters/notesMaster1.xml" Id="Rfc7b6a0245c640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776ca4769c4da0" /><Relationship Type="http://schemas.openxmlformats.org/officeDocument/2006/relationships/notesMaster" Target="/ppt/notesMasters/notesMaster1.xml" Id="R7984a1d9577745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5a2063f75e4f40" /><Relationship Type="http://schemas.openxmlformats.org/officeDocument/2006/relationships/notesMaster" Target="/ppt/notesMasters/notesMaster1.xml" Id="R85c11733e0ff4b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86648d20924770" /><Relationship Type="http://schemas.openxmlformats.org/officeDocument/2006/relationships/notesMaster" Target="/ppt/notesMasters/notesMaster1.xml" Id="R179500ed192d4c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preview the finished project and establish the lesson arc.</a:t>
            </a:r>
            <a:endParaRPr/>
          </a:p>
          <a:p xmlns:a="http://schemas.openxmlformats.org/drawingml/2006/main">
            <a:r>
              <a:t>中文提示：先运行最终版本，让学生只观察，不解释代码。</a:t>
            </a:r>
            <a:endParaRPr/>
          </a:p>
          <a:p xmlns:a="http://schemas.openxmlformats.org/drawingml/2006/main">
            <a:r>
              <a:t>Ask: What information must the program remember between clicks?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C:/Code/Club_code/1-TicTacToe/reference/05.cpp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define the behavior before discussing representation.</a:t>
            </a:r>
            <a:endParaRPr/>
          </a:p>
          <a:p xmlns:a="http://schemas.openxmlformats.org/drawingml/2006/main">
            <a:r>
              <a:t>中文提示：请学生说出程序需要记住的状态：棋盘、当前玩家、结果。</a:t>
            </a:r>
            <a:endParaRPr/>
          </a:p>
          <a:p xmlns:a="http://schemas.openxmlformats.org/drawingml/2006/main">
            <a:r>
              <a:t>Ask: How does the computer know a cell is empty?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C:/Code/Club_code/1-TicTacToe/reference/05.cpp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connect this project to the Introduction lesson.</a:t>
            </a:r>
            <a:endParaRPr/>
          </a:p>
          <a:p xmlns:a="http://schemas.openxmlformats.org/drawingml/2006/main">
            <a:r>
              <a:t>中文提示：强调不是学习一个全新的程序结构，而是在旧循环中加入游戏状态。</a:t>
            </a:r>
            <a:endParaRPr/>
          </a:p>
          <a:p xmlns:a="http://schemas.openxmlformats.org/drawingml/2006/main">
            <a:r>
              <a:t>Ask students to predict which lines belong to input and which belong to render.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motivate arrays through repetition.</a:t>
            </a:r>
            <a:endParaRPr/>
          </a:p>
          <a:p xmlns:a="http://schemas.openxmlformats.org/drawingml/2006/main">
            <a:r>
              <a:t>中文提示：先让学生想象要写 cell_0 到 cell_8，再问如果棋盘更大会怎样。</a:t>
            </a:r>
            <a:endParaRPr/>
          </a:p>
          <a:p xmlns:a="http://schemas.openxmlformats.org/drawingml/2006/main">
            <a:r>
              <a:t>Ask: What stays the same across all nine variables?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establish declaration, size, and zero-based indexing.</a:t>
            </a:r>
            <a:endParaRPr/>
          </a:p>
          <a:p xmlns:a="http://schemas.openxmlformats.org/drawingml/2006/main">
            <a:r>
              <a:t>中文提示：让学生指出 row[0]、row[1]、row[2] 的值。</a:t>
            </a:r>
            <a:endParaRPr/>
          </a:p>
          <a:p xmlns:a="http://schemas.openxmlformats.org/drawingml/2006/main">
            <a:r>
              <a:t>Ask: Is row[3] valid? Why not?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connect nested arrays to the visual board.</a:t>
            </a:r>
            <a:endParaRPr/>
          </a:p>
          <a:p xmlns:a="http://schemas.openxmlformats.org/drawingml/2006/main">
            <a:r>
              <a:t>中文提示：始终按 row 在前、column 在后朗读，避免学生把 x/y 和 row/column 混淆。</a:t>
            </a:r>
            <a:endParaRPr/>
          </a:p>
          <a:p xmlns:a="http://schemas.openxmlformats.org/drawingml/2006/main">
            <a:r>
              <a:t>Ask students to locate board[1][2] before revealing the highlight.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connect array indices, pixels, and mouse input.</a:t>
            </a:r>
            <a:endParaRPr/>
          </a:p>
          <a:p xmlns:a="http://schemas.openxmlformats.org/drawingml/2006/main">
            <a:r>
              <a:t>中文提示：x 对应 column，y 对应 row；除法从像素得到格子，乘法从格子回到像素。</a:t>
            </a:r>
            <a:endParaRPr/>
          </a:p>
          <a:p xmlns:a="http://schemas.openxmlformats.org/drawingml/2006/main">
            <a:r>
              <a:t>Ask: Which cell contains mouse position (742, 465)?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C:/Code/Club_code/1-TicTacToe/reference/03.cpp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explain top-down decomposition before the checkpoints.</a:t>
            </a:r>
            <a:endParaRPr/>
          </a:p>
          <a:p xmlns:a="http://schemas.openxmlformats.org/drawingml/2006/main">
            <a:r>
              <a:t>中文提示：这里强调函数职责，不要求学生立刻独立写出所有实现。</a:t>
            </a:r>
            <a:endParaRPr/>
          </a:p>
          <a:p xmlns:a="http://schemas.openxmlformats.org/drawingml/2006/main">
            <a:r>
              <a:t>Ask: Which functions read data, and which function draws?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match the exact state of reference/01.cpp.</a:t>
            </a:r>
            <a:endParaRPr/>
          </a:p>
          <a:p xmlns:a="http://schemas.openxmlformats.org/drawingml/2006/main">
            <a:r>
              <a:t>中文提示：运行后只有空白窗口是正确结果；这一阶段重点是程序地图。</a:t>
            </a:r>
            <a:endParaRPr/>
          </a:p>
          <a:p xmlns:a="http://schemas.openxmlformats.org/drawingml/2006/main">
            <a:r>
              <a:t>Checkpoint: open reference/01.cpp. Do not demonstrate clicking yet.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C:/Code/Club_code/1-TicTacToe/reference/01.cpp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match reference/02.cpp exactly: drawing exists, input does not.</a:t>
            </a:r>
            <a:endParaRPr/>
          </a:p>
          <a:p xmlns:a="http://schemas.openxmlformats.org/drawingml/2006/main">
            <a:r>
              <a:t>中文提示：reference 运行时棋盘为空，因此 X/O 图可通过讲解图或临时测试数据说明，不把测试数据写入 reference。</a:t>
            </a:r>
            <a:endParaRPr/>
          </a:p>
          <a:p xmlns:a="http://schemas.openxmlformats.org/drawingml/2006/main">
            <a:r>
              <a:t>Checkpoint: open reference/02.cpp. Point out the // input placeholder.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C:/Code/Club_code/1-TicTacToe/reference/02.cpp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explain only the first part of Step 3 while keeping the checkpoint label accurate.</a:t>
            </a:r>
            <a:endParaRPr/>
          </a:p>
          <a:p xmlns:a="http://schemas.openxmlformats.org/drawingml/2006/main">
            <a:r>
              <a:t>中文提示：先算 column，再算 row；强调窗口边界检查仍然在代码中。</a:t>
            </a:r>
            <a:endParaRPr/>
          </a:p>
          <a:p xmlns:a="http://schemas.openxmlformats.org/drawingml/2006/main">
            <a:r>
              <a:t>Checkpoint: stay in reference/03.cpp for slides 11–13.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C:/Code/Club_code/1-TicTacToe/reference/03.cpp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trace one valid move through the board state.</a:t>
            </a:r>
            <a:endParaRPr/>
          </a:p>
          <a:p xmlns:a="http://schemas.openxmlformats.org/drawingml/2006/main">
            <a:r>
              <a:t>中文提示：让学生预测重复点击同一格会发生什么，再指出空格判断。</a:t>
            </a:r>
            <a:endParaRPr/>
          </a:p>
          <a:p xmlns:a="http://schemas.openxmlformats.org/drawingml/2006/main">
            <a:r>
              <a:t>Checkpoint: this behavior is already inside reference/03.cpp.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C:/Code/Club_code/1-TicTacToe/reference/03.cpp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match the final behavior introduced by reference/03.cpp.</a:t>
            </a:r>
            <a:endParaRPr/>
          </a:p>
          <a:p xmlns:a="http://schemas.openxmlformats.org/drawingml/2006/main">
            <a:r>
              <a:t>中文提示：胜利判断必须先于棋盘已满判断；获胜后点击被停止，但画面仍只显示 Turn。</a:t>
            </a:r>
            <a:endParaRPr/>
          </a:p>
          <a:p xmlns:a="http://schemas.openxmlformats.org/drawingml/2006/main">
            <a:r>
              <a:t>Ask: Why should check_win run before is_board_full?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C:/Code/Club_code/1-TicTacToe/reference/03.cpp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show the exact additions in reference/04.cpp.</a:t>
            </a:r>
            <a:endParaRPr/>
          </a:p>
          <a:p xmlns:a="http://schemas.openxmlformats.org/drawingml/2006/main">
            <a:r>
              <a:t>中文提示：重置时三个状态必须一起恢复，否则会出现旧棋子、错误玩家或错误结果。</a:t>
            </a:r>
            <a:endParaRPr/>
          </a:p>
          <a:p xmlns:a="http://schemas.openxmlformats.org/drawingml/2006/main">
            <a:r>
              <a:t>Checkpoint: switch from reference/03.cpp to reference/04.cpp and compare the small diff.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C:/Code/Club_code/1-TicTacToe/reference/04.cpp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distinguish visual polish from game logic.</a:t>
            </a:r>
            <a:endParaRPr/>
          </a:p>
          <a:p xmlns:a="http://schemas.openxmlformats.org/drawingml/2006/main">
            <a:r>
              <a:t>中文提示：对比 04 和 05，指出坐标边距和结果背景框，没有修改输入与胜负逻辑。</a:t>
            </a:r>
            <a:endParaRPr/>
          </a:p>
          <a:p xmlns:a="http://schemas.openxmlformats.org/drawingml/2006/main">
            <a:r>
              <a:t>Checkpoint: open the diff between reference/04.cpp and reference/05.cpp.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C:/Code/Club_code/1-TicTacToe/reference/05.cpp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goal: transfer array and coordinate ideas to a larger problem without giving a full solution.</a:t>
            </a:r>
            <a:endParaRPr/>
          </a:p>
          <a:p xmlns:a="http://schemas.openxmlformats.org/drawingml/2006/main">
            <a:r>
              <a:t>中文提示：让学生找出当前代码中所有写死的 3 和 300，再讨论 check_win 为什么不能继续列举组合。</a:t>
            </a:r>
            <a:endParaRPr/>
          </a:p>
          <a:p xmlns:a="http://schemas.openxmlformats.org/drawingml/2006/main">
            <a:r>
              <a:t>Challenge levels: larger board, five-in-a-row scan, optional game features.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C:/Code/Club_code/1-TicTacToe/reference/05.cpp</a:t>
            </a:r>
            <a:endParaRPr/>
          </a:p>
          <a:p xmlns:a="http://schemas.openxmlformats.org/drawingml/2006/main">
            <a:r>
              <a:t>- C:/Code/Club_code/0-Introduction/raylib_club_introduction.pptx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e06776539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db218f76d4f77" /><Relationship Type="http://schemas.openxmlformats.org/officeDocument/2006/relationships/slideLayout" Target="/ppt/slideLayouts/slideLayout1.xml" Id="Rd7532a1da0e64e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32a1da0e64e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1d84160e46c7" /><Relationship Type="http://schemas.openxmlformats.org/officeDocument/2006/relationships/notesSlide" Target="/ppt/notesSlides/notesSlide1.xml" Id="Re081ad9d0aac4c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b996e3a64df2" /><Relationship Type="http://schemas.openxmlformats.org/officeDocument/2006/relationships/notesSlide" Target="/ppt/notesSlides/notesSlide2.xml" Id="Rcffdf174a8d0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df06e9a01451b" /><Relationship Type="http://schemas.openxmlformats.org/officeDocument/2006/relationships/notesSlide" Target="/ppt/notesSlides/notesSlide3.xml" Id="R6e84dbebc002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77d4332254ab2" /><Relationship Type="http://schemas.openxmlformats.org/officeDocument/2006/relationships/notesSlide" Target="/ppt/notesSlides/notesSlide4.xml" Id="R85a9079b6587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9b49ae9442ab" /><Relationship Type="http://schemas.openxmlformats.org/officeDocument/2006/relationships/notesSlide" Target="/ppt/notesSlides/notesSlide5.xml" Id="R02be48dc38714f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d300a19114e38" /><Relationship Type="http://schemas.openxmlformats.org/officeDocument/2006/relationships/notesSlide" Target="/ppt/notesSlides/notesSlide6.xml" Id="Ra911768d948643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880ef275b46cc" /><Relationship Type="http://schemas.openxmlformats.org/officeDocument/2006/relationships/notesSlide" Target="/ppt/notesSlides/notesSlide7.xml" Id="R72641594ce6e47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ff58f64842e9" /><Relationship Type="http://schemas.openxmlformats.org/officeDocument/2006/relationships/notesSlide" Target="/ppt/notesSlides/notesSlide8.xml" Id="Rd54229f4531f46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05280de644cb" /><Relationship Type="http://schemas.openxmlformats.org/officeDocument/2006/relationships/notesSlide" Target="/ppt/notesSlides/notesSlide9.xml" Id="R6fad8fcb526244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9c9bc54474eeb" /><Relationship Type="http://schemas.openxmlformats.org/officeDocument/2006/relationships/notesSlide" Target="/ppt/notesSlides/notesSlide10.xml" Id="Rbbdae345502a40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c3a9623d84df8" /><Relationship Type="http://schemas.openxmlformats.org/officeDocument/2006/relationships/notesSlide" Target="/ppt/notesSlides/notesSlide11.xml" Id="Radd59d3897bd47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8316f337d4f79" /><Relationship Type="http://schemas.openxmlformats.org/officeDocument/2006/relationships/notesSlide" Target="/ppt/notesSlides/notesSlide12.xml" Id="R40b4523ae06640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66fb538c4d86" /><Relationship Type="http://schemas.openxmlformats.org/officeDocument/2006/relationships/notesSlide" Target="/ppt/notesSlides/notesSlide13.xml" Id="R12c55f02939a4f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2c5a7bad4e65" /><Relationship Type="http://schemas.openxmlformats.org/officeDocument/2006/relationships/notesSlide" Target="/ppt/notesSlides/notesSlide14.xml" Id="Rcffb32cda2a945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b66ab78814736" /><Relationship Type="http://schemas.openxmlformats.org/officeDocument/2006/relationships/notesSlide" Target="/ppt/notesSlides/notesSlide15.xml" Id="R8e081cc0b8d647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f35338d8641de" /><Relationship Type="http://schemas.openxmlformats.org/officeDocument/2006/relationships/notesSlide" Target="/ppt/notesSlides/notesSlide16.xml" Id="R3790303db60f46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595CED7-A2AD-4A83-86A5-6097C00F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RAYLIB · CLUB PROJECT 01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3BBF5B2-4853-47C7-ACA5-890CC3E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4213D"/>
                </a:solidFill>
              </a:defRPr>
            </a:pPr>
            <a:r>
              <a:rPr sz="4050" b="1">
                <a:solidFill>
                  <a:srgbClr val="14213D"/>
                </a:solidFill>
              </a:rPr>
              <a:t>Build Tic Tac Toe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77C651-C4EF-4D30-9A8D-B2F71EB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A small game built with arrays, input, rules, and drawing.</a:t>
            </a:r>
          </a:p>
        </p:txBody>
      </p:sp>
      <p:sp>
        <p:nvSpPr>
          <p:cNvPr id="10" name="矩形: 圓角 9">
            <a:extLst xmlns:a="http://schemas.openxmlformats.org/drawingml/2006/main">
              <a:ext uri="{FF2B5EF4-FFF2-40B4-BE49-F238E27FC236}">
                <a16:creationId xmlns:a16="http://schemas.microsoft.com/office/drawing/2014/main" id="{37EFF9FA-6745-4618-BA6C-25946DA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0255"/>
            <a:ext cx="5276850" cy="3047999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CF77D43-B01A-4609-8EC1-8F441B1D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64748B"/>
                </a:solidFill>
              </a:defRPr>
            </a:pPr>
            <a:endParaRPr sz="2025" b="1">
              <a:solidFill>
                <a:srgbClr val="64748B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E74230-9907-4963-8991-C1D264F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E093722-278D-4B93-9ECC-20F6D286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16" name="lesson-box">
            <a:extLst xmlns:a="http://schemas.openxmlformats.org/drawingml/2006/main">
              <a:ext uri="{FF2B5EF4-FFF2-40B4-BE49-F238E27FC236}">
                <a16:creationId xmlns:a16="http://schemas.microsoft.com/office/drawing/2014/main" id="{1EB19250-4BC5-42D4-B85B-77C0D6A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D46AA29-C277-49A1-945F-35F71D4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By the end, you will be able to…</a:t>
            </a:r>
          </a:p>
        </p:txBody>
      </p:sp>
      <p:sp>
        <p:nvSpPr>
          <p:cNvPr id="1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694A0DF8-2495-4FAA-B394-DB07E3B8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• store a board in a 2D array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• turn mouse clicks into moves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• detect wins and draws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• restart and polish a complete game</a:t>
            </a:r>
          </a:p>
        </p:txBody>
      </p:sp>
      <p:sp>
        <p:nvSpPr>
          <p:cNvPr id="19" name="board-back">
            <a:extLst xmlns:a="http://schemas.openxmlformats.org/drawingml/2006/main">
              <a:ext uri="{FF2B5EF4-FFF2-40B4-BE49-F238E27FC236}">
                <a16:creationId xmlns:a16="http://schemas.microsoft.com/office/drawing/2014/main" id="{1CE7109B-4B24-47B4-9241-A1E2775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76425"/>
            <a:ext cx="32004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0" name="cell-0-0">
            <a:extLst xmlns:a="http://schemas.openxmlformats.org/drawingml/2006/main">
              <a:ext uri="{FF2B5EF4-FFF2-40B4-BE49-F238E27FC236}">
                <a16:creationId xmlns:a16="http://schemas.microsoft.com/office/drawing/2014/main" id="{7EBC7DEB-09C0-4E5E-94A9-D197AC6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1" name="piece-0-0">
            <a:extLst xmlns:a="http://schemas.openxmlformats.org/drawingml/2006/main">
              <a:ext uri="{FF2B5EF4-FFF2-40B4-BE49-F238E27FC236}">
                <a16:creationId xmlns:a16="http://schemas.microsoft.com/office/drawing/2014/main" id="{AB902307-284E-4682-A3C5-12E2941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2" name="cell-0-1">
            <a:extLst xmlns:a="http://schemas.openxmlformats.org/drawingml/2006/main">
              <a:ext uri="{FF2B5EF4-FFF2-40B4-BE49-F238E27FC236}">
                <a16:creationId xmlns:a16="http://schemas.microsoft.com/office/drawing/2014/main" id="{30AD0A8D-6A86-4487-94AF-2FB34DDE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3" name="cell-0-2">
            <a:extLst xmlns:a="http://schemas.openxmlformats.org/drawingml/2006/main">
              <a:ext uri="{FF2B5EF4-FFF2-40B4-BE49-F238E27FC236}">
                <a16:creationId xmlns:a16="http://schemas.microsoft.com/office/drawing/2014/main" id="{D6B021CB-845C-43AC-9EC1-D7C8AAA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4" name="piece-0-2">
            <a:extLst xmlns:a="http://schemas.openxmlformats.org/drawingml/2006/main">
              <a:ext uri="{FF2B5EF4-FFF2-40B4-BE49-F238E27FC236}">
                <a16:creationId xmlns:a16="http://schemas.microsoft.com/office/drawing/2014/main" id="{B55CCF85-0114-4C88-84EF-8DA4886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25" name="cell-1-0">
            <a:extLst xmlns:a="http://schemas.openxmlformats.org/drawingml/2006/main">
              <a:ext uri="{FF2B5EF4-FFF2-40B4-BE49-F238E27FC236}">
                <a16:creationId xmlns:a16="http://schemas.microsoft.com/office/drawing/2014/main" id="{347A530E-DFBA-4EDA-97B3-6502A880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6" name="cell-1-1">
            <a:extLst xmlns:a="http://schemas.openxmlformats.org/drawingml/2006/main">
              <a:ext uri="{FF2B5EF4-FFF2-40B4-BE49-F238E27FC236}">
                <a16:creationId xmlns:a16="http://schemas.microsoft.com/office/drawing/2014/main" id="{5E3D6691-0E86-45C5-B191-B96913B5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7" name="piece-1-1">
            <a:extLst xmlns:a="http://schemas.openxmlformats.org/drawingml/2006/main">
              <a:ext uri="{FF2B5EF4-FFF2-40B4-BE49-F238E27FC236}">
                <a16:creationId xmlns:a16="http://schemas.microsoft.com/office/drawing/2014/main" id="{84A988B0-5358-4185-9542-EE2A13E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8" name="cell-1-2">
            <a:extLst xmlns:a="http://schemas.openxmlformats.org/drawingml/2006/main">
              <a:ext uri="{FF2B5EF4-FFF2-40B4-BE49-F238E27FC236}">
                <a16:creationId xmlns:a16="http://schemas.microsoft.com/office/drawing/2014/main" id="{A3E95258-1BBE-4C61-B947-8ABEC88B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2BBB87A9-86AB-45ED-8795-7B4CD363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0" name="piece-2-0">
            <a:extLst xmlns:a="http://schemas.openxmlformats.org/drawingml/2006/main">
              <a:ext uri="{FF2B5EF4-FFF2-40B4-BE49-F238E27FC236}">
                <a16:creationId xmlns:a16="http://schemas.microsoft.com/office/drawing/2014/main" id="{82B002A3-BDCC-4C13-9AD6-2CA1CDAE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EDC90B8A-D0FC-41D2-AED0-168E24B2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B4445B26-D2FC-4B1A-ABA5-EAE9AF7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3" name="piece-2-2">
            <a:extLst xmlns:a="http://schemas.openxmlformats.org/drawingml/2006/main">
              <a:ext uri="{FF2B5EF4-FFF2-40B4-BE49-F238E27FC236}">
                <a16:creationId xmlns:a16="http://schemas.microsoft.com/office/drawing/2014/main" id="{3BA8D06F-1700-4F6E-B424-81CB568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9039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595CED7-A2AD-4A83-86A5-6097C00F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PROJECT GOAL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3BBF5B2-4853-47C7-ACA5-890CC3E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4213D"/>
                </a:solidFill>
              </a:defRPr>
            </a:pPr>
            <a:r>
              <a:rPr sz="4050" b="1">
                <a:solidFill>
                  <a:srgbClr val="14213D"/>
                </a:solidFill>
              </a:rPr>
              <a:t>What Are We Going to Make?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77C651-C4EF-4D30-9A8D-B2F71EB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Two players share one board. The program remembers every move.</a:t>
            </a:r>
          </a:p>
        </p:txBody>
      </p:sp>
      <p:sp>
        <p:nvSpPr>
          <p:cNvPr id="10" name="矩形: 圓角 9">
            <a:extLst xmlns:a="http://schemas.openxmlformats.org/drawingml/2006/main">
              <a:ext uri="{FF2B5EF4-FFF2-40B4-BE49-F238E27FC236}">
                <a16:creationId xmlns:a16="http://schemas.microsoft.com/office/drawing/2014/main" id="{37EFF9FA-6745-4618-BA6C-25946DA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0255"/>
            <a:ext cx="5276850" cy="3047999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CF77D43-B01A-4609-8EC1-8F441B1D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64748B"/>
                </a:solidFill>
              </a:defRPr>
            </a:pPr>
            <a:endParaRPr sz="2025" b="1">
              <a:solidFill>
                <a:srgbClr val="64748B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E74230-9907-4963-8991-C1D264F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E093722-278D-4B93-9ECC-20F6D286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16" name="lesson-box">
            <a:extLst xmlns:a="http://schemas.openxmlformats.org/drawingml/2006/main">
              <a:ext uri="{FF2B5EF4-FFF2-40B4-BE49-F238E27FC236}">
                <a16:creationId xmlns:a16="http://schemas.microsoft.com/office/drawing/2014/main" id="{F0B36734-6840-4A2A-BC34-5190C746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857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4D156E6C-EDD0-4C76-8C01-9724E84E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The rules</a:t>
            </a:r>
          </a:p>
        </p:txBody>
      </p:sp>
      <p:sp>
        <p:nvSpPr>
          <p:cNvPr id="1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95B869C-A91B-49C5-9B1A-9C850955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238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1  X moves first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2  Players choose an empty cell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3  Three matching pieces in a line wins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4  A full board without a winner is a draw</a:t>
            </a:r>
          </a:p>
        </p:txBody>
      </p:sp>
      <p:sp>
        <p:nvSpPr>
          <p:cNvPr id="19" name="board-back">
            <a:extLst xmlns:a="http://schemas.openxmlformats.org/drawingml/2006/main">
              <a:ext uri="{FF2B5EF4-FFF2-40B4-BE49-F238E27FC236}">
                <a16:creationId xmlns:a16="http://schemas.microsoft.com/office/drawing/2014/main" id="{91D6F1ED-FB28-48C2-80E5-7757E45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29146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20" name="cell-0-0">
            <a:extLst xmlns:a="http://schemas.openxmlformats.org/drawingml/2006/main">
              <a:ext uri="{FF2B5EF4-FFF2-40B4-BE49-F238E27FC236}">
                <a16:creationId xmlns:a16="http://schemas.microsoft.com/office/drawing/2014/main" id="{AA179FE4-24A1-4779-AB9B-C5DD5217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1" name="piece-0-0">
            <a:extLst xmlns:a="http://schemas.openxmlformats.org/drawingml/2006/main">
              <a:ext uri="{FF2B5EF4-FFF2-40B4-BE49-F238E27FC236}">
                <a16:creationId xmlns:a16="http://schemas.microsoft.com/office/drawing/2014/main" id="{4C6CBEE0-D05E-4F5F-A0EF-C59BDB37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2" name="cell-0-1">
            <a:extLst xmlns:a="http://schemas.openxmlformats.org/drawingml/2006/main">
              <a:ext uri="{FF2B5EF4-FFF2-40B4-BE49-F238E27FC236}">
                <a16:creationId xmlns:a16="http://schemas.microsoft.com/office/drawing/2014/main" id="{DA9B8556-6B19-4976-A57D-5550629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3" name="piece-0-1">
            <a:extLst xmlns:a="http://schemas.openxmlformats.org/drawingml/2006/main">
              <a:ext uri="{FF2B5EF4-FFF2-40B4-BE49-F238E27FC236}">
                <a16:creationId xmlns:a16="http://schemas.microsoft.com/office/drawing/2014/main" id="{84E61FDD-BAE0-47A6-A95C-F2C3844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4" name="cell-0-2">
            <a:extLst xmlns:a="http://schemas.openxmlformats.org/drawingml/2006/main">
              <a:ext uri="{FF2B5EF4-FFF2-40B4-BE49-F238E27FC236}">
                <a16:creationId xmlns:a16="http://schemas.microsoft.com/office/drawing/2014/main" id="{BD448D95-BFA7-439E-8718-D8AC1E19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5" name="piece-0-2">
            <a:extLst xmlns:a="http://schemas.openxmlformats.org/drawingml/2006/main">
              <a:ext uri="{FF2B5EF4-FFF2-40B4-BE49-F238E27FC236}">
                <a16:creationId xmlns:a16="http://schemas.microsoft.com/office/drawing/2014/main" id="{C4D24EEA-DFD0-4AFA-816C-B89DA1A6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6" name="cell-1-0">
            <a:extLst xmlns:a="http://schemas.openxmlformats.org/drawingml/2006/main">
              <a:ext uri="{FF2B5EF4-FFF2-40B4-BE49-F238E27FC236}">
                <a16:creationId xmlns:a16="http://schemas.microsoft.com/office/drawing/2014/main" id="{AA5DC8F2-E6CE-4146-A311-FFB9C748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7" name="cell-1-1">
            <a:extLst xmlns:a="http://schemas.openxmlformats.org/drawingml/2006/main">
              <a:ext uri="{FF2B5EF4-FFF2-40B4-BE49-F238E27FC236}">
                <a16:creationId xmlns:a16="http://schemas.microsoft.com/office/drawing/2014/main" id="{E14339CA-EA6B-4224-8D27-9165091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8" name="piece-1-1">
            <a:extLst xmlns:a="http://schemas.openxmlformats.org/drawingml/2006/main">
              <a:ext uri="{FF2B5EF4-FFF2-40B4-BE49-F238E27FC236}">
                <a16:creationId xmlns:a16="http://schemas.microsoft.com/office/drawing/2014/main" id="{9A3A5ACF-7CE6-49B3-9AD5-78F16C7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29" name="cell-1-2">
            <a:extLst xmlns:a="http://schemas.openxmlformats.org/drawingml/2006/main">
              <a:ext uri="{FF2B5EF4-FFF2-40B4-BE49-F238E27FC236}">
                <a16:creationId xmlns:a16="http://schemas.microsoft.com/office/drawing/2014/main" id="{344F6EDD-AF7F-4803-AA98-B4E3B12C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0" name="cell-2-0">
            <a:extLst xmlns:a="http://schemas.openxmlformats.org/drawingml/2006/main">
              <a:ext uri="{FF2B5EF4-FFF2-40B4-BE49-F238E27FC236}">
                <a16:creationId xmlns:a16="http://schemas.microsoft.com/office/drawing/2014/main" id="{2A783F64-E5E3-446D-9463-EF2988B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1" name="piece-2-0">
            <a:extLst xmlns:a="http://schemas.openxmlformats.org/drawingml/2006/main">
              <a:ext uri="{FF2B5EF4-FFF2-40B4-BE49-F238E27FC236}">
                <a16:creationId xmlns:a16="http://schemas.microsoft.com/office/drawing/2014/main" id="{0DB2656D-6073-4262-B2EC-A5B893C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2" name="cell-2-1">
            <a:extLst xmlns:a="http://schemas.openxmlformats.org/drawingml/2006/main">
              <a:ext uri="{FF2B5EF4-FFF2-40B4-BE49-F238E27FC236}">
                <a16:creationId xmlns:a16="http://schemas.microsoft.com/office/drawing/2014/main" id="{AD938E01-2E27-48CA-9E4F-52DB3D3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2EA0D99A-EB7C-4BC8-85DC-9DA7DC7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4" name="step-label">
            <a:extLst xmlns:a="http://schemas.openxmlformats.org/drawingml/2006/main">
              <a:ext uri="{FF2B5EF4-FFF2-40B4-BE49-F238E27FC236}">
                <a16:creationId xmlns:a16="http://schemas.microsoft.com/office/drawing/2014/main" id="{06A25B57-F8E7-4BF1-ABC0-7C9CB489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35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8A2DC752-5A11-4020-93E8-01243FA9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 WINS</a:t>
            </a:r>
          </a:p>
        </p:txBody>
      </p:sp>
      <p:sp>
        <p:nvSpPr>
          <p:cNvPr id="36" name="step-label">
            <a:extLst xmlns:a="http://schemas.openxmlformats.org/drawingml/2006/main">
              <a:ext uri="{FF2B5EF4-FFF2-40B4-BE49-F238E27FC236}">
                <a16:creationId xmlns:a16="http://schemas.microsoft.com/office/drawing/2014/main" id="{AC4F3922-94BF-448E-8B7F-E7BA7EE1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E8F8F0"/>
            </a:solidFill>
            <a:prstDash val="solid"/>
          </a:ln>
        </p:spPr>
      </p:sp>
      <p:sp>
        <p:nvSpPr>
          <p:cNvPr id="37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2D28AAF5-C1BB-40A7-86A8-BA6BFE76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 WINS</a:t>
            </a:r>
          </a:p>
        </p:txBody>
      </p:sp>
      <p:sp>
        <p:nvSpPr>
          <p:cNvPr id="38" name="step-label">
            <a:extLst xmlns:a="http://schemas.openxmlformats.org/drawingml/2006/main">
              <a:ext uri="{FF2B5EF4-FFF2-40B4-BE49-F238E27FC236}">
                <a16:creationId xmlns:a16="http://schemas.microsoft.com/office/drawing/2014/main" id="{9CE02E4E-ABA8-4EF8-9DF0-E1376A4C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39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A90AD37C-E9FE-4188-9FCB-3DCCA53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DRAW</a:t>
            </a:r>
          </a:p>
        </p:txBody>
      </p:sp>
    </p:spTree>
    <p:extLst>
      <p:ext uri="{BB962C8B-B14F-4D97-AF65-F5344CB8AC3E}">
        <p14:creationId xmlns:p14="http://schemas.microsoft.com/office/powerpoint/2010/main" val="209039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F1D38A5-F08A-41B4-97BE-9374B0B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RECAP · FRAME LOOP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BA6DACC-3F71-4C05-87A6-5097130B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Raylib Loop Still Runs the Game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DD775A3-2E9A-4BEF-9FB8-5A835E2A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1D29928-C49D-4FDD-ABA7-73C57AB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1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B7540B6-F0A7-46C9-9DA0-14B15791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Every frame follows the same three jobs. Tic Tac Toe adds state between input and drawing.</a:t>
            </a:r>
          </a:p>
        </p:txBody>
      </p:sp>
      <p:sp>
        <p:nvSpPr>
          <p:cNvPr id="20" name="lesson-box">
            <a:extLst xmlns:a="http://schemas.openxmlformats.org/drawingml/2006/main">
              <a:ext uri="{FF2B5EF4-FFF2-40B4-BE49-F238E27FC236}">
                <a16:creationId xmlns:a16="http://schemas.microsoft.com/office/drawing/2014/main" id="{3FAE9710-43D6-4F4F-84DA-A398B27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5627AB89-2AF4-4658-8D7B-691BDE2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81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4745328-B538-405D-BF5D-06C5DF18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62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2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E243F6D0-C084-4BAB-937D-A06E446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051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read a mouse click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A5A7ABEA-53E8-411B-A3F7-8FF11F99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5" name="lesson-box">
            <a:extLst xmlns:a="http://schemas.openxmlformats.org/drawingml/2006/main">
              <a:ext uri="{FF2B5EF4-FFF2-40B4-BE49-F238E27FC236}">
                <a16:creationId xmlns:a16="http://schemas.microsoft.com/office/drawing/2014/main" id="{35AA71F8-8E8B-49D0-8143-A857932B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26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66563A3-B9DE-4908-9EA3-6A496DC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325AF847-B2EA-4FBC-97E1-0DBE0DF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UPDATE STATE</a:t>
            </a:r>
          </a:p>
        </p:txBody>
      </p:sp>
      <p:sp>
        <p:nvSpPr>
          <p:cNvPr id="2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1E448B9-AE45-4788-B4EF-D5B59D8A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place a piece · check result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D9B6B413-FF64-4CE1-A807-3FA6F332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30" name="lesson-box">
            <a:extLst xmlns:a="http://schemas.openxmlformats.org/drawingml/2006/main">
              <a:ext uri="{FF2B5EF4-FFF2-40B4-BE49-F238E27FC236}">
                <a16:creationId xmlns:a16="http://schemas.microsoft.com/office/drawing/2014/main" id="{795FC881-FF9D-4478-85E1-6C95F9A1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383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4BC38A"/>
            </a:solidFill>
            <a:prstDash val="solid"/>
          </a:ln>
        </p:spPr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E5BBFA4-4040-4489-8094-B015962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81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7E384DE-BEF5-4B97-B35F-69490631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RENDER</a:t>
            </a:r>
          </a:p>
        </p:txBody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C4458AFF-FCA2-42CC-8394-048C6D1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051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draw the board · show text</a:t>
            </a:r>
          </a:p>
        </p:txBody>
      </p:sp>
      <p:sp>
        <p:nvSpPr>
          <p:cNvPr id="34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71D29B21-5AA4-4346-AF69-59F77AA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5" name="code">
            <a:extLst xmlns:a="http://schemas.openxmlformats.org/drawingml/2006/main">
              <a:ext uri="{FF2B5EF4-FFF2-40B4-BE49-F238E27FC236}">
                <a16:creationId xmlns:a16="http://schemas.microsoft.com/office/drawing/2014/main" id="{5B55B88B-599C-49C5-8574-54423B6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47244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while (!WindowShouldClose())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// input + update state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BeginDrawing();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// render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EndDrawing();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8482373-D9AB-4415-8BAB-DC6C941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 · ARRAYS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8AEAA0-997E-4340-A91D-34FF7A9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Nine Separate Variables Do Not Scale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5EC7BBC-702A-4860-B777-2D53359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C622DED-D26F-4CDE-AD61-236B2681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D316E22D-C2BC-430E-AC9C-79BB2B0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A board has nine values with the same meaning. Naming each one separately hides the pattern.</a:t>
            </a:r>
          </a:p>
        </p:txBody>
      </p:sp>
      <p:sp>
        <p:nvSpPr>
          <p:cNvPr id="30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5228B1A5-C29A-41FB-B024-84D7BB4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0957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code">
            <a:extLst xmlns:a="http://schemas.openxmlformats.org/drawingml/2006/main">
              <a:ext uri="{FF2B5EF4-FFF2-40B4-BE49-F238E27FC236}">
                <a16:creationId xmlns:a16="http://schemas.microsoft.com/office/drawing/2014/main" id="{D18A1552-A6CB-48EF-A7DE-508BF4C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90775"/>
            <a:ext cx="36766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cell_0 = '-';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cell_1 = '-';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cell_2 = '-';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// ...six more variables</a:t>
            </a:r>
          </a:p>
        </p:txBody>
      </p:sp>
      <p:sp>
        <p:nvSpPr>
          <p:cNvPr id="32" name="flow-arrow">
            <a:extLst xmlns:a="http://schemas.openxmlformats.org/drawingml/2006/main">
              <a:ext uri="{FF2B5EF4-FFF2-40B4-BE49-F238E27FC236}">
                <a16:creationId xmlns:a16="http://schemas.microsoft.com/office/drawing/2014/main" id="{E83D71AE-5F66-45F5-AF0F-44AB1BB3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33" name="lesson-box">
            <a:extLst xmlns:a="http://schemas.openxmlformats.org/drawingml/2006/main">
              <a:ext uri="{FF2B5EF4-FFF2-40B4-BE49-F238E27FC236}">
                <a16:creationId xmlns:a16="http://schemas.microsoft.com/office/drawing/2014/main" id="{1A6BBD78-0034-42A9-A59F-CB377B1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0957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3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1D5432C-28FE-4554-9F5E-59330BE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One name</a:t>
            </a:r>
          </a:p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+</a:t>
            </a:r>
          </a:p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one index</a:t>
            </a:r>
          </a:p>
        </p:txBody>
      </p:sp>
      <p:sp>
        <p:nvSpPr>
          <p:cNvPr id="35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02968FF0-3485-4FDA-B40D-41ED11C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6" name="code">
            <a:extLst xmlns:a="http://schemas.openxmlformats.org/drawingml/2006/main">
              <a:ext uri="{FF2B5EF4-FFF2-40B4-BE49-F238E27FC236}">
                <a16:creationId xmlns:a16="http://schemas.microsoft.com/office/drawing/2014/main" id="{BF250CB2-C1DA-46A3-9999-D028096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290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cells[9];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cells[0] = 'X';</a:t>
            </a:r>
          </a:p>
        </p:txBody>
      </p:sp>
      <p:sp>
        <p:nvSpPr>
          <p:cNvPr id="3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BBEBFA9-DEEB-425E-85B5-2B085AA5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006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Arrays keep related values together.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8482373-D9AB-4415-8BAB-DC6C941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 · ARRAYS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8AEAA0-997E-4340-A91D-34FF7A9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An Array Stores Similar Values Together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5EC7BBC-702A-4860-B777-2D53359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C622DED-D26F-4CDE-AD61-236B2681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59077D18-7638-480B-9993-44127F7F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The index chooses one value. C++ indices start at zero.</a:t>
            </a:r>
          </a:p>
        </p:txBody>
      </p:sp>
      <p:sp>
        <p:nvSpPr>
          <p:cNvPr id="30" name="index-0">
            <a:extLst xmlns:a="http://schemas.openxmlformats.org/drawingml/2006/main">
              <a:ext uri="{FF2B5EF4-FFF2-40B4-BE49-F238E27FC236}">
                <a16:creationId xmlns:a16="http://schemas.microsoft.com/office/drawing/2014/main" id="{13DFB260-722C-4FFB-8CA0-150CB751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1" name="array-cell-0">
            <a:extLst xmlns:a="http://schemas.openxmlformats.org/drawingml/2006/main">
              <a:ext uri="{FF2B5EF4-FFF2-40B4-BE49-F238E27FC236}">
                <a16:creationId xmlns:a16="http://schemas.microsoft.com/office/drawing/2014/main" id="{36C59391-1D41-419A-A67D-11EE0761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2" name="array-value-0">
            <a:extLst xmlns:a="http://schemas.openxmlformats.org/drawingml/2006/main">
              <a:ext uri="{FF2B5EF4-FFF2-40B4-BE49-F238E27FC236}">
                <a16:creationId xmlns:a16="http://schemas.microsoft.com/office/drawing/2014/main" id="{7B98F601-E8D3-46DD-BE23-6704FF0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3" name="index-1">
            <a:extLst xmlns:a="http://schemas.openxmlformats.org/drawingml/2006/main">
              <a:ext uri="{FF2B5EF4-FFF2-40B4-BE49-F238E27FC236}">
                <a16:creationId xmlns:a16="http://schemas.microsoft.com/office/drawing/2014/main" id="{D3E0771D-CCDD-4DD8-AB5E-F78CC37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4" name="array-cell-1">
            <a:extLst xmlns:a="http://schemas.openxmlformats.org/drawingml/2006/main">
              <a:ext uri="{FF2B5EF4-FFF2-40B4-BE49-F238E27FC236}">
                <a16:creationId xmlns:a16="http://schemas.microsoft.com/office/drawing/2014/main" id="{50E4FCFC-73F4-46D7-B49E-ACDBEA6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28575">
            <a:solidFill>
              <a:srgbClr val="F5C451"/>
            </a:solidFill>
            <a:prstDash val="solid"/>
          </a:ln>
        </p:spPr>
      </p:sp>
      <p:sp>
        <p:nvSpPr>
          <p:cNvPr id="35" name="array-value-1">
            <a:extLst xmlns:a="http://schemas.openxmlformats.org/drawingml/2006/main">
              <a:ext uri="{FF2B5EF4-FFF2-40B4-BE49-F238E27FC236}">
                <a16:creationId xmlns:a16="http://schemas.microsoft.com/office/drawing/2014/main" id="{689404B2-E70B-4720-ADB7-7F99D817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6" name="index-2">
            <a:extLst xmlns:a="http://schemas.openxmlformats.org/drawingml/2006/main">
              <a:ext uri="{FF2B5EF4-FFF2-40B4-BE49-F238E27FC236}">
                <a16:creationId xmlns:a16="http://schemas.microsoft.com/office/drawing/2014/main" id="{E4E66735-D2CC-457F-94AC-2E8C215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7" name="array-cell-2">
            <a:extLst xmlns:a="http://schemas.openxmlformats.org/drawingml/2006/main">
              <a:ext uri="{FF2B5EF4-FFF2-40B4-BE49-F238E27FC236}">
                <a16:creationId xmlns:a16="http://schemas.microsoft.com/office/drawing/2014/main" id="{196D15C8-49BC-4DB3-8BF4-70FC1E19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8" name="array-value-2">
            <a:extLst xmlns:a="http://schemas.openxmlformats.org/drawingml/2006/main">
              <a:ext uri="{FF2B5EF4-FFF2-40B4-BE49-F238E27FC236}">
                <a16:creationId xmlns:a16="http://schemas.microsoft.com/office/drawing/2014/main" id="{89E71422-D9F9-499E-9763-0341448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39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9B660D59-0394-43C1-89D9-294DF91B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619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0" name="code">
            <a:extLst xmlns:a="http://schemas.openxmlformats.org/drawingml/2006/main">
              <a:ext uri="{FF2B5EF4-FFF2-40B4-BE49-F238E27FC236}">
                <a16:creationId xmlns:a16="http://schemas.microsoft.com/office/drawing/2014/main" id="{3D201A5E-E4CC-40C3-80B0-B280728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90775"/>
            <a:ext cx="320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row[3] = {'X', 'O', '-'};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row[1] = 'O';</a:t>
            </a:r>
          </a:p>
        </p:txBody>
      </p:sp>
      <p:sp>
        <p:nvSpPr>
          <p:cNvPr id="41" name="lesson-box">
            <a:extLst xmlns:a="http://schemas.openxmlformats.org/drawingml/2006/main">
              <a:ext uri="{FF2B5EF4-FFF2-40B4-BE49-F238E27FC236}">
                <a16:creationId xmlns:a16="http://schemas.microsoft.com/office/drawing/2014/main" id="{7FB79D7E-CBB3-4469-B023-19BCE11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4857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4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1A869E8-8E78-4BE4-A621-8835A5D6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row[1]</a:t>
            </a:r>
          </a:p>
        </p:txBody>
      </p:sp>
      <p:sp>
        <p:nvSpPr>
          <p:cNvPr id="4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0967D04A-A1B3-43B2-916A-237B3AD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name      index</a:t>
            </a:r>
          </a:p>
        </p:txBody>
      </p:sp>
      <p:sp>
        <p:nvSpPr>
          <p:cNvPr id="4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214AB5E-5B09-4A52-88BF-D0FED2B1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Read left to right: choose element 1 from row.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8482373-D9AB-4415-8BAB-DC6C941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 · 2D ARRAYS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8AEAA0-997E-4340-A91D-34FF7A9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A 2D Array Adds Rows and Columns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5EC7BBC-702A-4860-B777-2D53359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C622DED-D26F-4CDE-AD61-236B2681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0A8B4E6C-D5E5-4139-A8B2-3F8C8871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A Tic Tac Toe board is a grid, so every value needs two indices.</a:t>
            </a:r>
          </a:p>
        </p:txBody>
      </p:sp>
      <p:sp>
        <p:nvSpPr>
          <p:cNvPr id="3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477598A2-B9B9-4AC1-B4B5-38BC711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column 0</a:t>
            </a:r>
          </a:p>
        </p:txBody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7D5F978-1360-444D-81C0-C77121A0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column 1</a:t>
            </a:r>
          </a:p>
        </p:txBody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144838A-2181-409E-B472-49D8E33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column 2</a:t>
            </a:r>
          </a:p>
        </p:txBody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88377EF-7CA8-4A87-AED7-66CA0B4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85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row 0</a:t>
            </a:r>
          </a:p>
        </p:txBody>
      </p:sp>
      <p:sp>
        <p:nvSpPr>
          <p:cNvPr id="3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4950F05-DA19-4238-8F02-4805B1D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85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row 1</a:t>
            </a:r>
          </a:p>
        </p:txBody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FA7C1DA9-5A4C-4002-B99B-056025D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85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row 2</a:t>
            </a:r>
          </a:p>
        </p:txBody>
      </p:sp>
      <p:sp>
        <p:nvSpPr>
          <p:cNvPr id="36" name="lesson-box">
            <a:extLst xmlns:a="http://schemas.openxmlformats.org/drawingml/2006/main">
              <a:ext uri="{FF2B5EF4-FFF2-40B4-BE49-F238E27FC236}">
                <a16:creationId xmlns:a16="http://schemas.microsoft.com/office/drawing/2014/main" id="{654FBA80-305E-48D2-B8A4-6892EFF4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99B01AD-7ABE-4840-BDEC-CDEA3BE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8" name="lesson-box">
            <a:extLst xmlns:a="http://schemas.openxmlformats.org/drawingml/2006/main">
              <a:ext uri="{FF2B5EF4-FFF2-40B4-BE49-F238E27FC236}">
                <a16:creationId xmlns:a16="http://schemas.microsoft.com/office/drawing/2014/main" id="{0F718F99-B0A4-4FEB-9F82-C235B8EB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F319068-4970-4ADB-8E4E-0026BC04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0" name="lesson-box">
            <a:extLst xmlns:a="http://schemas.openxmlformats.org/drawingml/2006/main">
              <a:ext uri="{FF2B5EF4-FFF2-40B4-BE49-F238E27FC236}">
                <a16:creationId xmlns:a16="http://schemas.microsoft.com/office/drawing/2014/main" id="{46D0A9C6-12C0-4311-AFE0-F8DFC18B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5B5EF438-28E5-49DF-A579-64761ED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42" name="lesson-box">
            <a:extLst xmlns:a="http://schemas.openxmlformats.org/drawingml/2006/main">
              <a:ext uri="{FF2B5EF4-FFF2-40B4-BE49-F238E27FC236}">
                <a16:creationId xmlns:a16="http://schemas.microsoft.com/office/drawing/2014/main" id="{8BAC6F6A-C0C4-4A8B-8568-7FA0F25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C69A006-72DA-411E-B8A9-DCA3723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4" name="lesson-box">
            <a:extLst xmlns:a="http://schemas.openxmlformats.org/drawingml/2006/main">
              <a:ext uri="{FF2B5EF4-FFF2-40B4-BE49-F238E27FC236}">
                <a16:creationId xmlns:a16="http://schemas.microsoft.com/office/drawing/2014/main" id="{6BCCAC55-0B98-48BC-A03A-371D9C2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0FFD05DC-319E-454E-B029-A99C511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46" name="lesson-box">
            <a:extLst xmlns:a="http://schemas.openxmlformats.org/drawingml/2006/main">
              <a:ext uri="{FF2B5EF4-FFF2-40B4-BE49-F238E27FC236}">
                <a16:creationId xmlns:a16="http://schemas.microsoft.com/office/drawing/2014/main" id="{3B4B3093-055A-4B81-91B8-AA8BA6B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28575">
            <a:solidFill>
              <a:srgbClr val="F5C451"/>
            </a:solidFill>
            <a:prstDash val="solid"/>
          </a:ln>
        </p:spPr>
      </p:sp>
      <p:sp>
        <p:nvSpPr>
          <p:cNvPr id="4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07A08EA9-D406-4870-9748-5A002748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48" name="lesson-box">
            <a:extLst xmlns:a="http://schemas.openxmlformats.org/drawingml/2006/main">
              <a:ext uri="{FF2B5EF4-FFF2-40B4-BE49-F238E27FC236}">
                <a16:creationId xmlns:a16="http://schemas.microsoft.com/office/drawing/2014/main" id="{5251F327-2C59-40F2-9AFC-32DA893B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955D46A-0986-4EDC-A3B9-33EE4893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0" name="lesson-box">
            <a:extLst xmlns:a="http://schemas.openxmlformats.org/drawingml/2006/main">
              <a:ext uri="{FF2B5EF4-FFF2-40B4-BE49-F238E27FC236}">
                <a16:creationId xmlns:a16="http://schemas.microsoft.com/office/drawing/2014/main" id="{EAD9955F-48E4-4D88-A73A-E09AF27F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5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B077AFA-6688-4EEC-B683-8527F50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3387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2" name="lesson-box">
            <a:extLst xmlns:a="http://schemas.openxmlformats.org/drawingml/2006/main">
              <a:ext uri="{FF2B5EF4-FFF2-40B4-BE49-F238E27FC236}">
                <a16:creationId xmlns:a16="http://schemas.microsoft.com/office/drawing/2014/main" id="{68ED0068-B1E9-4A13-AE39-BAF06D4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5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E4807B40-99F2-4996-9507-F533A6A8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54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B790BAF4-F990-4422-92B5-CC88D707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5" name="code">
            <a:extLst xmlns:a="http://schemas.openxmlformats.org/drawingml/2006/main">
              <a:ext uri="{FF2B5EF4-FFF2-40B4-BE49-F238E27FC236}">
                <a16:creationId xmlns:a16="http://schemas.microsoft.com/office/drawing/2014/main" id="{C407156D-9581-448E-B898-591C2579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81275"/>
            <a:ext cx="40576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board[3][3];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board[1][2] = 'O';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//    row  column</a:t>
            </a:r>
          </a:p>
        </p:txBody>
      </p:sp>
      <p:sp>
        <p:nvSpPr>
          <p:cNvPr id="56" name="lesson-box">
            <a:extLst xmlns:a="http://schemas.openxmlformats.org/drawingml/2006/main">
              <a:ext uri="{FF2B5EF4-FFF2-40B4-BE49-F238E27FC236}">
                <a16:creationId xmlns:a16="http://schemas.microsoft.com/office/drawing/2014/main" id="{0CF8D414-1C65-4065-9608-09C7347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476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5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FB18407E-C3D2-4F89-A159-2FEC21C9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board[row][column]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C16E7A-AC86-43A2-9239-B7ACCED9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 · COORDINATES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5B233D-C0BF-4946-9E4D-C978FD6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Array Positions Become Screen Positions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1AFBDA8-49B7-44B9-8898-3FE2895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D02239-1A66-4401-A4F7-DAC2218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1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E2E482F-F832-4240-8332-9CD92BB3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Each board cell is 300 pixels wide and 300 pixels tall.</a:t>
            </a:r>
          </a:p>
        </p:txBody>
      </p:sp>
      <p:sp>
        <p:nvSpPr>
          <p:cNvPr id="19" name="board-back">
            <a:extLst xmlns:a="http://schemas.openxmlformats.org/drawingml/2006/main">
              <a:ext uri="{FF2B5EF4-FFF2-40B4-BE49-F238E27FC236}">
                <a16:creationId xmlns:a16="http://schemas.microsoft.com/office/drawing/2014/main" id="{80D60EDC-70DA-40D9-866E-2730704E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3343275" cy="3343275"/>
          </a:xfrm>
          <a:prstGeom xmlns:a="http://schemas.openxmlformats.org/drawingml/2006/main" prst="roundRect">
            <a:avLst>
              <a:gd name="adj" fmla="val 227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0" name="cell-0-0">
            <a:extLst xmlns:a="http://schemas.openxmlformats.org/drawingml/2006/main">
              <a:ext uri="{FF2B5EF4-FFF2-40B4-BE49-F238E27FC236}">
                <a16:creationId xmlns:a16="http://schemas.microsoft.com/office/drawing/2014/main" id="{10B5D50B-9886-469A-98F5-0AFEF09E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1" name="cell-0-1">
            <a:extLst xmlns:a="http://schemas.openxmlformats.org/drawingml/2006/main">
              <a:ext uri="{FF2B5EF4-FFF2-40B4-BE49-F238E27FC236}">
                <a16:creationId xmlns:a16="http://schemas.microsoft.com/office/drawing/2014/main" id="{CB291620-4921-4134-97DB-6C8EDF6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2" name="cell-0-2">
            <a:extLst xmlns:a="http://schemas.openxmlformats.org/drawingml/2006/main">
              <a:ext uri="{FF2B5EF4-FFF2-40B4-BE49-F238E27FC236}">
                <a16:creationId xmlns:a16="http://schemas.microsoft.com/office/drawing/2014/main" id="{298D06D0-3175-4F59-9893-C3BE4AA6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3CB323F6-0B3E-495C-966F-0B170837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4" name="cell-1-1">
            <a:extLst xmlns:a="http://schemas.openxmlformats.org/drawingml/2006/main">
              <a:ext uri="{FF2B5EF4-FFF2-40B4-BE49-F238E27FC236}">
                <a16:creationId xmlns:a16="http://schemas.microsoft.com/office/drawing/2014/main" id="{32C9C124-F7C8-496A-82CC-8DDCD4A7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5" name="cell-1-2">
            <a:extLst xmlns:a="http://schemas.openxmlformats.org/drawingml/2006/main">
              <a:ext uri="{FF2B5EF4-FFF2-40B4-BE49-F238E27FC236}">
                <a16:creationId xmlns:a16="http://schemas.microsoft.com/office/drawing/2014/main" id="{415BD55D-D0DA-4995-B650-A119B99F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28575">
            <a:solidFill>
              <a:srgbClr val="F5C451"/>
            </a:solidFill>
            <a:prstDash val="solid"/>
          </a:ln>
        </p:spPr>
      </p:sp>
      <p:sp>
        <p:nvSpPr>
          <p:cNvPr id="26" name="piece-1-2">
            <a:extLst xmlns:a="http://schemas.openxmlformats.org/drawingml/2006/main">
              <a:ext uri="{FF2B5EF4-FFF2-40B4-BE49-F238E27FC236}">
                <a16:creationId xmlns:a16="http://schemas.microsoft.com/office/drawing/2014/main" id="{A095896F-0824-4F53-B541-CD00A68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00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7" name="cell-2-0">
            <a:extLst xmlns:a="http://schemas.openxmlformats.org/drawingml/2006/main">
              <a:ext uri="{FF2B5EF4-FFF2-40B4-BE49-F238E27FC236}">
                <a16:creationId xmlns:a16="http://schemas.microsoft.com/office/drawing/2014/main" id="{EF59F266-EC3E-47CE-8E73-0A638556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8" name="cell-2-1">
            <a:extLst xmlns:a="http://schemas.openxmlformats.org/drawingml/2006/main">
              <a:ext uri="{FF2B5EF4-FFF2-40B4-BE49-F238E27FC236}">
                <a16:creationId xmlns:a16="http://schemas.microsoft.com/office/drawing/2014/main" id="{E78BE307-42CC-48F1-9426-DD6E058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EBCC918D-5156-4A6A-910A-BAB1DB2B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1000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8534CB6-0B93-4782-8840-2F468CD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33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row 1</a:t>
            </a:r>
          </a:p>
        </p:txBody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745EF1A-DDFF-421A-A141-3CAED63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column 2</a:t>
            </a:r>
          </a:p>
        </p:txBody>
      </p:sp>
      <p:sp>
        <p:nvSpPr>
          <p:cNvPr id="3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43CF6A8F-C6B1-41BF-B354-5A54A60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4857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code">
            <a:extLst xmlns:a="http://schemas.openxmlformats.org/drawingml/2006/main">
              <a:ext uri="{FF2B5EF4-FFF2-40B4-BE49-F238E27FC236}">
                <a16:creationId xmlns:a16="http://schemas.microsoft.com/office/drawing/2014/main" id="{19BD6612-D9A1-4AC9-872A-935E8AF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90775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column = mouse_x / 300;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row = mouse_y / 300;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left = column * 300;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top  = row * 300;</a:t>
            </a:r>
          </a:p>
        </p:txBody>
      </p:sp>
      <p:sp>
        <p:nvSpPr>
          <p:cNvPr id="34" name="lesson-box">
            <a:extLst xmlns:a="http://schemas.openxmlformats.org/drawingml/2006/main">
              <a:ext uri="{FF2B5EF4-FFF2-40B4-BE49-F238E27FC236}">
                <a16:creationId xmlns:a16="http://schemas.microsoft.com/office/drawing/2014/main" id="{4B8D097D-D9C7-4D8C-B392-E9D1D9E1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4857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8BE952C-56B5-46D0-A8CB-AF962012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mouse (742, 465)  →  board[1][2]</a:t>
            </a:r>
          </a:p>
        </p:txBody>
      </p:sp>
    </p:spTree>
    <p:extLst>
      <p:ext uri="{BB962C8B-B14F-4D97-AF65-F5344CB8AC3E}">
        <p14:creationId xmlns:p14="http://schemas.microsoft.com/office/powerpoint/2010/main" val="1316962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8482373-D9AB-4415-8BAB-DC6C941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PROGRAM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8AEAA0-997E-4340-A91D-34FF7A9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Four Functions Split the Game into Jobs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5EC7BBC-702A-4860-B777-2D53359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C622DED-D26F-4CDE-AD61-236B2681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45CB0F4-0CFC-4B0C-90AA-9CA7E0C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Design the small jobs first. The main loop decides when to use them.</a:t>
            </a:r>
          </a:p>
        </p:txBody>
      </p:sp>
      <p:sp>
        <p:nvSpPr>
          <p:cNvPr id="30" name="lesson-box">
            <a:extLst xmlns:a="http://schemas.openxmlformats.org/drawingml/2006/main">
              <a:ext uri="{FF2B5EF4-FFF2-40B4-BE49-F238E27FC236}">
                <a16:creationId xmlns:a16="http://schemas.microsoft.com/office/drawing/2014/main" id="{3FA3F19F-78CB-4716-A9A8-B4FC242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CF9132E4-8C56-4C12-A65E-84B36CD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D1654E5-FFE7-4A7C-B97C-D5C79AC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reset_board()</a:t>
            </a:r>
          </a:p>
        </p:txBody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2CA18DC-187C-465F-BC29-2216DDF6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9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fill every cell with '-'</a:t>
            </a:r>
          </a:p>
        </p:txBody>
      </p:sp>
      <p:sp>
        <p:nvSpPr>
          <p:cNvPr id="34" name="lesson-box">
            <a:extLst xmlns:a="http://schemas.openxmlformats.org/drawingml/2006/main">
              <a:ext uri="{FF2B5EF4-FFF2-40B4-BE49-F238E27FC236}">
                <a16:creationId xmlns:a16="http://schemas.microsoft.com/office/drawing/2014/main" id="{AC4F1EA3-1A13-4D80-A96E-E65494BC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53381D4-F469-45FE-AA7B-3AEFD20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6" name="lesson-text">
            <a:extLst xmlns:a="http://schemas.openxmlformats.org/drawingml/2006/main">
              <a:ext uri="{FF2B5EF4-FFF2-40B4-BE49-F238E27FC236}">
                <a16:creationId xmlns:a16="http://schemas.microsoft.com/office/drawing/2014/main" id="{0EEDCC8D-E576-406E-A26F-C0D0E93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draw_board()</a:t>
            </a:r>
          </a:p>
        </p:txBody>
      </p:sp>
      <p:sp>
        <p:nvSpPr>
          <p:cNvPr id="3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8423872-ED02-4D3C-AC5B-3E638B85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9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turn board data into pixels</a:t>
            </a:r>
          </a:p>
        </p:txBody>
      </p:sp>
      <p:sp>
        <p:nvSpPr>
          <p:cNvPr id="38" name="lesson-box">
            <a:extLst xmlns:a="http://schemas.openxmlformats.org/drawingml/2006/main">
              <a:ext uri="{FF2B5EF4-FFF2-40B4-BE49-F238E27FC236}">
                <a16:creationId xmlns:a16="http://schemas.microsoft.com/office/drawing/2014/main" id="{DFF22FDF-D5A7-4F4E-ADE0-58B7318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4BC38A"/>
            </a:solidFill>
            <a:prstDash val="solid"/>
          </a:ln>
        </p:spPr>
      </p:sp>
      <p:sp>
        <p:nvSpPr>
          <p:cNvPr id="3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FCB1F13D-E4A6-4EAE-A3B3-B811EF7D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793EF2B-B907-405A-9255-1E250D7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check_win()</a:t>
            </a:r>
          </a:p>
        </p:txBody>
      </p:sp>
      <p:sp>
        <p:nvSpPr>
          <p:cNvPr id="4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5382306-89D2-49F4-A9BE-B56F394D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test eight winning lines</a:t>
            </a:r>
          </a:p>
        </p:txBody>
      </p:sp>
      <p:sp>
        <p:nvSpPr>
          <p:cNvPr id="42" name="lesson-box">
            <a:extLst xmlns:a="http://schemas.openxmlformats.org/drawingml/2006/main">
              <a:ext uri="{FF2B5EF4-FFF2-40B4-BE49-F238E27FC236}">
                <a16:creationId xmlns:a16="http://schemas.microsoft.com/office/drawing/2014/main" id="{391414E2-91F9-48C3-AA9C-5E27983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EDFD"/>
          </a:solidFill>
          <a:ln xmlns:a="http://schemas.openxmlformats.org/drawingml/2006/main" w="9525">
            <a:solidFill>
              <a:srgbClr val="9C7BEA"/>
            </a:solidFill>
            <a:prstDash val="solid"/>
          </a:ln>
        </p:spPr>
      </p:sp>
      <p:sp>
        <p:nvSpPr>
          <p:cNvPr id="4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D881C923-9CC8-4DFC-B1F7-DB154906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C7BE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C7BE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0480616-D4D1-4F32-B6B2-43882A13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is_board_full()</a:t>
            </a:r>
          </a:p>
        </p:txBody>
      </p:sp>
      <p:sp>
        <p:nvSpPr>
          <p:cNvPr id="4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DB28C74-ECFB-416D-B03F-01E6403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find an empty cell or a draw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7B1E58-9D4A-4232-874F-1BD7491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1 · reference/01.cpp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AD3988-A4FA-449C-8719-DE428F2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Design the Game Structure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9721E4-B84D-4C88-BA23-6EA63EA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609F21D-F51B-48D2-88EB-836CBBD6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22" name="step-label">
            <a:extLst xmlns:a="http://schemas.openxmlformats.org/drawingml/2006/main">
              <a:ext uri="{FF2B5EF4-FFF2-40B4-BE49-F238E27FC236}">
                <a16:creationId xmlns:a16="http://schemas.microsoft.com/office/drawing/2014/main" id="{7A4F8976-CE8F-4F56-95A6-122FED32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3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8970F189-B7F4-41CB-9D4A-FC55A17E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2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ED63BAF-6CA4-4AE6-A11F-11640DE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The data and helper functions exist before drawing or input is connected.</a:t>
            </a:r>
          </a:p>
        </p:txBody>
      </p:sp>
      <p:sp>
        <p:nvSpPr>
          <p:cNvPr id="25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4FB60AC1-1470-48F6-8409-48C488D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29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6" name="code">
            <a:extLst xmlns:a="http://schemas.openxmlformats.org/drawingml/2006/main">
              <a:ext uri="{FF2B5EF4-FFF2-40B4-BE49-F238E27FC236}">
                <a16:creationId xmlns:a16="http://schemas.microsoft.com/office/drawing/2014/main" id="{1CA19EBF-FE34-4364-A404-7A51E3A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40100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board[3][3];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current_player = 'X';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winner = '-';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reset_board(board);</a:t>
            </a:r>
          </a:p>
        </p:txBody>
      </p:sp>
      <p:sp>
        <p:nvSpPr>
          <p:cNvPr id="27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813C2E26-7BCA-461C-890F-2057C825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8" name="code">
            <a:extLst xmlns:a="http://schemas.openxmlformats.org/drawingml/2006/main">
              <a:ext uri="{FF2B5EF4-FFF2-40B4-BE49-F238E27FC236}">
                <a16:creationId xmlns:a16="http://schemas.microsoft.com/office/drawing/2014/main" id="{C5E98BD2-D4BC-4397-83C2-58881FD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90775"/>
            <a:ext cx="4343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draw_board(const char board[3][3])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// main loop still calls draw_board(board);</a:t>
            </a:r>
          </a:p>
        </p:txBody>
      </p:sp>
      <p:sp>
        <p:nvSpPr>
          <p:cNvPr id="29" name="lesson-box">
            <a:extLst xmlns:a="http://schemas.openxmlformats.org/drawingml/2006/main">
              <a:ext uri="{FF2B5EF4-FFF2-40B4-BE49-F238E27FC236}">
                <a16:creationId xmlns:a16="http://schemas.microsoft.com/office/drawing/2014/main" id="{8BA536F2-782A-4171-9063-BAB9264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9953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F361182-E40D-41E8-A7BF-5BDA711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Ready now</a:t>
            </a:r>
          </a:p>
        </p:txBody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C1C3669-0FC4-4912-9C71-C431373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91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reset_board · check_win · is_board_full</a:t>
            </a:r>
          </a:p>
        </p:txBody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E57999C-605B-4DFD-AF0F-06F6701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Still empty</a:t>
            </a:r>
          </a:p>
        </p:txBody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FB68618D-B3A4-418D-8650-1CCF953F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72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draw_board · input section</a:t>
            </a:r>
          </a:p>
        </p:txBody>
      </p:sp>
    </p:spTree>
    <p:extLst>
      <p:ext uri="{BB962C8B-B14F-4D97-AF65-F5344CB8AC3E}">
        <p14:creationId xmlns:p14="http://schemas.microsoft.com/office/powerpoint/2010/main" val="40311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700243-6847-423D-9FA4-F6623B9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2 · reference/02.cpp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778F46-416C-4E48-8D9D-693E52E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Implement Drawing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67E10BB-6FB2-41C1-9100-504AAF7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68FD21-A52D-4D83-9457-98297617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18" name="step-label">
            <a:extLst xmlns:a="http://schemas.openxmlformats.org/drawingml/2006/main">
              <a:ext uri="{FF2B5EF4-FFF2-40B4-BE49-F238E27FC236}">
                <a16:creationId xmlns:a16="http://schemas.microsoft.com/office/drawing/2014/main" id="{4CD7E2E4-E2F2-4979-95C6-884B31B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19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EFDE9D2E-B85D-4A36-B22E-A4D3B54E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6193B6D2-9403-4505-BA88-00C4A0E2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Read every board cell and draw the matching symbol.</a:t>
            </a:r>
          </a:p>
        </p:txBody>
      </p:sp>
      <p:sp>
        <p:nvSpPr>
          <p:cNvPr id="21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8B2D4EE2-F944-4967-A2A0-4085A1C5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2" name="code">
            <a:extLst xmlns:a="http://schemas.openxmlformats.org/drawingml/2006/main">
              <a:ext uri="{FF2B5EF4-FFF2-40B4-BE49-F238E27FC236}">
                <a16:creationId xmlns:a16="http://schemas.microsoft.com/office/drawing/2014/main" id="{FC67CAB0-CF24-4AA5-AC79-F7C839B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5486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row = 0; row &lt; 3; ++row)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column = 0; column &lt; 3; ++column)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(board[row][column] == 'X') { ... 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if (board[row][column] == 'O') { ... 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board-back">
            <a:extLst xmlns:a="http://schemas.openxmlformats.org/drawingml/2006/main">
              <a:ext uri="{FF2B5EF4-FFF2-40B4-BE49-F238E27FC236}">
                <a16:creationId xmlns:a16="http://schemas.microsoft.com/office/drawing/2014/main" id="{917B7976-8F43-4B3D-9A68-AE90F87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62175"/>
            <a:ext cx="29146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24" name="cell-0-0">
            <a:extLst xmlns:a="http://schemas.openxmlformats.org/drawingml/2006/main">
              <a:ext uri="{FF2B5EF4-FFF2-40B4-BE49-F238E27FC236}">
                <a16:creationId xmlns:a16="http://schemas.microsoft.com/office/drawing/2014/main" id="{AD1D5E91-79DD-4315-A0AA-5D9E8BEB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5" name="piece-0-0">
            <a:extLst xmlns:a="http://schemas.openxmlformats.org/drawingml/2006/main">
              <a:ext uri="{FF2B5EF4-FFF2-40B4-BE49-F238E27FC236}">
                <a16:creationId xmlns:a16="http://schemas.microsoft.com/office/drawing/2014/main" id="{B237CDD6-7E0B-492F-926F-7CE2689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6" name="cell-0-1">
            <a:extLst xmlns:a="http://schemas.openxmlformats.org/drawingml/2006/main">
              <a:ext uri="{FF2B5EF4-FFF2-40B4-BE49-F238E27FC236}">
                <a16:creationId xmlns:a16="http://schemas.microsoft.com/office/drawing/2014/main" id="{E19975FB-DEB0-4117-8472-E78511D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7" name="cell-0-2">
            <a:extLst xmlns:a="http://schemas.openxmlformats.org/drawingml/2006/main">
              <a:ext uri="{FF2B5EF4-FFF2-40B4-BE49-F238E27FC236}">
                <a16:creationId xmlns:a16="http://schemas.microsoft.com/office/drawing/2014/main" id="{B4CE2AD1-9422-4765-B773-AA2134F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7E72D92B-2A5D-4E07-A875-54760F7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9" name="cell-1-1">
            <a:extLst xmlns:a="http://schemas.openxmlformats.org/drawingml/2006/main">
              <a:ext uri="{FF2B5EF4-FFF2-40B4-BE49-F238E27FC236}">
                <a16:creationId xmlns:a16="http://schemas.microsoft.com/office/drawing/2014/main" id="{D3FC1D2F-4DD4-4E0C-9008-2295AC8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0" name="piece-1-1">
            <a:extLst xmlns:a="http://schemas.openxmlformats.org/drawingml/2006/main">
              <a:ext uri="{FF2B5EF4-FFF2-40B4-BE49-F238E27FC236}">
                <a16:creationId xmlns:a16="http://schemas.microsoft.com/office/drawing/2014/main" id="{2F7D7B16-00BF-4E89-AD8E-B3DE132B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1" name="cell-1-2">
            <a:extLst xmlns:a="http://schemas.openxmlformats.org/drawingml/2006/main">
              <a:ext uri="{FF2B5EF4-FFF2-40B4-BE49-F238E27FC236}">
                <a16:creationId xmlns:a16="http://schemas.microsoft.com/office/drawing/2014/main" id="{F4F8CD46-59CF-4191-8DFD-63ADF2A3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9087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2" name="cell-2-0">
            <a:extLst xmlns:a="http://schemas.openxmlformats.org/drawingml/2006/main">
              <a:ext uri="{FF2B5EF4-FFF2-40B4-BE49-F238E27FC236}">
                <a16:creationId xmlns:a16="http://schemas.microsoft.com/office/drawing/2014/main" id="{8582CAB0-9391-4222-A6FF-3AAFFFB9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09B5013D-FEA1-4213-A1B2-7A72700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481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4" name="cell-2-2">
            <a:extLst xmlns:a="http://schemas.openxmlformats.org/drawingml/2006/main">
              <a:ext uri="{FF2B5EF4-FFF2-40B4-BE49-F238E27FC236}">
                <a16:creationId xmlns:a16="http://schemas.microsoft.com/office/drawing/2014/main" id="{DC1CA5BD-9AFA-47E2-9261-3FEDE3D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48125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5" name="piece-2-2">
            <a:extLst xmlns:a="http://schemas.openxmlformats.org/drawingml/2006/main">
              <a:ext uri="{FF2B5EF4-FFF2-40B4-BE49-F238E27FC236}">
                <a16:creationId xmlns:a16="http://schemas.microsoft.com/office/drawing/2014/main" id="{96911196-EE64-4E3D-95F6-7017D75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48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6" name="lesson-box">
            <a:extLst xmlns:a="http://schemas.openxmlformats.org/drawingml/2006/main">
              <a:ext uri="{FF2B5EF4-FFF2-40B4-BE49-F238E27FC236}">
                <a16:creationId xmlns:a16="http://schemas.microsoft.com/office/drawing/2014/main" id="{ABCD2493-DFC8-41A5-9EE1-FB9ED6C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86375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3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FF55E62-B8F6-48EA-BA69-2DE84803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816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The input section is still empty.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9C904A8-886D-49D5-978D-5554854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3 · reference/03.cpp · PART A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83ED227-657C-45EB-BC02-5672105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Turn a Click into a Cell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8488352-5CC2-40AA-9542-FC6A70DE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B4A68D9-AF16-4FFE-873D-99A7517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16" name="step-label">
            <a:extLst xmlns:a="http://schemas.openxmlformats.org/drawingml/2006/main">
              <a:ext uri="{FF2B5EF4-FFF2-40B4-BE49-F238E27FC236}">
                <a16:creationId xmlns:a16="http://schemas.microsoft.com/office/drawing/2014/main" id="{B7401002-0D58-4FB8-8D4C-AEBFFBC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7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31A3DBFD-BF3D-4FA3-95DC-4C25B510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STEP 3A</a:t>
            </a:r>
          </a:p>
        </p:txBody>
      </p:sp>
      <p:sp>
        <p:nvSpPr>
          <p:cNvPr id="1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4A6F547-07BE-4B99-8E90-383C64C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76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One click gives pixel coordinates; integer division chooses a cell.</a:t>
            </a:r>
          </a:p>
        </p:txBody>
      </p:sp>
      <p:sp>
        <p:nvSpPr>
          <p:cNvPr id="19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0CBC652F-1912-4602-ABD2-9A312D7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0" name="code">
            <a:extLst xmlns:a="http://schemas.openxmlformats.org/drawingml/2006/main">
              <a:ext uri="{FF2B5EF4-FFF2-40B4-BE49-F238E27FC236}">
                <a16:creationId xmlns:a16="http://schemas.microsoft.com/office/drawing/2014/main" id="{A865A582-8C12-4567-82BC-A62AFB5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5486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(IsMouseButtonPressed(MOUSE_BUTTON_LEFT))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const int mouse_x = GetMouseX();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const int mouse_y = GetMouseY();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const int column = mouse_x / 300;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const int row = mouse_y / 300;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board-back">
            <a:extLst xmlns:a="http://schemas.openxmlformats.org/drawingml/2006/main">
              <a:ext uri="{FF2B5EF4-FFF2-40B4-BE49-F238E27FC236}">
                <a16:creationId xmlns:a16="http://schemas.microsoft.com/office/drawing/2014/main" id="{66F98C8B-B677-4CB3-AAD3-68BF6E3C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09800"/>
            <a:ext cx="29146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2" name="cell-0-0">
            <a:extLst xmlns:a="http://schemas.openxmlformats.org/drawingml/2006/main">
              <a:ext uri="{FF2B5EF4-FFF2-40B4-BE49-F238E27FC236}">
                <a16:creationId xmlns:a16="http://schemas.microsoft.com/office/drawing/2014/main" id="{021F86E5-D4FA-41E8-B19E-1835109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3" name="cell-0-1">
            <a:extLst xmlns:a="http://schemas.openxmlformats.org/drawingml/2006/main">
              <a:ext uri="{FF2B5EF4-FFF2-40B4-BE49-F238E27FC236}">
                <a16:creationId xmlns:a16="http://schemas.microsoft.com/office/drawing/2014/main" id="{00EE9987-F77E-4087-A360-F792FFC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4" name="cell-0-2">
            <a:extLst xmlns:a="http://schemas.openxmlformats.org/drawingml/2006/main">
              <a:ext uri="{FF2B5EF4-FFF2-40B4-BE49-F238E27FC236}">
                <a16:creationId xmlns:a16="http://schemas.microsoft.com/office/drawing/2014/main" id="{BE846561-6F4C-400C-A52B-6EE3CE1E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5" name="cell-1-0">
            <a:extLst xmlns:a="http://schemas.openxmlformats.org/drawingml/2006/main">
              <a:ext uri="{FF2B5EF4-FFF2-40B4-BE49-F238E27FC236}">
                <a16:creationId xmlns:a16="http://schemas.microsoft.com/office/drawing/2014/main" id="{901E0136-CED5-4756-8094-4037388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6" name="cell-1-1">
            <a:extLst xmlns:a="http://schemas.openxmlformats.org/drawingml/2006/main">
              <a:ext uri="{FF2B5EF4-FFF2-40B4-BE49-F238E27FC236}">
                <a16:creationId xmlns:a16="http://schemas.microsoft.com/office/drawing/2014/main" id="{A5C82D63-C677-492E-A7A7-159DE814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7576C270-B3DC-4282-B8FC-E6399995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28575">
            <a:solidFill>
              <a:srgbClr val="F5C451"/>
            </a:solidFill>
            <a:prstDash val="solid"/>
          </a:ln>
        </p:spPr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7A1039B5-73F2-4B5F-9645-DF26601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957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9" name="cell-2-1">
            <a:extLst xmlns:a="http://schemas.openxmlformats.org/drawingml/2006/main">
              <a:ext uri="{FF2B5EF4-FFF2-40B4-BE49-F238E27FC236}">
                <a16:creationId xmlns:a16="http://schemas.microsoft.com/office/drawing/2014/main" id="{2E89F0BE-3D04-4337-972F-1117ADB4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957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0" name="cell-2-2">
            <a:extLst xmlns:a="http://schemas.openxmlformats.org/drawingml/2006/main">
              <a:ext uri="{FF2B5EF4-FFF2-40B4-BE49-F238E27FC236}">
                <a16:creationId xmlns:a16="http://schemas.microsoft.com/office/drawing/2014/main" id="{D553436F-1244-45C7-8DE6-833F3AF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95750"/>
            <a:ext cx="85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F5A381D-CEEE-471D-BCEC-3B5D0CE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911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mouse (742, 465)</a:t>
            </a:r>
          </a:p>
        </p:txBody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60F68C35-009E-4C17-A009-393A409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→ row 1, column 2</a:t>
            </a:r>
          </a:p>
        </p:txBody>
      </p:sp>
    </p:spTree>
    <p:extLst>
      <p:ext uri="{BB962C8B-B14F-4D97-AF65-F5344CB8AC3E}">
        <p14:creationId xmlns:p14="http://schemas.microsoft.com/office/powerpoint/2010/main" val="501949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700243-6847-423D-9FA4-F6623B9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3 · reference/03.cpp · PART B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778F46-416C-4E48-8D9D-693E52E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Place a Piece and Switch Turns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67E10BB-6FB2-41C1-9100-504AAF7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68FD21-A52D-4D83-9457-98297617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18" name="step-label">
            <a:extLst xmlns:a="http://schemas.openxmlformats.org/drawingml/2006/main">
              <a:ext uri="{FF2B5EF4-FFF2-40B4-BE49-F238E27FC236}">
                <a16:creationId xmlns:a16="http://schemas.microsoft.com/office/drawing/2014/main" id="{84258B1D-DDB9-4AE9-93F9-3ED3BE85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19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8DAE9DC3-F116-42DF-9C71-5C7F7C55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STEP 3B</a:t>
            </a:r>
          </a:p>
        </p:txBody>
      </p:sp>
      <p:sp>
        <p:nvSpPr>
          <p:cNvPr id="2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8A652A1-D18E-48CF-93CD-C564F891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763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Only an empty cell can change. A valid move passes control to the other player.</a:t>
            </a:r>
          </a:p>
        </p:txBody>
      </p:sp>
      <p:sp>
        <p:nvSpPr>
          <p:cNvPr id="21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3DD6157B-2246-4173-834A-ADC2960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2" name="code">
            <a:extLst xmlns:a="http://schemas.openxmlformats.org/drawingml/2006/main">
              <a:ext uri="{FF2B5EF4-FFF2-40B4-BE49-F238E27FC236}">
                <a16:creationId xmlns:a16="http://schemas.microsoft.com/office/drawing/2014/main" id="{52788C88-7A7D-431F-A21D-0BCCE070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52959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(board[row][column] == '-')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board[row][column] = current_player;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// after result checks...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current_player =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current_player == 'X' ? 'O' : 'X';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lesson-box">
            <a:extLst xmlns:a="http://schemas.openxmlformats.org/drawingml/2006/main">
              <a:ext uri="{FF2B5EF4-FFF2-40B4-BE49-F238E27FC236}">
                <a16:creationId xmlns:a16="http://schemas.microsoft.com/office/drawing/2014/main" id="{6CDAD738-4F42-4B71-8F39-F084C5FA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095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136068F-285B-4915-9151-70DC197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51C3AB64-9878-40CC-9F86-FFC1881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57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EMPTY?</a:t>
            </a:r>
          </a:p>
        </p:txBody>
      </p:sp>
      <p:sp>
        <p:nvSpPr>
          <p:cNvPr id="26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A3F7128-6652-4C99-958A-4BE56BD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622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board[row][column] == '-'</a:t>
            </a:r>
          </a:p>
        </p:txBody>
      </p:sp>
      <p:sp>
        <p:nvSpPr>
          <p:cNvPr id="27" name="lesson-box">
            <a:extLst xmlns:a="http://schemas.openxmlformats.org/drawingml/2006/main">
              <a:ext uri="{FF2B5EF4-FFF2-40B4-BE49-F238E27FC236}">
                <a16:creationId xmlns:a16="http://schemas.microsoft.com/office/drawing/2014/main" id="{5BA47914-09A5-43A0-BAB5-C291AF0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095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2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AD6FAAF-4A10-4CBA-BDDB-83EB157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477B66D-A61F-4A3A-BDEB-5795F72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PLACE</a:t>
            </a:r>
          </a:p>
        </p:txBody>
      </p:sp>
      <p:sp>
        <p:nvSpPr>
          <p:cNvPr id="3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1C3C13A-58BB-46A9-8361-3F7163C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52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board[row][column] = current_player</a:t>
            </a:r>
          </a:p>
        </p:txBody>
      </p:sp>
      <p:sp>
        <p:nvSpPr>
          <p:cNvPr id="31" name="lesson-box">
            <a:extLst xmlns:a="http://schemas.openxmlformats.org/drawingml/2006/main">
              <a:ext uri="{FF2B5EF4-FFF2-40B4-BE49-F238E27FC236}">
                <a16:creationId xmlns:a16="http://schemas.microsoft.com/office/drawing/2014/main" id="{7CD7F16A-84E5-4D35-9CC2-751F43F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095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4BC38A"/>
            </a:solidFill>
            <a:prstDash val="solid"/>
          </a:ln>
        </p:spPr>
      </p:sp>
      <p:sp>
        <p:nvSpPr>
          <p:cNvPr id="3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3367204F-A64E-4DFE-BB58-B3CEB987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4447FD37-F110-44CF-9A13-D87CFF57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38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SWITCH</a:t>
            </a:r>
          </a:p>
        </p:txBody>
      </p:sp>
      <p:sp>
        <p:nvSpPr>
          <p:cNvPr id="3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3884F861-B424-4E37-AAA1-1EB8E63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43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X becomes O · O becomes X</a:t>
            </a:r>
          </a:p>
        </p:txBody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1EECB27-68A7-417C-A01F-785E2A0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Clicking an occupied cell does nothing.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7B1E58-9D4A-4232-874F-1BD7491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3 · reference/03.cpp · PART C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AD3988-A4FA-449C-8719-DE428F2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Detect the Result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9721E4-B84D-4C88-BA23-6EA63EA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609F21D-F51B-48D2-88EB-836CBBD6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22" name="step-label">
            <a:extLst xmlns:a="http://schemas.openxmlformats.org/drawingml/2006/main">
              <a:ext uri="{FF2B5EF4-FFF2-40B4-BE49-F238E27FC236}">
                <a16:creationId xmlns:a16="http://schemas.microsoft.com/office/drawing/2014/main" id="{7CD4D404-16A0-46D9-8CDA-91E1C794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E8F8F0"/>
            </a:solidFill>
            <a:prstDash val="solid"/>
          </a:ln>
        </p:spPr>
      </p:sp>
      <p:sp>
        <p:nvSpPr>
          <p:cNvPr id="23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4B708220-B5D1-43A8-BCFB-C56C7EA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STEP 3C</a:t>
            </a:r>
          </a:p>
        </p:txBody>
      </p:sp>
      <p:sp>
        <p:nvSpPr>
          <p:cNvPr id="2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EB859A3F-350B-47DE-980A-FAC62A8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763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After each move, check for a winner first, then check for a full board.</a:t>
            </a:r>
          </a:p>
        </p:txBody>
      </p:sp>
      <p:sp>
        <p:nvSpPr>
          <p:cNvPr id="25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F99DA5A0-858D-4493-8C8E-7A1733A6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4292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6" name="code">
            <a:extLst xmlns:a="http://schemas.openxmlformats.org/drawingml/2006/main">
              <a:ext uri="{FF2B5EF4-FFF2-40B4-BE49-F238E27FC236}">
                <a16:creationId xmlns:a16="http://schemas.microsoft.com/office/drawing/2014/main" id="{5911EB23-2C52-44CC-B6B9-DEBA1D4E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5010150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(check_win(board, current_player))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current_player;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 if (is_board_full(board))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'D';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current_player =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current_player == 'X' ? 'O' : 'X';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97DF492-FD78-4571-B7F5-0130A2BB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8 winning lines</a:t>
            </a:r>
          </a:p>
        </p:txBody>
      </p:sp>
      <p:sp>
        <p:nvSpPr>
          <p:cNvPr id="28" name="lesson-box">
            <a:extLst xmlns:a="http://schemas.openxmlformats.org/drawingml/2006/main">
              <a:ext uri="{FF2B5EF4-FFF2-40B4-BE49-F238E27FC236}">
                <a16:creationId xmlns:a16="http://schemas.microsoft.com/office/drawing/2014/main" id="{84432EE5-E107-4446-A406-F801F677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9" name="lesson-rule">
            <a:extLst xmlns:a="http://schemas.openxmlformats.org/drawingml/2006/main">
              <a:ext uri="{FF2B5EF4-FFF2-40B4-BE49-F238E27FC236}">
                <a16:creationId xmlns:a16="http://schemas.microsoft.com/office/drawing/2014/main" id="{C882596A-5AD5-4E76-BB14-6BE2E4B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581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sson-box">
            <a:extLst xmlns:a="http://schemas.openxmlformats.org/drawingml/2006/main">
              <a:ext uri="{FF2B5EF4-FFF2-40B4-BE49-F238E27FC236}">
                <a16:creationId xmlns:a16="http://schemas.microsoft.com/office/drawing/2014/main" id="{EA3FEE03-C929-4C5D-B447-8B60B3C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1" name="lesson-rule">
            <a:extLst xmlns:a="http://schemas.openxmlformats.org/drawingml/2006/main">
              <a:ext uri="{FF2B5EF4-FFF2-40B4-BE49-F238E27FC236}">
                <a16:creationId xmlns:a16="http://schemas.microsoft.com/office/drawing/2014/main" id="{2296C686-24C4-4067-AE65-E58E5AB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71800"/>
            <a:ext cx="581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esson-box">
            <a:extLst xmlns:a="http://schemas.openxmlformats.org/drawingml/2006/main">
              <a:ext uri="{FF2B5EF4-FFF2-40B4-BE49-F238E27FC236}">
                <a16:creationId xmlns:a16="http://schemas.microsoft.com/office/drawing/2014/main" id="{8D54DBF0-2081-45AD-A0FA-C914449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3" name="lesson-rule">
            <a:extLst xmlns:a="http://schemas.openxmlformats.org/drawingml/2006/main">
              <a:ext uri="{FF2B5EF4-FFF2-40B4-BE49-F238E27FC236}">
                <a16:creationId xmlns:a16="http://schemas.microsoft.com/office/drawing/2014/main" id="{798CC7F7-2BA8-4874-841A-03F9CF5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581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esson-box">
            <a:extLst xmlns:a="http://schemas.openxmlformats.org/drawingml/2006/main">
              <a:ext uri="{FF2B5EF4-FFF2-40B4-BE49-F238E27FC236}">
                <a16:creationId xmlns:a16="http://schemas.microsoft.com/office/drawing/2014/main" id="{9F569D62-8153-44F9-B845-A00FD74E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5" name="win-line-vertical">
            <a:extLst xmlns:a="http://schemas.openxmlformats.org/drawingml/2006/main">
              <a:ext uri="{FF2B5EF4-FFF2-40B4-BE49-F238E27FC236}">
                <a16:creationId xmlns:a16="http://schemas.microsoft.com/office/drawing/2014/main" id="{B10708EF-0741-4492-B4AC-B4063F1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8605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E8"/>
          </a:solidFill>
          <a:ln xmlns:a="http://schemas.openxmlformats.org/drawingml/2006/main" w="0">
            <a:solidFill>
              <a:srgbClr val="55A7E8"/>
            </a:solidFill>
            <a:prstDash val="solid"/>
          </a:ln>
        </p:spPr>
      </p:sp>
      <p:sp>
        <p:nvSpPr>
          <p:cNvPr id="36" name="lesson-box">
            <a:extLst xmlns:a="http://schemas.openxmlformats.org/drawingml/2006/main">
              <a:ext uri="{FF2B5EF4-FFF2-40B4-BE49-F238E27FC236}">
                <a16:creationId xmlns:a16="http://schemas.microsoft.com/office/drawing/2014/main" id="{6A958505-E4B5-42C9-997E-8D58A44C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7" name="win-line-vertical">
            <a:extLst xmlns:a="http://schemas.openxmlformats.org/drawingml/2006/main">
              <a:ext uri="{FF2B5EF4-FFF2-40B4-BE49-F238E27FC236}">
                <a16:creationId xmlns:a16="http://schemas.microsoft.com/office/drawing/2014/main" id="{F5B646EA-FFAC-4CD7-918B-E554840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766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E8"/>
          </a:solidFill>
          <a:ln xmlns:a="http://schemas.openxmlformats.org/drawingml/2006/main" w="0">
            <a:solidFill>
              <a:srgbClr val="55A7E8"/>
            </a:solidFill>
            <a:prstDash val="solid"/>
          </a:ln>
        </p:spPr>
      </p:sp>
      <p:sp>
        <p:nvSpPr>
          <p:cNvPr id="38" name="lesson-box">
            <a:extLst xmlns:a="http://schemas.openxmlformats.org/drawingml/2006/main">
              <a:ext uri="{FF2B5EF4-FFF2-40B4-BE49-F238E27FC236}">
                <a16:creationId xmlns:a16="http://schemas.microsoft.com/office/drawing/2014/main" id="{F5930E3F-7FE2-4FCB-AC8A-D62DB08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9" name="win-line-vertical">
            <a:extLst xmlns:a="http://schemas.openxmlformats.org/drawingml/2006/main">
              <a:ext uri="{FF2B5EF4-FFF2-40B4-BE49-F238E27FC236}">
                <a16:creationId xmlns:a16="http://schemas.microsoft.com/office/drawing/2014/main" id="{566669B9-D030-4B99-B6CA-2095B506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766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E8"/>
          </a:solidFill>
          <a:ln xmlns:a="http://schemas.openxmlformats.org/drawingml/2006/main" w="0">
            <a:solidFill>
              <a:srgbClr val="55A7E8"/>
            </a:solidFill>
            <a:prstDash val="solid"/>
          </a:ln>
        </p:spPr>
      </p:sp>
      <p:sp>
        <p:nvSpPr>
          <p:cNvPr id="40" name="lesson-box">
            <a:extLst xmlns:a="http://schemas.openxmlformats.org/drawingml/2006/main">
              <a:ext uri="{FF2B5EF4-FFF2-40B4-BE49-F238E27FC236}">
                <a16:creationId xmlns:a16="http://schemas.microsoft.com/office/drawing/2014/main" id="{8939F447-4184-4F5D-8928-15478B7D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62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1" name="win-line-diagonal">
            <a:extLst xmlns:a="http://schemas.openxmlformats.org/drawingml/2006/main">
              <a:ext uri="{FF2B5EF4-FFF2-40B4-BE49-F238E27FC236}">
                <a16:creationId xmlns:a16="http://schemas.microsoft.com/office/drawing/2014/main" id="{5411A7C9-1F62-4578-A4BE-BE51B33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905250"/>
            <a:ext cx="523875" cy="52387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9C7BEA"/>
            </a:solidFill>
            <a:prstDash val="solid"/>
          </a:ln>
        </p:spPr>
      </p:sp>
      <p:sp>
        <p:nvSpPr>
          <p:cNvPr id="42" name="lesson-box">
            <a:extLst xmlns:a="http://schemas.openxmlformats.org/drawingml/2006/main">
              <a:ext uri="{FF2B5EF4-FFF2-40B4-BE49-F238E27FC236}">
                <a16:creationId xmlns:a16="http://schemas.microsoft.com/office/drawing/2014/main" id="{094E0045-C80B-494F-BBCA-D36D75D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62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3" name="win-line-diagonal">
            <a:extLst xmlns:a="http://schemas.openxmlformats.org/drawingml/2006/main">
              <a:ext uri="{FF2B5EF4-FFF2-40B4-BE49-F238E27FC236}">
                <a16:creationId xmlns:a16="http://schemas.microsoft.com/office/drawing/2014/main" id="{06616C5D-4351-433D-BCF4-344597BC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96500" y="3905250"/>
            <a:ext cx="523875" cy="52387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9C7BEA"/>
            </a:solidFill>
            <a:prstDash val="solid"/>
          </a:ln>
        </p:spPr>
      </p:sp>
      <p:sp>
        <p:nvSpPr>
          <p:cNvPr id="44" name="lesson-box">
            <a:extLst xmlns:a="http://schemas.openxmlformats.org/drawingml/2006/main">
              <a:ext uri="{FF2B5EF4-FFF2-40B4-BE49-F238E27FC236}">
                <a16:creationId xmlns:a16="http://schemas.microsoft.com/office/drawing/2014/main" id="{C8AE25CE-B80C-49E9-9C12-57D2103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286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4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D3F0E0E8-247B-4D58-B375-F1EED40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197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Result is calculated — not displayed yet.</a:t>
            </a:r>
          </a:p>
        </p:txBody>
      </p:sp>
    </p:spTree>
    <p:extLst>
      <p:ext uri="{BB962C8B-B14F-4D97-AF65-F5344CB8AC3E}">
        <p14:creationId xmlns:p14="http://schemas.microsoft.com/office/powerpoint/2010/main" val="40311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8FF29E1-CD6A-4ABD-8C05-71ABF78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4 · reference/04.cpp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DFDCD55-A448-41EE-8CC3-9F667E66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Show the Result and Restart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8C6D994-809B-4DB3-B430-03FB15BB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97C392B-EB98-4A21-BB02-78B2DD58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16" name="step-label">
            <a:extLst xmlns:a="http://schemas.openxmlformats.org/drawingml/2006/main">
              <a:ext uri="{FF2B5EF4-FFF2-40B4-BE49-F238E27FC236}">
                <a16:creationId xmlns:a16="http://schemas.microsoft.com/office/drawing/2014/main" id="{ADDA7667-6A3F-4003-ADA1-AA7E93D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7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38CF747F-6822-4CA6-8014-2BAC196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STEP 4</a:t>
            </a:r>
          </a:p>
        </p:txBody>
      </p:sp>
      <p:sp>
        <p:nvSpPr>
          <p:cNvPr id="1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31D2FDD-BB08-4D91-8B95-BAE1545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The result becomes visible, and the next click resets all game state.</a:t>
            </a:r>
          </a:p>
        </p:txBody>
      </p:sp>
      <p:sp>
        <p:nvSpPr>
          <p:cNvPr id="19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675C7CE9-32E9-4869-B814-89C7E666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0" name="code">
            <a:extLst xmlns:a="http://schemas.openxmlformats.org/drawingml/2006/main">
              <a:ext uri="{FF2B5EF4-FFF2-40B4-BE49-F238E27FC236}">
                <a16:creationId xmlns:a16="http://schemas.microsoft.com/office/drawing/2014/main" id="{DCA79610-A8EA-4A47-9D31-F8079140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343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(winner != '-')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reset_board(board);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current_player = 'X';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'-';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lesson-box">
            <a:extLst xmlns:a="http://schemas.openxmlformats.org/drawingml/2006/main">
              <a:ext uri="{FF2B5EF4-FFF2-40B4-BE49-F238E27FC236}">
                <a16:creationId xmlns:a16="http://schemas.microsoft.com/office/drawing/2014/main" id="{B9E13F36-4EC9-48C3-B513-81AEC0AC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2033"/>
            </a:solidFill>
            <a:prstDash val="solid"/>
          </a:ln>
        </p:spPr>
      </p:sp>
      <p:sp>
        <p:nvSpPr>
          <p:cNvPr id="2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D88C9A08-64B8-432A-929C-7093B50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X Wins!</a:t>
            </a:r>
          </a:p>
        </p:txBody>
      </p:sp>
      <p:sp>
        <p:nvSpPr>
          <p:cNvPr id="2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5708945B-9B97-4109-8F2C-85FBE87D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Click to restart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A96E41BC-C5DF-4462-B4BB-843A4F02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9625"/>
            <a:ext cx="714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2F52AC23-20B6-4364-A723-97CF77E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winner set</a:t>
            </a:r>
          </a:p>
        </p:txBody>
      </p:sp>
      <p:sp>
        <p:nvSpPr>
          <p:cNvPr id="26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3171B04-B7F8-4BF7-A99D-B7BC522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click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7D47281-D878-45F6-8156-BAA91463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19625"/>
            <a:ext cx="714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8E98898-FD65-4473-B160-38A94DE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52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fresh board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3E8BF89D-B295-4314-96A4-FAD6F50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Step 4 changes behavior and feedback — not the win algorithm.</a:t>
            </a:r>
          </a:p>
        </p:txBody>
      </p:sp>
    </p:spTree>
    <p:extLst>
      <p:ext uri="{BB962C8B-B14F-4D97-AF65-F5344CB8AC3E}">
        <p14:creationId xmlns:p14="http://schemas.microsoft.com/office/powerpoint/2010/main" val="20877398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700243-6847-423D-9FA4-F6623B9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STEP 5 · reference/05.cpp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778F46-416C-4E48-8D9D-693E52E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Polish the Final Game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67E10BB-6FB2-41C1-9100-504AAF7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68FD21-A52D-4D83-9457-98297617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18" name="step-label">
            <a:extLst xmlns:a="http://schemas.openxmlformats.org/drawingml/2006/main">
              <a:ext uri="{FF2B5EF4-FFF2-40B4-BE49-F238E27FC236}">
                <a16:creationId xmlns:a16="http://schemas.microsoft.com/office/drawing/2014/main" id="{CF04D06F-D028-4B52-A231-0C38237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19" name="step-label-text">
            <a:extLst xmlns:a="http://schemas.openxmlformats.org/drawingml/2006/main">
              <a:ext uri="{FF2B5EF4-FFF2-40B4-BE49-F238E27FC236}">
                <a16:creationId xmlns:a16="http://schemas.microsoft.com/office/drawing/2014/main" id="{D4B916F0-9347-4694-81D2-9594B70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STEP 5</a:t>
            </a:r>
          </a:p>
        </p:txBody>
      </p:sp>
      <p:sp>
        <p:nvSpPr>
          <p:cNvPr id="2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10931E2-BAF3-4FD8-BA10-F3FFC271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The rules stay the same. Only spacing and the result panel change.</a:t>
            </a:r>
          </a:p>
        </p:txBody>
      </p:sp>
      <p:sp>
        <p:nvSpPr>
          <p:cNvPr id="2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8225D9E-DB90-4602-831D-AB31767E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BEFORE</a:t>
            </a:r>
          </a:p>
        </p:txBody>
      </p:sp>
      <p:sp>
        <p:nvSpPr>
          <p:cNvPr id="22" name="board-back">
            <a:extLst xmlns:a="http://schemas.openxmlformats.org/drawingml/2006/main">
              <a:ext uri="{FF2B5EF4-FFF2-40B4-BE49-F238E27FC236}">
                <a16:creationId xmlns:a16="http://schemas.microsoft.com/office/drawing/2014/main" id="{0B343972-AF4B-4046-8376-2543A50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2771775" cy="2771775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3" name="cell-0-0">
            <a:extLst xmlns:a="http://schemas.openxmlformats.org/drawingml/2006/main">
              <a:ext uri="{FF2B5EF4-FFF2-40B4-BE49-F238E27FC236}">
                <a16:creationId xmlns:a16="http://schemas.microsoft.com/office/drawing/2014/main" id="{59AA547E-127F-4987-B8E6-11FD47E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4" name="piece-0-0">
            <a:extLst xmlns:a="http://schemas.openxmlformats.org/drawingml/2006/main">
              <a:ext uri="{FF2B5EF4-FFF2-40B4-BE49-F238E27FC236}">
                <a16:creationId xmlns:a16="http://schemas.microsoft.com/office/drawing/2014/main" id="{0D76C467-9422-41AB-95AD-563C9B7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5" name="cell-0-1">
            <a:extLst xmlns:a="http://schemas.openxmlformats.org/drawingml/2006/main">
              <a:ext uri="{FF2B5EF4-FFF2-40B4-BE49-F238E27FC236}">
                <a16:creationId xmlns:a16="http://schemas.microsoft.com/office/drawing/2014/main" id="{FA3EF77C-3D5B-4087-9E68-C6341CF5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6" name="cell-0-2">
            <a:extLst xmlns:a="http://schemas.openxmlformats.org/drawingml/2006/main">
              <a:ext uri="{FF2B5EF4-FFF2-40B4-BE49-F238E27FC236}">
                <a16:creationId xmlns:a16="http://schemas.microsoft.com/office/drawing/2014/main" id="{8B5FDD31-CDAC-4D68-AAE1-A939FB7F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7" name="cell-1-0">
            <a:extLst xmlns:a="http://schemas.openxmlformats.org/drawingml/2006/main">
              <a:ext uri="{FF2B5EF4-FFF2-40B4-BE49-F238E27FC236}">
                <a16:creationId xmlns:a16="http://schemas.microsoft.com/office/drawing/2014/main" id="{4442B74B-9023-4E30-946A-30619BD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8" name="cell-1-1">
            <a:extLst xmlns:a="http://schemas.openxmlformats.org/drawingml/2006/main">
              <a:ext uri="{FF2B5EF4-FFF2-40B4-BE49-F238E27FC236}">
                <a16:creationId xmlns:a16="http://schemas.microsoft.com/office/drawing/2014/main" id="{79F85A6E-614C-4CAC-AFE5-D77F0F0F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29" name="piece-1-1">
            <a:extLst xmlns:a="http://schemas.openxmlformats.org/drawingml/2006/main">
              <a:ext uri="{FF2B5EF4-FFF2-40B4-BE49-F238E27FC236}">
                <a16:creationId xmlns:a16="http://schemas.microsoft.com/office/drawing/2014/main" id="{2FB52894-4A37-43E5-AFA1-E2C8EB7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81375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0" name="cell-1-2">
            <a:extLst xmlns:a="http://schemas.openxmlformats.org/drawingml/2006/main">
              <a:ext uri="{FF2B5EF4-FFF2-40B4-BE49-F238E27FC236}">
                <a16:creationId xmlns:a16="http://schemas.microsoft.com/office/drawing/2014/main" id="{591BCC27-3867-4312-9935-41DEC2D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01844D56-8D06-4CF4-B7B9-5CC756EC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2" name="cell-2-1">
            <a:extLst xmlns:a="http://schemas.openxmlformats.org/drawingml/2006/main">
              <a:ext uri="{FF2B5EF4-FFF2-40B4-BE49-F238E27FC236}">
                <a16:creationId xmlns:a16="http://schemas.microsoft.com/office/drawing/2014/main" id="{31D5F573-A92D-453F-9915-BB977AA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B70E14DC-DF3F-4FF0-BD78-B47CC6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4" name="piece-2-2">
            <a:extLst xmlns:a="http://schemas.openxmlformats.org/drawingml/2006/main">
              <a:ext uri="{FF2B5EF4-FFF2-40B4-BE49-F238E27FC236}">
                <a16:creationId xmlns:a16="http://schemas.microsoft.com/office/drawing/2014/main" id="{CE3577A2-42F9-45CC-83FA-0D4C0E1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91000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95EFE896-9A3F-4478-BEB0-0F4F2494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4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AFTER</a:t>
            </a:r>
          </a:p>
        </p:txBody>
      </p:sp>
      <p:sp>
        <p:nvSpPr>
          <p:cNvPr id="36" name="board-back">
            <a:extLst xmlns:a="http://schemas.openxmlformats.org/drawingml/2006/main">
              <a:ext uri="{FF2B5EF4-FFF2-40B4-BE49-F238E27FC236}">
                <a16:creationId xmlns:a16="http://schemas.microsoft.com/office/drawing/2014/main" id="{B42FB80C-1D69-484B-B1BA-96FDF60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2771775" cy="2771775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37" name="cell-0-0">
            <a:extLst xmlns:a="http://schemas.openxmlformats.org/drawingml/2006/main">
              <a:ext uri="{FF2B5EF4-FFF2-40B4-BE49-F238E27FC236}">
                <a16:creationId xmlns:a16="http://schemas.microsoft.com/office/drawing/2014/main" id="{376FA6E4-FA4E-4808-94AE-B6222C7A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38" name="piece-0-0">
            <a:extLst xmlns:a="http://schemas.openxmlformats.org/drawingml/2006/main">
              <a:ext uri="{FF2B5EF4-FFF2-40B4-BE49-F238E27FC236}">
                <a16:creationId xmlns:a16="http://schemas.microsoft.com/office/drawing/2014/main" id="{96A9F971-A47F-4A18-927A-F29924A2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9" name="cell-0-1">
            <a:extLst xmlns:a="http://schemas.openxmlformats.org/drawingml/2006/main">
              <a:ext uri="{FF2B5EF4-FFF2-40B4-BE49-F238E27FC236}">
                <a16:creationId xmlns:a16="http://schemas.microsoft.com/office/drawing/2014/main" id="{30FFD279-5C5A-48CB-8812-2AAC63BC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0" name="cell-0-2">
            <a:extLst xmlns:a="http://schemas.openxmlformats.org/drawingml/2006/main">
              <a:ext uri="{FF2B5EF4-FFF2-40B4-BE49-F238E27FC236}">
                <a16:creationId xmlns:a16="http://schemas.microsoft.com/office/drawing/2014/main" id="{6BC22929-37C9-486E-B516-EE7B93B9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1" name="cell-1-0">
            <a:extLst xmlns:a="http://schemas.openxmlformats.org/drawingml/2006/main">
              <a:ext uri="{FF2B5EF4-FFF2-40B4-BE49-F238E27FC236}">
                <a16:creationId xmlns:a16="http://schemas.microsoft.com/office/drawing/2014/main" id="{A7D99C37-9197-4D01-983B-3D8733EF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2" name="cell-1-1">
            <a:extLst xmlns:a="http://schemas.openxmlformats.org/drawingml/2006/main">
              <a:ext uri="{FF2B5EF4-FFF2-40B4-BE49-F238E27FC236}">
                <a16:creationId xmlns:a16="http://schemas.microsoft.com/office/drawing/2014/main" id="{4DEE8B3C-475F-4CC9-8C4B-D69FE83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3" name="piece-1-1">
            <a:extLst xmlns:a="http://schemas.openxmlformats.org/drawingml/2006/main">
              <a:ext uri="{FF2B5EF4-FFF2-40B4-BE49-F238E27FC236}">
                <a16:creationId xmlns:a16="http://schemas.microsoft.com/office/drawing/2014/main" id="{A12666C1-7A0C-4B49-A2A8-17778894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81375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44" name="cell-1-2">
            <a:extLst xmlns:a="http://schemas.openxmlformats.org/drawingml/2006/main">
              <a:ext uri="{FF2B5EF4-FFF2-40B4-BE49-F238E27FC236}">
                <a16:creationId xmlns:a16="http://schemas.microsoft.com/office/drawing/2014/main" id="{84D26D58-AA93-4CE4-BCC2-22EA968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5" name="cell-2-0">
            <a:extLst xmlns:a="http://schemas.openxmlformats.org/drawingml/2006/main">
              <a:ext uri="{FF2B5EF4-FFF2-40B4-BE49-F238E27FC236}">
                <a16:creationId xmlns:a16="http://schemas.microsoft.com/office/drawing/2014/main" id="{F208EB85-7161-41C0-9613-37EA99B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6" name="cell-2-1">
            <a:extLst xmlns:a="http://schemas.openxmlformats.org/drawingml/2006/main">
              <a:ext uri="{FF2B5EF4-FFF2-40B4-BE49-F238E27FC236}">
                <a16:creationId xmlns:a16="http://schemas.microsoft.com/office/drawing/2014/main" id="{54BD2E0D-7D75-4AE8-AC6D-6FB3F501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7" name="cell-2-2">
            <a:extLst xmlns:a="http://schemas.openxmlformats.org/drawingml/2006/main">
              <a:ext uri="{FF2B5EF4-FFF2-40B4-BE49-F238E27FC236}">
                <a16:creationId xmlns:a16="http://schemas.microsoft.com/office/drawing/2014/main" id="{8E8EE1A4-ACAE-4E7D-B6F7-62E95893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9100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2033"/>
            </a:solidFill>
            <a:prstDash val="solid"/>
          </a:ln>
        </p:spPr>
      </p:sp>
      <p:sp>
        <p:nvSpPr>
          <p:cNvPr id="48" name="piece-2-2">
            <a:extLst xmlns:a="http://schemas.openxmlformats.org/drawingml/2006/main">
              <a:ext uri="{FF2B5EF4-FFF2-40B4-BE49-F238E27FC236}">
                <a16:creationId xmlns:a16="http://schemas.microsoft.com/office/drawing/2014/main" id="{F0E00795-4DB5-441E-880E-9C4FDC74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91000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49" name="lesson-box">
            <a:extLst xmlns:a="http://schemas.openxmlformats.org/drawingml/2006/main">
              <a:ext uri="{FF2B5EF4-FFF2-40B4-BE49-F238E27FC236}">
                <a16:creationId xmlns:a16="http://schemas.microsoft.com/office/drawing/2014/main" id="{0C83090C-E407-497B-88AC-EAFBA527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86125"/>
            <a:ext cx="3095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2033"/>
            </a:solidFill>
            <a:prstDash val="solid"/>
          </a:ln>
        </p:spPr>
      </p:sp>
      <p:sp>
        <p:nvSpPr>
          <p:cNvPr id="50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582D954-5673-4F26-9970-0DE6AFAE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X Wins!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Click to restart</a:t>
            </a:r>
          </a:p>
        </p:txBody>
      </p:sp>
      <p:sp>
        <p:nvSpPr>
          <p:cNvPr id="51" name="flow-arrow">
            <a:extLst xmlns:a="http://schemas.openxmlformats.org/drawingml/2006/main">
              <a:ext uri="{FF2B5EF4-FFF2-40B4-BE49-F238E27FC236}">
                <a16:creationId xmlns:a16="http://schemas.microsoft.com/office/drawing/2014/main" id="{1D4F38EC-246B-4495-99AC-6235A6A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5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DDA9A434-832C-4D9B-BF60-BF6BF85D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3" name="code">
            <a:extLst xmlns:a="http://schemas.openxmlformats.org/drawingml/2006/main">
              <a:ext uri="{FF2B5EF4-FFF2-40B4-BE49-F238E27FC236}">
                <a16:creationId xmlns:a16="http://schemas.microsoft.com/office/drawing/2014/main" id="{5EE065A4-2FAE-4B2B-B4C2-53005165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38775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DrawLine(left + 40, ... right - 40, ...);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DrawRectangle(250, 330, 400, 160, RAYWHITE);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5BACE9E-7A8E-4282-A946-8C72F99D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OPTIONAL · EXTENSION CHALLENGE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B1CFA4D-3D75-42B0-85E4-115DFE8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Turn It into Gomoku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F574911-0F7B-4B1C-B05E-BFB00F8F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Tic Tac Toe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E2B5C4-B438-4442-8822-2A36B40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1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F51E984-D450-4B54-81B8-C6779A5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The same ideas still work — but the hard-coded 3 × 3 rules must become general.</a:t>
            </a:r>
          </a:p>
        </p:txBody>
      </p:sp>
      <p:sp>
        <p:nvSpPr>
          <p:cNvPr id="20" name="lesson-box">
            <a:extLst xmlns:a="http://schemas.openxmlformats.org/drawingml/2006/main">
              <a:ext uri="{FF2B5EF4-FFF2-40B4-BE49-F238E27FC236}">
                <a16:creationId xmlns:a16="http://schemas.microsoft.com/office/drawing/2014/main" id="{A4F12ABD-7F50-4CE0-BB58-0DD469B4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5C451"/>
            </a:solidFill>
            <a:prstDash val="solid"/>
          </a:ln>
        </p:spPr>
      </p:sp>
      <p:sp>
        <p:nvSpPr>
          <p:cNvPr id="21" name="lesson-text">
            <a:extLst xmlns:a="http://schemas.openxmlformats.org/drawingml/2006/main">
              <a:ext uri="{FF2B5EF4-FFF2-40B4-BE49-F238E27FC236}">
                <a16:creationId xmlns:a16="http://schemas.microsoft.com/office/drawing/2014/main" id="{E821DD9E-A56E-47CF-B168-702E5424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C45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5C45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2" name="lesson-text">
            <a:extLst xmlns:a="http://schemas.openxmlformats.org/drawingml/2006/main">
              <a:ext uri="{FF2B5EF4-FFF2-40B4-BE49-F238E27FC236}">
                <a16:creationId xmlns:a16="http://schemas.microsoft.com/office/drawing/2014/main" id="{4DFD7454-99B5-4E04-B6F6-D86620A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BASIC</a:t>
            </a:r>
          </a:p>
        </p:txBody>
      </p:sp>
      <p:sp>
        <p:nvSpPr>
          <p:cNvPr id="2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BC485EAC-9055-461E-A277-EE66435E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Make a larger board</a:t>
            </a:r>
          </a:p>
        </p:txBody>
      </p:sp>
      <p:sp>
        <p:nvSpPr>
          <p:cNvPr id="24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37ED1E02-1BED-4DB7-AA7B-FC897AC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2705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5" name="code">
            <a:extLst xmlns:a="http://schemas.openxmlformats.org/drawingml/2006/main">
              <a:ext uri="{FF2B5EF4-FFF2-40B4-BE49-F238E27FC236}">
                <a16:creationId xmlns:a16="http://schemas.microsoft.com/office/drawing/2014/main" id="{D78E3308-D7F1-4898-B5F9-615AB5A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board_size = 15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cell_size = width / board_size</a:t>
            </a:r>
          </a:p>
        </p:txBody>
      </p:sp>
      <p:sp>
        <p:nvSpPr>
          <p:cNvPr id="26" name="lesson-box">
            <a:extLst xmlns:a="http://schemas.openxmlformats.org/drawingml/2006/main">
              <a:ext uri="{FF2B5EF4-FFF2-40B4-BE49-F238E27FC236}">
                <a16:creationId xmlns:a16="http://schemas.microsoft.com/office/drawing/2014/main" id="{FED14139-54CF-493C-9FA9-3E8E4B7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55A7E8"/>
            </a:solidFill>
            <a:prstDash val="solid"/>
          </a:ln>
        </p:spPr>
      </p:sp>
      <p:sp>
        <p:nvSpPr>
          <p:cNvPr id="27" name="lesson-text">
            <a:extLst xmlns:a="http://schemas.openxmlformats.org/drawingml/2006/main">
              <a:ext uri="{FF2B5EF4-FFF2-40B4-BE49-F238E27FC236}">
                <a16:creationId xmlns:a16="http://schemas.microsoft.com/office/drawing/2014/main" id="{A8914E50-D10A-4F07-B5EB-F318A4AF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A7E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A7E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8" name="lesson-text">
            <a:extLst xmlns:a="http://schemas.openxmlformats.org/drawingml/2006/main">
              <a:ext uri="{FF2B5EF4-FFF2-40B4-BE49-F238E27FC236}">
                <a16:creationId xmlns:a16="http://schemas.microsoft.com/office/drawing/2014/main" id="{3549ABD5-B789-4891-BD3B-E059C572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ADVANCED</a:t>
            </a:r>
          </a:p>
        </p:txBody>
      </p:sp>
      <p:sp>
        <p:nvSpPr>
          <p:cNvPr id="29" name="lesson-text">
            <a:extLst xmlns:a="http://schemas.openxmlformats.org/drawingml/2006/main">
              <a:ext uri="{FF2B5EF4-FFF2-40B4-BE49-F238E27FC236}">
                <a16:creationId xmlns:a16="http://schemas.microsoft.com/office/drawing/2014/main" id="{74677914-7158-4352-B4EF-B3A76C3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Find five in a row</a:t>
            </a:r>
          </a:p>
        </p:txBody>
      </p:sp>
      <p:sp>
        <p:nvSpPr>
          <p:cNvPr id="30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7EC77830-FCAA-472E-BF18-68F8853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705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code">
            <a:extLst xmlns:a="http://schemas.openxmlformats.org/drawingml/2006/main">
              <a:ext uri="{FF2B5EF4-FFF2-40B4-BE49-F238E27FC236}">
                <a16:creationId xmlns:a16="http://schemas.microsoft.com/office/drawing/2014/main" id="{8BC7ECE9-CDAD-4606-B745-A19F926D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242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scan horizontal, vertical,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and two diagonal directions</a:t>
            </a:r>
          </a:p>
        </p:txBody>
      </p:sp>
      <p:sp>
        <p:nvSpPr>
          <p:cNvPr id="32" name="lesson-box">
            <a:extLst xmlns:a="http://schemas.openxmlformats.org/drawingml/2006/main">
              <a:ext uri="{FF2B5EF4-FFF2-40B4-BE49-F238E27FC236}">
                <a16:creationId xmlns:a16="http://schemas.microsoft.com/office/drawing/2014/main" id="{CB58F3A3-0264-4577-B579-2D6F2EA3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8F0"/>
          </a:solidFill>
          <a:ln xmlns:a="http://schemas.openxmlformats.org/drawingml/2006/main" w="9525">
            <a:solidFill>
              <a:srgbClr val="4BC38A"/>
            </a:solidFill>
            <a:prstDash val="solid"/>
          </a:ln>
        </p:spPr>
      </p:sp>
      <p:sp>
        <p:nvSpPr>
          <p:cNvPr id="33" name="lesson-text">
            <a:extLst xmlns:a="http://schemas.openxmlformats.org/drawingml/2006/main">
              <a:ext uri="{FF2B5EF4-FFF2-40B4-BE49-F238E27FC236}">
                <a16:creationId xmlns:a16="http://schemas.microsoft.com/office/drawing/2014/main" id="{E5D3DE3A-5FC2-48C2-AC45-DBEA68A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C3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BC3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4" name="lesson-text">
            <a:extLst xmlns:a="http://schemas.openxmlformats.org/drawingml/2006/main">
              <a:ext uri="{FF2B5EF4-FFF2-40B4-BE49-F238E27FC236}">
                <a16:creationId xmlns:a16="http://schemas.microsoft.com/office/drawing/2014/main" id="{1B6F9CD1-8693-4EC0-8EF6-A46AA275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EXTEND</a:t>
            </a:r>
          </a:p>
        </p:txBody>
      </p:sp>
      <p:sp>
        <p:nvSpPr>
          <p:cNvPr id="35" name="lesson-text">
            <a:extLst xmlns:a="http://schemas.openxmlformats.org/drawingml/2006/main">
              <a:ext uri="{FF2B5EF4-FFF2-40B4-BE49-F238E27FC236}">
                <a16:creationId xmlns:a16="http://schemas.microsoft.com/office/drawing/2014/main" id="{841464EC-EDE2-4AEA-A1BF-0963894E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Improve the game</a:t>
            </a:r>
          </a:p>
        </p:txBody>
      </p:sp>
      <p:sp>
        <p:nvSpPr>
          <p:cNvPr id="36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0E6EA97D-80C6-49E1-81C2-E2169A6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705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7" name="code">
            <a:extLst xmlns:a="http://schemas.openxmlformats.org/drawingml/2006/main">
              <a:ext uri="{FF2B5EF4-FFF2-40B4-BE49-F238E27FC236}">
                <a16:creationId xmlns:a16="http://schemas.microsoft.com/office/drawing/2014/main" id="{55A9CE31-F46C-4D88-BE25-F282E4D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242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last-move marker · undo · score</a:t>
            </a:r>
          </a:p>
        </p:txBody>
      </p:sp>
      <p:sp>
        <p:nvSpPr>
          <p:cNvPr id="38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A297D4FB-AAE0-4B94-AC3F-41569C1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685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9" name="code">
            <a:extLst xmlns:a="http://schemas.openxmlformats.org/drawingml/2006/main">
              <a:ext uri="{FF2B5EF4-FFF2-40B4-BE49-F238E27FC236}">
                <a16:creationId xmlns:a16="http://schemas.microsoft.com/office/drawing/2014/main" id="{88175677-EAC6-49FD-B94D-333298E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48275"/>
            <a:ext cx="643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board_size = 15;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win_length = 5;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cell_size = window_width / board_size;</a:t>
            </a:r>
          </a:p>
        </p:txBody>
      </p:sp>
    </p:spTree>
    <p:extLst>
      <p:ext uri="{BB962C8B-B14F-4D97-AF65-F5344CB8AC3E}">
        <p14:creationId xmlns:p14="http://schemas.microsoft.com/office/powerpoint/2010/main" val="1051839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2026-08-08T08:24:36.9740000Z</dcterms:created>
  <dcterms:modified xsi:type="dcterms:W3CDTF">2026-08-08T08:24:36.9740000Z</dcterms:modified>
</coreProperties>
</file>