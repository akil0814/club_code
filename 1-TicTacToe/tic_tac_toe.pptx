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preview the finished project and establish the lesson arc.</a:t>
            </a:r>
          </a:p>
          <a:p>
            <a:r>
              <a:t>中文提示：先运行最终版本，让学生只观察，不解释代码。</a:t>
            </a:r>
          </a:p>
          <a:p>
            <a:r>
              <a:t>Ask: What information must the program remember between clicks?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C:/Code/Club_code/1-TicTacToe/reference/05.cpp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define the behavior before discussing representation.</a:t>
            </a:r>
          </a:p>
          <a:p>
            <a:r>
              <a:t>中文提示：请学生说出程序需要记住的状态：棋盘、当前玩家、结果。</a:t>
            </a:r>
          </a:p>
          <a:p>
            <a:r>
              <a:t>Ask: How does the computer know a cell is empty?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C:/Code/Club_code/1-TicTacToe/reference/05.cpp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connect this project to the Introduction lesson.</a:t>
            </a:r>
          </a:p>
          <a:p>
            <a:r>
              <a:t>中文提示：强调不是学习一个全新的程序结构，而是在旧循环中加入游戏状态。</a:t>
            </a:r>
          </a:p>
          <a:p>
            <a:r>
              <a:t>Ask students to predict which lines belong to input and which belong to render.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C:/Code/Club_code/1-TicTacToe/reference/01.cpp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motivate arrays through repetition.</a:t>
            </a:r>
          </a:p>
          <a:p>
            <a:r>
              <a:t>中文提示：先让学生想象要写 cell_0 到 cell_8，再问如果棋盘更大会怎样。</a:t>
            </a:r>
          </a:p>
          <a:p>
            <a:r>
              <a:t>Ask: What stays the same across all nine variables?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C:/Code/Club_code/1-TicTacToe/reference/01.cpp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establish declaration, size, and zero-based indexing.</a:t>
            </a:r>
          </a:p>
          <a:p>
            <a:r>
              <a:t>中文提示：让学生指出 row[0]、row[1]、row[2] 的值。</a:t>
            </a:r>
          </a:p>
          <a:p>
            <a:r>
              <a:t>Ask: Is row[3] valid? Why not?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C:/Code/Club_code/1-TicTacToe/reference/01.cpp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connect nested arrays to the visual board.</a:t>
            </a:r>
          </a:p>
          <a:p>
            <a:r>
              <a:t>中文提示：始终按 row 在前、column 在后朗读，避免学生把 x/y 和 row/column 混淆。</a:t>
            </a:r>
          </a:p>
          <a:p>
            <a:r>
              <a:t>Ask students to locate board[1][2] before revealing the highlight.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C:/Code/Club_code/1-TicTacToe/reference/01.cpp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explain top-down decomposition before the checkpoints.</a:t>
            </a:r>
          </a:p>
          <a:p>
            <a:r>
              <a:t>中文提示：这里强调函数职责，不要求学生立刻独立写出所有实现。</a:t>
            </a:r>
          </a:p>
          <a:p>
            <a:r>
              <a:t>Ask: Which functions read data, and which function draws?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C:/Code/Club_code/1-TicTacToe/reference/01.cpp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connect array indices, pixels, and mouse input.</a:t>
            </a:r>
          </a:p>
          <a:p>
            <a:r>
              <a:t>中文提示：x 对应 column，y 对应 row；除法从像素得到格子，乘法从格子回到像素。</a:t>
            </a:r>
          </a:p>
          <a:p>
            <a:r>
              <a:t>Ask: Which cell contains mouse position (742, 465)?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C:/Code/Club_code/1-TicTacToe/reference/03.cpp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match the exact state of reference/01.cpp.</a:t>
            </a:r>
          </a:p>
          <a:p>
            <a:r>
              <a:t>中文提示：运行后只有空白窗口是正确结果；这一阶段重点是程序地图。</a:t>
            </a:r>
          </a:p>
          <a:p>
            <a:r>
              <a:t>Checkpoint: open reference/01.cpp. Do not demonstrate clicking yet.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C:/Code/Club_code/1-TicTacToe/reference/01.cpp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match reference/02.cpp exactly: drawing exists, input does not.</a:t>
            </a:r>
          </a:p>
          <a:p>
            <a:r>
              <a:t>中文提示：reference 运行时棋盘为空，因此 X/O 图可通过讲解图或临时测试数据说明，不把测试数据写入 reference。</a:t>
            </a:r>
          </a:p>
          <a:p>
            <a:r>
              <a:t>Checkpoint: open reference/02.cpp. Point out the // input placeholder.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C:/Code/Club_code/1-TicTacToe/reference/02.cpp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explain only the first part of Step 3 while keeping the checkpoint label accurate.</a:t>
            </a:r>
          </a:p>
          <a:p>
            <a:r>
              <a:t>中文提示：先算 column，再算 row；强调窗口边界检查仍然在代码中。</a:t>
            </a:r>
          </a:p>
          <a:p>
            <a:r>
              <a:t>Checkpoint: stay in reference/03.cpp for slides 11–13.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C:/Code/Club_code/1-TicTacToe/reference/03.cpp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trace one valid move through the board state.</a:t>
            </a:r>
          </a:p>
          <a:p>
            <a:r>
              <a:t>中文提示：让学生预测重复点击同一格会发生什么，再指出空格判断。</a:t>
            </a:r>
          </a:p>
          <a:p>
            <a:r>
              <a:t>Checkpoint: this behavior is already inside reference/03.cpp.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C:/Code/Club_code/1-TicTacToe/reference/03.cpp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match the final behavior introduced by reference/03.cpp.</a:t>
            </a:r>
          </a:p>
          <a:p>
            <a:r>
              <a:t>中文提示：胜利判断必须先于棋盘已满判断；获胜后点击被停止，但画面仍只显示 Turn。</a:t>
            </a:r>
          </a:p>
          <a:p>
            <a:r>
              <a:t>Ask: Why should check_win run before is_board_full?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C:/Code/Club_code/1-TicTacToe/reference/03.cpp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show the exact additions in reference/04.cpp.</a:t>
            </a:r>
          </a:p>
          <a:p>
            <a:r>
              <a:t>中文提示：重置时三个状态必须一起恢复，否则会出现旧棋子、错误玩家或错误结果。</a:t>
            </a:r>
          </a:p>
          <a:p>
            <a:r>
              <a:t>Checkpoint: switch from reference/03.cpp to reference/04.cpp and compare the small diff.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C:/Code/Club_code/1-TicTacToe/reference/04.cpp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distinguish visual polish from game logic.</a:t>
            </a:r>
          </a:p>
          <a:p>
            <a:r>
              <a:t>中文提示：对比 04 和 05，指出坐标边距和结果背景框，没有修改输入与胜负逻辑。</a:t>
            </a:r>
          </a:p>
          <a:p>
            <a:r>
              <a:t>Checkpoint: open the diff between reference/04.cpp and reference/05.cpp.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C:/Code/Club_code/1-TicTacToe/reference/05.cpp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transfer array and coordinate ideas to a larger problem without giving a full solution.</a:t>
            </a:r>
          </a:p>
          <a:p>
            <a:r>
              <a:t>中文提示：让学生找出当前代码中所有写死的 3 和 300，再讨论 check_win 为什么不能继续列举组合。</a:t>
            </a:r>
          </a:p>
          <a:p>
            <a:r>
              <a:t>Challenge levels: larger board, five-in-a-row scan, optional game features.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C:/Code/Club_code/1-TicTacToe/reference/05.cpp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7595CED7-A2AD-4A83-86A5-6097C00F7AE6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RAYLIB · CLUB PROJECT 01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3BBF5B2-4853-47C7-ACA5-890CC3EA06A9}"/>
              </a:ext>
            </a:extLst>
          </p:cNvPr>
          <p:cNvSpPr>
            <a:spLocks noGrp="1"/>
          </p:cNvSpPr>
          <p:nvPr/>
        </p:nvSpPr>
        <p:spPr>
          <a:xfrm>
            <a:off x="685800" y="1123950"/>
            <a:ext cx="5429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4050" b="1">
                <a:solidFill>
                  <a:srgbClr val="14213D"/>
                </a:solidFill>
              </a:defRPr>
            </a:pPr>
            <a:r>
              <a:rPr sz="4050" b="1">
                <a:solidFill>
                  <a:srgbClr val="14213D"/>
                </a:solidFill>
              </a:rPr>
              <a:t>Build Tic Tac Toe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877C651-C4EF-4D30-9A8D-B2F71EB6C339}"/>
              </a:ext>
            </a:extLst>
          </p:cNvPr>
          <p:cNvSpPr>
            <a:spLocks noGrp="1"/>
          </p:cNvSpPr>
          <p:nvPr/>
        </p:nvSpPr>
        <p:spPr>
          <a:xfrm>
            <a:off x="723900" y="2781300"/>
            <a:ext cx="4953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00">
                <a:solidFill>
                  <a:srgbClr val="64748B"/>
                </a:solidFill>
              </a:defRPr>
            </a:pPr>
            <a:r>
              <a:rPr sz="1800" dirty="0">
                <a:solidFill>
                  <a:srgbClr val="64748B"/>
                </a:solidFill>
              </a:rPr>
              <a:t>A small game built with arrays, input, rules, and drawing.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37EFF9FA-6745-4618-BA6C-25946DAD4561}"/>
              </a:ext>
            </a:extLst>
          </p:cNvPr>
          <p:cNvSpPr>
            <a:spLocks noGrp="1"/>
          </p:cNvSpPr>
          <p:nvPr/>
        </p:nvSpPr>
        <p:spPr>
          <a:xfrm>
            <a:off x="6229350" y="1690255"/>
            <a:ext cx="5276850" cy="3047999"/>
          </a:xfrm>
          <a:prstGeom prst="roundRect">
            <a:avLst>
              <a:gd name="adj" fmla="val 1754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CF77D43-B01A-4609-8EC1-8F441B1DE3B5}"/>
              </a:ext>
            </a:extLst>
          </p:cNvPr>
          <p:cNvSpPr>
            <a:spLocks noGrp="1"/>
          </p:cNvSpPr>
          <p:nvPr/>
        </p:nvSpPr>
        <p:spPr>
          <a:xfrm>
            <a:off x="6858000" y="2781300"/>
            <a:ext cx="4000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025" b="1">
                <a:solidFill>
                  <a:srgbClr val="64748B"/>
                </a:solidFill>
              </a:defRPr>
            </a:pPr>
            <a:endParaRPr sz="2025" b="1">
              <a:solidFill>
                <a:srgbClr val="64748B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FE74230-9907-4963-8991-C1D264F288AA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E093722-278D-4B93-9ECC-20F6D286D52B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01</a:t>
            </a:r>
          </a:p>
        </p:txBody>
      </p:sp>
      <p:sp>
        <p:nvSpPr>
          <p:cNvPr id="16" name="lesson-box">
            <a:extLst>
              <a:ext uri="{FF2B5EF4-FFF2-40B4-BE49-F238E27FC236}">
                <a16:creationId xmlns:a16="http://schemas.microsoft.com/office/drawing/2014/main" id="{1EB19250-4BC5-42D4-B85B-77C0D6A4D537}"/>
              </a:ext>
            </a:extLst>
          </p:cNvPr>
          <p:cNvSpPr>
            <a:spLocks noGrp="1"/>
          </p:cNvSpPr>
          <p:nvPr/>
        </p:nvSpPr>
        <p:spPr>
          <a:xfrm>
            <a:off x="685800" y="3714750"/>
            <a:ext cx="4762500" cy="2000250"/>
          </a:xfrm>
          <a:prstGeom prst="roundRect">
            <a:avLst>
              <a:gd name="adj" fmla="val 3810"/>
            </a:avLst>
          </a:prstGeom>
          <a:solidFill>
            <a:srgbClr val="F4F7FA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lesson-text">
            <a:extLst>
              <a:ext uri="{FF2B5EF4-FFF2-40B4-BE49-F238E27FC236}">
                <a16:creationId xmlns:a16="http://schemas.microsoft.com/office/drawing/2014/main" id="{AD46AA29-C277-49A1-945F-35F71D463F8F}"/>
              </a:ext>
            </a:extLst>
          </p:cNvPr>
          <p:cNvSpPr>
            <a:spLocks noGrp="1"/>
          </p:cNvSpPr>
          <p:nvPr/>
        </p:nvSpPr>
        <p:spPr>
          <a:xfrm>
            <a:off x="933450" y="3905250"/>
            <a:ext cx="4095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By the end, you will be able to…</a:t>
            </a:r>
          </a:p>
        </p:txBody>
      </p:sp>
      <p:sp>
        <p:nvSpPr>
          <p:cNvPr id="18" name="lesson-text">
            <a:extLst>
              <a:ext uri="{FF2B5EF4-FFF2-40B4-BE49-F238E27FC236}">
                <a16:creationId xmlns:a16="http://schemas.microsoft.com/office/drawing/2014/main" id="{694A0DF8-2495-4FAA-B394-DB07E3B82548}"/>
              </a:ext>
            </a:extLst>
          </p:cNvPr>
          <p:cNvSpPr>
            <a:spLocks noGrp="1"/>
          </p:cNvSpPr>
          <p:nvPr/>
        </p:nvSpPr>
        <p:spPr>
          <a:xfrm>
            <a:off x="933450" y="4286250"/>
            <a:ext cx="4191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0" dirty="0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• store a board in a 2D array</a:t>
            </a:r>
          </a:p>
          <a:p>
            <a:pPr algn="l">
              <a:defRPr sz="1350" b="0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0" dirty="0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• turn mouse clicks into moves</a:t>
            </a:r>
          </a:p>
          <a:p>
            <a:pPr algn="l">
              <a:defRPr sz="1350" b="0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0" dirty="0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• detect wins and draws</a:t>
            </a:r>
          </a:p>
          <a:p>
            <a:pPr algn="l">
              <a:defRPr sz="1350" b="0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0" dirty="0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• restart and polish a complete game</a:t>
            </a:r>
          </a:p>
        </p:txBody>
      </p:sp>
      <p:sp>
        <p:nvSpPr>
          <p:cNvPr id="19" name="board-back">
            <a:extLst>
              <a:ext uri="{FF2B5EF4-FFF2-40B4-BE49-F238E27FC236}">
                <a16:creationId xmlns:a16="http://schemas.microsoft.com/office/drawing/2014/main" id="{1CE7109B-4B24-47B4-9241-A1E277524EE2}"/>
              </a:ext>
            </a:extLst>
          </p:cNvPr>
          <p:cNvSpPr>
            <a:spLocks noGrp="1"/>
          </p:cNvSpPr>
          <p:nvPr/>
        </p:nvSpPr>
        <p:spPr>
          <a:xfrm>
            <a:off x="7067550" y="1876425"/>
            <a:ext cx="3200400" cy="3200400"/>
          </a:xfrm>
          <a:prstGeom prst="roundRect">
            <a:avLst>
              <a:gd name="adj" fmla="val 2381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cell-0-0">
            <a:extLst>
              <a:ext uri="{FF2B5EF4-FFF2-40B4-BE49-F238E27FC236}">
                <a16:creationId xmlns:a16="http://schemas.microsoft.com/office/drawing/2014/main" id="{7EBC7DEB-09C0-4E5E-94A9-D197AC6C8324}"/>
              </a:ext>
            </a:extLst>
          </p:cNvPr>
          <p:cNvSpPr>
            <a:spLocks noGrp="1"/>
          </p:cNvSpPr>
          <p:nvPr/>
        </p:nvSpPr>
        <p:spPr>
          <a:xfrm>
            <a:off x="7239000" y="2047875"/>
            <a:ext cx="952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piece-0-0">
            <a:extLst>
              <a:ext uri="{FF2B5EF4-FFF2-40B4-BE49-F238E27FC236}">
                <a16:creationId xmlns:a16="http://schemas.microsoft.com/office/drawing/2014/main" id="{AB902307-284E-4682-A3C5-12E2941A1E83}"/>
              </a:ext>
            </a:extLst>
          </p:cNvPr>
          <p:cNvSpPr>
            <a:spLocks noGrp="1"/>
          </p:cNvSpPr>
          <p:nvPr/>
        </p:nvSpPr>
        <p:spPr>
          <a:xfrm>
            <a:off x="7239000" y="2047875"/>
            <a:ext cx="952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60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22" name="cell-0-1">
            <a:extLst>
              <a:ext uri="{FF2B5EF4-FFF2-40B4-BE49-F238E27FC236}">
                <a16:creationId xmlns:a16="http://schemas.microsoft.com/office/drawing/2014/main" id="{30AD0A8D-6A86-4487-94AF-2FB34DDE50AA}"/>
              </a:ext>
            </a:extLst>
          </p:cNvPr>
          <p:cNvSpPr>
            <a:spLocks noGrp="1"/>
          </p:cNvSpPr>
          <p:nvPr/>
        </p:nvSpPr>
        <p:spPr>
          <a:xfrm>
            <a:off x="8191500" y="2047875"/>
            <a:ext cx="952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cell-0-2">
            <a:extLst>
              <a:ext uri="{FF2B5EF4-FFF2-40B4-BE49-F238E27FC236}">
                <a16:creationId xmlns:a16="http://schemas.microsoft.com/office/drawing/2014/main" id="{D6B021CB-845C-43AC-9EC1-D7C8AAA3CBD4}"/>
              </a:ext>
            </a:extLst>
          </p:cNvPr>
          <p:cNvSpPr>
            <a:spLocks noGrp="1"/>
          </p:cNvSpPr>
          <p:nvPr/>
        </p:nvSpPr>
        <p:spPr>
          <a:xfrm>
            <a:off x="9144000" y="2047875"/>
            <a:ext cx="952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piece-0-2">
            <a:extLst>
              <a:ext uri="{FF2B5EF4-FFF2-40B4-BE49-F238E27FC236}">
                <a16:creationId xmlns:a16="http://schemas.microsoft.com/office/drawing/2014/main" id="{B55CCF85-0114-4C88-84EF-8DA488692D92}"/>
              </a:ext>
            </a:extLst>
          </p:cNvPr>
          <p:cNvSpPr>
            <a:spLocks noGrp="1"/>
          </p:cNvSpPr>
          <p:nvPr/>
        </p:nvSpPr>
        <p:spPr>
          <a:xfrm>
            <a:off x="9144000" y="2047875"/>
            <a:ext cx="952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600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25" name="cell-1-0">
            <a:extLst>
              <a:ext uri="{FF2B5EF4-FFF2-40B4-BE49-F238E27FC236}">
                <a16:creationId xmlns:a16="http://schemas.microsoft.com/office/drawing/2014/main" id="{347A530E-DFBA-4EDA-97B3-6502A8804AB7}"/>
              </a:ext>
            </a:extLst>
          </p:cNvPr>
          <p:cNvSpPr>
            <a:spLocks noGrp="1"/>
          </p:cNvSpPr>
          <p:nvPr/>
        </p:nvSpPr>
        <p:spPr>
          <a:xfrm>
            <a:off x="7239000" y="3000375"/>
            <a:ext cx="952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cell-1-1">
            <a:extLst>
              <a:ext uri="{FF2B5EF4-FFF2-40B4-BE49-F238E27FC236}">
                <a16:creationId xmlns:a16="http://schemas.microsoft.com/office/drawing/2014/main" id="{5E3D6691-0E86-45C5-B191-B96913B513C9}"/>
              </a:ext>
            </a:extLst>
          </p:cNvPr>
          <p:cNvSpPr>
            <a:spLocks noGrp="1"/>
          </p:cNvSpPr>
          <p:nvPr/>
        </p:nvSpPr>
        <p:spPr>
          <a:xfrm>
            <a:off x="8191500" y="3000375"/>
            <a:ext cx="952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piece-1-1">
            <a:extLst>
              <a:ext uri="{FF2B5EF4-FFF2-40B4-BE49-F238E27FC236}">
                <a16:creationId xmlns:a16="http://schemas.microsoft.com/office/drawing/2014/main" id="{84A988B0-5358-4185-9542-EE2A13EF814C}"/>
              </a:ext>
            </a:extLst>
          </p:cNvPr>
          <p:cNvSpPr>
            <a:spLocks noGrp="1"/>
          </p:cNvSpPr>
          <p:nvPr/>
        </p:nvSpPr>
        <p:spPr>
          <a:xfrm>
            <a:off x="8191500" y="3000375"/>
            <a:ext cx="952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60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28" name="cell-1-2">
            <a:extLst>
              <a:ext uri="{FF2B5EF4-FFF2-40B4-BE49-F238E27FC236}">
                <a16:creationId xmlns:a16="http://schemas.microsoft.com/office/drawing/2014/main" id="{A3E95258-1BBE-4C61-B947-8ABEC88B9283}"/>
              </a:ext>
            </a:extLst>
          </p:cNvPr>
          <p:cNvSpPr>
            <a:spLocks noGrp="1"/>
          </p:cNvSpPr>
          <p:nvPr/>
        </p:nvSpPr>
        <p:spPr>
          <a:xfrm>
            <a:off x="9144000" y="3000375"/>
            <a:ext cx="952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cell-2-0">
            <a:extLst>
              <a:ext uri="{FF2B5EF4-FFF2-40B4-BE49-F238E27FC236}">
                <a16:creationId xmlns:a16="http://schemas.microsoft.com/office/drawing/2014/main" id="{2BBB87A9-86AB-45ED-8795-7B4CD3632A8F}"/>
              </a:ext>
            </a:extLst>
          </p:cNvPr>
          <p:cNvSpPr>
            <a:spLocks noGrp="1"/>
          </p:cNvSpPr>
          <p:nvPr/>
        </p:nvSpPr>
        <p:spPr>
          <a:xfrm>
            <a:off x="7239000" y="3952875"/>
            <a:ext cx="952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piece-2-0">
            <a:extLst>
              <a:ext uri="{FF2B5EF4-FFF2-40B4-BE49-F238E27FC236}">
                <a16:creationId xmlns:a16="http://schemas.microsoft.com/office/drawing/2014/main" id="{82B002A3-BDCC-4C13-9AD6-2CA1CDAE82E7}"/>
              </a:ext>
            </a:extLst>
          </p:cNvPr>
          <p:cNvSpPr>
            <a:spLocks noGrp="1"/>
          </p:cNvSpPr>
          <p:nvPr/>
        </p:nvSpPr>
        <p:spPr>
          <a:xfrm>
            <a:off x="7239000" y="3952875"/>
            <a:ext cx="952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600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31" name="cell-2-1">
            <a:extLst>
              <a:ext uri="{FF2B5EF4-FFF2-40B4-BE49-F238E27FC236}">
                <a16:creationId xmlns:a16="http://schemas.microsoft.com/office/drawing/2014/main" id="{EDC90B8A-D0FC-41D2-AED0-168E24B2E095}"/>
              </a:ext>
            </a:extLst>
          </p:cNvPr>
          <p:cNvSpPr>
            <a:spLocks noGrp="1"/>
          </p:cNvSpPr>
          <p:nvPr/>
        </p:nvSpPr>
        <p:spPr>
          <a:xfrm>
            <a:off x="8191500" y="3952875"/>
            <a:ext cx="952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cell-2-2">
            <a:extLst>
              <a:ext uri="{FF2B5EF4-FFF2-40B4-BE49-F238E27FC236}">
                <a16:creationId xmlns:a16="http://schemas.microsoft.com/office/drawing/2014/main" id="{B4445B26-D2FC-4B1A-ABA5-EAE9AF7372A8}"/>
              </a:ext>
            </a:extLst>
          </p:cNvPr>
          <p:cNvSpPr>
            <a:spLocks noGrp="1"/>
          </p:cNvSpPr>
          <p:nvPr/>
        </p:nvSpPr>
        <p:spPr>
          <a:xfrm>
            <a:off x="9144000" y="3952875"/>
            <a:ext cx="952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piece-2-2">
            <a:extLst>
              <a:ext uri="{FF2B5EF4-FFF2-40B4-BE49-F238E27FC236}">
                <a16:creationId xmlns:a16="http://schemas.microsoft.com/office/drawing/2014/main" id="{3BA8D06F-1700-4F6E-B424-81CB568257C6}"/>
              </a:ext>
            </a:extLst>
          </p:cNvPr>
          <p:cNvSpPr>
            <a:spLocks noGrp="1"/>
          </p:cNvSpPr>
          <p:nvPr/>
        </p:nvSpPr>
        <p:spPr>
          <a:xfrm>
            <a:off x="9144000" y="3952875"/>
            <a:ext cx="952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60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090394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7595CED7-A2AD-4A83-86A5-6097C00F7AE6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PROJECT GOAL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3BBF5B2-4853-47C7-ACA5-890CC3EA06A9}"/>
              </a:ext>
            </a:extLst>
          </p:cNvPr>
          <p:cNvSpPr>
            <a:spLocks noGrp="1"/>
          </p:cNvSpPr>
          <p:nvPr/>
        </p:nvSpPr>
        <p:spPr>
          <a:xfrm>
            <a:off x="685800" y="1123950"/>
            <a:ext cx="5429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4050" b="1">
                <a:solidFill>
                  <a:srgbClr val="14213D"/>
                </a:solidFill>
              </a:defRPr>
            </a:pPr>
            <a:r>
              <a:rPr sz="4050" b="1">
                <a:solidFill>
                  <a:srgbClr val="14213D"/>
                </a:solidFill>
              </a:rPr>
              <a:t>What Are We Going to Make?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877C651-C4EF-4D30-9A8D-B2F71EB6C339}"/>
              </a:ext>
            </a:extLst>
          </p:cNvPr>
          <p:cNvSpPr>
            <a:spLocks noGrp="1"/>
          </p:cNvSpPr>
          <p:nvPr/>
        </p:nvSpPr>
        <p:spPr>
          <a:xfrm>
            <a:off x="723900" y="2781300"/>
            <a:ext cx="4953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00">
                <a:solidFill>
                  <a:srgbClr val="64748B"/>
                </a:solidFill>
              </a:defRPr>
            </a:pPr>
            <a:r>
              <a:rPr sz="1800">
                <a:solidFill>
                  <a:srgbClr val="64748B"/>
                </a:solidFill>
              </a:rPr>
              <a:t>Two players share one board. The program remembers every move.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37EFF9FA-6745-4618-BA6C-25946DAD4561}"/>
              </a:ext>
            </a:extLst>
          </p:cNvPr>
          <p:cNvSpPr>
            <a:spLocks noGrp="1"/>
          </p:cNvSpPr>
          <p:nvPr/>
        </p:nvSpPr>
        <p:spPr>
          <a:xfrm>
            <a:off x="6229350" y="1690255"/>
            <a:ext cx="5276850" cy="3705403"/>
          </a:xfrm>
          <a:prstGeom prst="roundRect">
            <a:avLst>
              <a:gd name="adj" fmla="val 1754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CF77D43-B01A-4609-8EC1-8F441B1DE3B5}"/>
              </a:ext>
            </a:extLst>
          </p:cNvPr>
          <p:cNvSpPr>
            <a:spLocks noGrp="1"/>
          </p:cNvSpPr>
          <p:nvPr/>
        </p:nvSpPr>
        <p:spPr>
          <a:xfrm>
            <a:off x="6858000" y="2781300"/>
            <a:ext cx="4000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025" b="1">
                <a:solidFill>
                  <a:srgbClr val="64748B"/>
                </a:solidFill>
              </a:defRPr>
            </a:pPr>
            <a:endParaRPr sz="2025" b="1">
              <a:solidFill>
                <a:srgbClr val="64748B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FE74230-9907-4963-8991-C1D264F288AA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 dirty="0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E093722-278D-4B93-9ECC-20F6D286D52B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02</a:t>
            </a:r>
          </a:p>
        </p:txBody>
      </p:sp>
      <p:sp>
        <p:nvSpPr>
          <p:cNvPr id="16" name="lesson-box">
            <a:extLst>
              <a:ext uri="{FF2B5EF4-FFF2-40B4-BE49-F238E27FC236}">
                <a16:creationId xmlns:a16="http://schemas.microsoft.com/office/drawing/2014/main" id="{F0B36734-6840-4A2A-BC34-5190C746D5BE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857750" cy="1943100"/>
          </a:xfrm>
          <a:prstGeom prst="roundRect">
            <a:avLst>
              <a:gd name="adj" fmla="val 3670"/>
            </a:avLst>
          </a:prstGeom>
          <a:solidFill>
            <a:srgbClr val="F4F7FA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lesson-text">
            <a:extLst>
              <a:ext uri="{FF2B5EF4-FFF2-40B4-BE49-F238E27FC236}">
                <a16:creationId xmlns:a16="http://schemas.microsoft.com/office/drawing/2014/main" id="{4D156E6C-EDD0-4C76-8C01-9724E84E3F78}"/>
              </a:ext>
            </a:extLst>
          </p:cNvPr>
          <p:cNvSpPr>
            <a:spLocks noGrp="1"/>
          </p:cNvSpPr>
          <p:nvPr/>
        </p:nvSpPr>
        <p:spPr>
          <a:xfrm>
            <a:off x="933450" y="382905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The rules</a:t>
            </a:r>
          </a:p>
        </p:txBody>
      </p:sp>
      <p:sp>
        <p:nvSpPr>
          <p:cNvPr id="18" name="lesson-text">
            <a:extLst>
              <a:ext uri="{FF2B5EF4-FFF2-40B4-BE49-F238E27FC236}">
                <a16:creationId xmlns:a16="http://schemas.microsoft.com/office/drawing/2014/main" id="{795B869C-A91B-49C5-9B1A-9C850955D380}"/>
              </a:ext>
            </a:extLst>
          </p:cNvPr>
          <p:cNvSpPr>
            <a:spLocks noGrp="1"/>
          </p:cNvSpPr>
          <p:nvPr/>
        </p:nvSpPr>
        <p:spPr>
          <a:xfrm>
            <a:off x="933450" y="4210050"/>
            <a:ext cx="4238625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0" dirty="0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1  X moves first</a:t>
            </a:r>
          </a:p>
          <a:p>
            <a:pPr algn="l">
              <a:defRPr sz="1350" b="0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0" dirty="0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2  Players choose an empty cell</a:t>
            </a:r>
          </a:p>
          <a:p>
            <a:pPr algn="l">
              <a:defRPr sz="1350" b="0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0" dirty="0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3  Three matching pieces in a line wins</a:t>
            </a:r>
          </a:p>
          <a:p>
            <a:pPr algn="l">
              <a:defRPr sz="1350" b="0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0" dirty="0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4  A full board without a winner is a draw</a:t>
            </a:r>
          </a:p>
        </p:txBody>
      </p:sp>
      <p:sp>
        <p:nvSpPr>
          <p:cNvPr id="19" name="board-back">
            <a:extLst>
              <a:ext uri="{FF2B5EF4-FFF2-40B4-BE49-F238E27FC236}">
                <a16:creationId xmlns:a16="http://schemas.microsoft.com/office/drawing/2014/main" id="{91D6F1ED-FB28-48C2-80E5-7757E45438A4}"/>
              </a:ext>
            </a:extLst>
          </p:cNvPr>
          <p:cNvSpPr>
            <a:spLocks noGrp="1"/>
          </p:cNvSpPr>
          <p:nvPr/>
        </p:nvSpPr>
        <p:spPr>
          <a:xfrm>
            <a:off x="6781800" y="2066925"/>
            <a:ext cx="2914650" cy="2914650"/>
          </a:xfrm>
          <a:prstGeom prst="roundRect">
            <a:avLst>
              <a:gd name="adj" fmla="val 2614"/>
            </a:avLst>
          </a:prstGeom>
          <a:solidFill>
            <a:srgbClr val="EAF4FC"/>
          </a:solidFill>
          <a:ln w="9525">
            <a:solidFill>
              <a:srgbClr val="EAF4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cell-0-0">
            <a:extLst>
              <a:ext uri="{FF2B5EF4-FFF2-40B4-BE49-F238E27FC236}">
                <a16:creationId xmlns:a16="http://schemas.microsoft.com/office/drawing/2014/main" id="{AA179FE4-24A1-4779-AB9B-C5DD521714ED}"/>
              </a:ext>
            </a:extLst>
          </p:cNvPr>
          <p:cNvSpPr>
            <a:spLocks noGrp="1"/>
          </p:cNvSpPr>
          <p:nvPr/>
        </p:nvSpPr>
        <p:spPr>
          <a:xfrm>
            <a:off x="6953250" y="223837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piece-0-0">
            <a:extLst>
              <a:ext uri="{FF2B5EF4-FFF2-40B4-BE49-F238E27FC236}">
                <a16:creationId xmlns:a16="http://schemas.microsoft.com/office/drawing/2014/main" id="{4C6CBEE0-D05E-4F5F-A0EF-C59BDB37603B}"/>
              </a:ext>
            </a:extLst>
          </p:cNvPr>
          <p:cNvSpPr>
            <a:spLocks noGrp="1"/>
          </p:cNvSpPr>
          <p:nvPr/>
        </p:nvSpPr>
        <p:spPr>
          <a:xfrm>
            <a:off x="6953250" y="2238375"/>
            <a:ext cx="8572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22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22" name="cell-0-1">
            <a:extLst>
              <a:ext uri="{FF2B5EF4-FFF2-40B4-BE49-F238E27FC236}">
                <a16:creationId xmlns:a16="http://schemas.microsoft.com/office/drawing/2014/main" id="{DA9B8556-6B19-4976-A57D-555062964DD7}"/>
              </a:ext>
            </a:extLst>
          </p:cNvPr>
          <p:cNvSpPr>
            <a:spLocks noGrp="1"/>
          </p:cNvSpPr>
          <p:nvPr/>
        </p:nvSpPr>
        <p:spPr>
          <a:xfrm>
            <a:off x="7810500" y="223837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piece-0-1">
            <a:extLst>
              <a:ext uri="{FF2B5EF4-FFF2-40B4-BE49-F238E27FC236}">
                <a16:creationId xmlns:a16="http://schemas.microsoft.com/office/drawing/2014/main" id="{84E61FDD-BAE0-47A6-A95C-F2C3844CFB56}"/>
              </a:ext>
            </a:extLst>
          </p:cNvPr>
          <p:cNvSpPr>
            <a:spLocks noGrp="1"/>
          </p:cNvSpPr>
          <p:nvPr/>
        </p:nvSpPr>
        <p:spPr>
          <a:xfrm>
            <a:off x="7810500" y="2238375"/>
            <a:ext cx="8572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22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24" name="cell-0-2">
            <a:extLst>
              <a:ext uri="{FF2B5EF4-FFF2-40B4-BE49-F238E27FC236}">
                <a16:creationId xmlns:a16="http://schemas.microsoft.com/office/drawing/2014/main" id="{BD448D95-BFA7-439E-8718-D8AC1E19235C}"/>
              </a:ext>
            </a:extLst>
          </p:cNvPr>
          <p:cNvSpPr>
            <a:spLocks noGrp="1"/>
          </p:cNvSpPr>
          <p:nvPr/>
        </p:nvSpPr>
        <p:spPr>
          <a:xfrm>
            <a:off x="8667750" y="223837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piece-0-2">
            <a:extLst>
              <a:ext uri="{FF2B5EF4-FFF2-40B4-BE49-F238E27FC236}">
                <a16:creationId xmlns:a16="http://schemas.microsoft.com/office/drawing/2014/main" id="{C4D24EEA-DFD0-4AFA-816C-B89DA1A692DF}"/>
              </a:ext>
            </a:extLst>
          </p:cNvPr>
          <p:cNvSpPr>
            <a:spLocks noGrp="1"/>
          </p:cNvSpPr>
          <p:nvPr/>
        </p:nvSpPr>
        <p:spPr>
          <a:xfrm>
            <a:off x="8667750" y="2238375"/>
            <a:ext cx="8572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22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26" name="cell-1-0">
            <a:extLst>
              <a:ext uri="{FF2B5EF4-FFF2-40B4-BE49-F238E27FC236}">
                <a16:creationId xmlns:a16="http://schemas.microsoft.com/office/drawing/2014/main" id="{AA5DC8F2-E6CE-4146-A311-FFB9C74861F7}"/>
              </a:ext>
            </a:extLst>
          </p:cNvPr>
          <p:cNvSpPr>
            <a:spLocks noGrp="1"/>
          </p:cNvSpPr>
          <p:nvPr/>
        </p:nvSpPr>
        <p:spPr>
          <a:xfrm>
            <a:off x="6953250" y="309562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cell-1-1">
            <a:extLst>
              <a:ext uri="{FF2B5EF4-FFF2-40B4-BE49-F238E27FC236}">
                <a16:creationId xmlns:a16="http://schemas.microsoft.com/office/drawing/2014/main" id="{E14339CA-EA6B-4224-8D27-916509161818}"/>
              </a:ext>
            </a:extLst>
          </p:cNvPr>
          <p:cNvSpPr>
            <a:spLocks noGrp="1"/>
          </p:cNvSpPr>
          <p:nvPr/>
        </p:nvSpPr>
        <p:spPr>
          <a:xfrm>
            <a:off x="7810500" y="309562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piece-1-1">
            <a:extLst>
              <a:ext uri="{FF2B5EF4-FFF2-40B4-BE49-F238E27FC236}">
                <a16:creationId xmlns:a16="http://schemas.microsoft.com/office/drawing/2014/main" id="{9A3A5ACF-7CE6-49B3-9AD5-78F16C7119DE}"/>
              </a:ext>
            </a:extLst>
          </p:cNvPr>
          <p:cNvSpPr>
            <a:spLocks noGrp="1"/>
          </p:cNvSpPr>
          <p:nvPr/>
        </p:nvSpPr>
        <p:spPr>
          <a:xfrm>
            <a:off x="7810500" y="3095625"/>
            <a:ext cx="8572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225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29" name="cell-1-2">
            <a:extLst>
              <a:ext uri="{FF2B5EF4-FFF2-40B4-BE49-F238E27FC236}">
                <a16:creationId xmlns:a16="http://schemas.microsoft.com/office/drawing/2014/main" id="{344F6EDD-AF7F-4803-AA98-B4E3B12CAA6A}"/>
              </a:ext>
            </a:extLst>
          </p:cNvPr>
          <p:cNvSpPr>
            <a:spLocks noGrp="1"/>
          </p:cNvSpPr>
          <p:nvPr/>
        </p:nvSpPr>
        <p:spPr>
          <a:xfrm>
            <a:off x="8667750" y="309562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cell-2-0">
            <a:extLst>
              <a:ext uri="{FF2B5EF4-FFF2-40B4-BE49-F238E27FC236}">
                <a16:creationId xmlns:a16="http://schemas.microsoft.com/office/drawing/2014/main" id="{2A783F64-E5E3-446D-9463-EF2988B4710A}"/>
              </a:ext>
            </a:extLst>
          </p:cNvPr>
          <p:cNvSpPr>
            <a:spLocks noGrp="1"/>
          </p:cNvSpPr>
          <p:nvPr/>
        </p:nvSpPr>
        <p:spPr>
          <a:xfrm>
            <a:off x="6953250" y="395287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piece-2-0">
            <a:extLst>
              <a:ext uri="{FF2B5EF4-FFF2-40B4-BE49-F238E27FC236}">
                <a16:creationId xmlns:a16="http://schemas.microsoft.com/office/drawing/2014/main" id="{0DB2656D-6073-4262-B2EC-A5B893C2AD40}"/>
              </a:ext>
            </a:extLst>
          </p:cNvPr>
          <p:cNvSpPr>
            <a:spLocks noGrp="1"/>
          </p:cNvSpPr>
          <p:nvPr/>
        </p:nvSpPr>
        <p:spPr>
          <a:xfrm>
            <a:off x="6953250" y="3952875"/>
            <a:ext cx="8572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225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32" name="cell-2-1">
            <a:extLst>
              <a:ext uri="{FF2B5EF4-FFF2-40B4-BE49-F238E27FC236}">
                <a16:creationId xmlns:a16="http://schemas.microsoft.com/office/drawing/2014/main" id="{AD938E01-2E27-48CA-9E4F-52DB3D329C17}"/>
              </a:ext>
            </a:extLst>
          </p:cNvPr>
          <p:cNvSpPr>
            <a:spLocks noGrp="1"/>
          </p:cNvSpPr>
          <p:nvPr/>
        </p:nvSpPr>
        <p:spPr>
          <a:xfrm>
            <a:off x="7810500" y="395287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cell-2-2">
            <a:extLst>
              <a:ext uri="{FF2B5EF4-FFF2-40B4-BE49-F238E27FC236}">
                <a16:creationId xmlns:a16="http://schemas.microsoft.com/office/drawing/2014/main" id="{2EA0D99A-EB7C-4BC8-85DC-9DA7DC70F323}"/>
              </a:ext>
            </a:extLst>
          </p:cNvPr>
          <p:cNvSpPr>
            <a:spLocks noGrp="1"/>
          </p:cNvSpPr>
          <p:nvPr/>
        </p:nvSpPr>
        <p:spPr>
          <a:xfrm>
            <a:off x="8667750" y="395287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tep-label">
            <a:extLst>
              <a:ext uri="{FF2B5EF4-FFF2-40B4-BE49-F238E27FC236}">
                <a16:creationId xmlns:a16="http://schemas.microsoft.com/office/drawing/2014/main" id="{06A25B57-F8E7-4BF1-ABC0-7C9CB489BD12}"/>
              </a:ext>
            </a:extLst>
          </p:cNvPr>
          <p:cNvSpPr>
            <a:spLocks noGrp="1"/>
          </p:cNvSpPr>
          <p:nvPr/>
        </p:nvSpPr>
        <p:spPr>
          <a:xfrm>
            <a:off x="9696450" y="2667000"/>
            <a:ext cx="1428750" cy="32385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 w="9525">
            <a:solidFill>
              <a:srgbClr val="EAF4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tep-label-text">
            <a:extLst>
              <a:ext uri="{FF2B5EF4-FFF2-40B4-BE49-F238E27FC236}">
                <a16:creationId xmlns:a16="http://schemas.microsoft.com/office/drawing/2014/main" id="{8A2DC752-5A11-4020-93E8-01243FA94E1A}"/>
              </a:ext>
            </a:extLst>
          </p:cNvPr>
          <p:cNvSpPr>
            <a:spLocks noGrp="1"/>
          </p:cNvSpPr>
          <p:nvPr/>
        </p:nvSpPr>
        <p:spPr>
          <a:xfrm>
            <a:off x="9696450" y="266700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 WINS</a:t>
            </a:r>
          </a:p>
        </p:txBody>
      </p:sp>
      <p:sp>
        <p:nvSpPr>
          <p:cNvPr id="36" name="step-label">
            <a:extLst>
              <a:ext uri="{FF2B5EF4-FFF2-40B4-BE49-F238E27FC236}">
                <a16:creationId xmlns:a16="http://schemas.microsoft.com/office/drawing/2014/main" id="{AC4F3922-94BF-448E-8B7F-E7BA7EE16918}"/>
              </a:ext>
            </a:extLst>
          </p:cNvPr>
          <p:cNvSpPr>
            <a:spLocks noGrp="1"/>
          </p:cNvSpPr>
          <p:nvPr/>
        </p:nvSpPr>
        <p:spPr>
          <a:xfrm>
            <a:off x="9696450" y="3162300"/>
            <a:ext cx="1428750" cy="323850"/>
          </a:xfrm>
          <a:prstGeom prst="roundRect">
            <a:avLst>
              <a:gd name="adj" fmla="val 50000"/>
            </a:avLst>
          </a:prstGeom>
          <a:solidFill>
            <a:srgbClr val="E8F8F0"/>
          </a:solidFill>
          <a:ln w="9525">
            <a:solidFill>
              <a:srgbClr val="E8F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step-label-text">
            <a:extLst>
              <a:ext uri="{FF2B5EF4-FFF2-40B4-BE49-F238E27FC236}">
                <a16:creationId xmlns:a16="http://schemas.microsoft.com/office/drawing/2014/main" id="{2D28AAF5-C1BB-40A7-86A8-BA6BFE76FD87}"/>
              </a:ext>
            </a:extLst>
          </p:cNvPr>
          <p:cNvSpPr>
            <a:spLocks noGrp="1"/>
          </p:cNvSpPr>
          <p:nvPr/>
        </p:nvSpPr>
        <p:spPr>
          <a:xfrm>
            <a:off x="9696450" y="316230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O WINS</a:t>
            </a:r>
          </a:p>
        </p:txBody>
      </p:sp>
      <p:sp>
        <p:nvSpPr>
          <p:cNvPr id="38" name="step-label">
            <a:extLst>
              <a:ext uri="{FF2B5EF4-FFF2-40B4-BE49-F238E27FC236}">
                <a16:creationId xmlns:a16="http://schemas.microsoft.com/office/drawing/2014/main" id="{9CE02E4E-ABA8-4EF8-9DF0-E1376A4C463C}"/>
              </a:ext>
            </a:extLst>
          </p:cNvPr>
          <p:cNvSpPr>
            <a:spLocks noGrp="1"/>
          </p:cNvSpPr>
          <p:nvPr/>
        </p:nvSpPr>
        <p:spPr>
          <a:xfrm>
            <a:off x="9696450" y="3657600"/>
            <a:ext cx="1428750" cy="323850"/>
          </a:xfrm>
          <a:prstGeom prst="roundRect">
            <a:avLst>
              <a:gd name="adj" fmla="val 50000"/>
            </a:avLst>
          </a:prstGeom>
          <a:solidFill>
            <a:srgbClr val="FFF5D8"/>
          </a:solidFill>
          <a:ln w="9525">
            <a:solidFill>
              <a:srgbClr val="FFF5D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step-label-text">
            <a:extLst>
              <a:ext uri="{FF2B5EF4-FFF2-40B4-BE49-F238E27FC236}">
                <a16:creationId xmlns:a16="http://schemas.microsoft.com/office/drawing/2014/main" id="{A90AD37C-E9FE-4188-9FCB-3DCCA53A4446}"/>
              </a:ext>
            </a:extLst>
          </p:cNvPr>
          <p:cNvSpPr>
            <a:spLocks noGrp="1"/>
          </p:cNvSpPr>
          <p:nvPr/>
        </p:nvSpPr>
        <p:spPr>
          <a:xfrm>
            <a:off x="9696450" y="365760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DRAW</a:t>
            </a:r>
          </a:p>
        </p:txBody>
      </p:sp>
    </p:spTree>
    <p:extLst>
      <p:ext uri="{BB962C8B-B14F-4D97-AF65-F5344CB8AC3E}">
        <p14:creationId xmlns:p14="http://schemas.microsoft.com/office/powerpoint/2010/main" val="2090394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5F1D38A5-F08A-41B4-97BE-9374B0BCDC2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RECAP · FRAME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BA6DACC-3F71-4C05-87A6-5097130B6321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 dirty="0">
                <a:solidFill>
                  <a:srgbClr val="14213D"/>
                </a:solidFill>
              </a:rPr>
              <a:t>The </a:t>
            </a:r>
            <a:r>
              <a:rPr sz="2850" b="1" dirty="0" err="1">
                <a:solidFill>
                  <a:srgbClr val="14213D"/>
                </a:solidFill>
              </a:rPr>
              <a:t>Raylib</a:t>
            </a:r>
            <a:r>
              <a:rPr sz="2850" b="1" dirty="0">
                <a:solidFill>
                  <a:srgbClr val="14213D"/>
                </a:solidFill>
              </a:rPr>
              <a:t> Loop Still Runs the Game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DD775A3-2E9A-4BEF-9FB8-5A835E2A0177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1D29928-C49D-4FDD-ABA7-73C57AB36EEF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03</a:t>
            </a:r>
          </a:p>
        </p:txBody>
      </p:sp>
      <p:sp>
        <p:nvSpPr>
          <p:cNvPr id="19" name="lesson-text">
            <a:extLst>
              <a:ext uri="{FF2B5EF4-FFF2-40B4-BE49-F238E27FC236}">
                <a16:creationId xmlns:a16="http://schemas.microsoft.com/office/drawing/2014/main" id="{BB7540B6-F0A7-46C9-9DA0-14B157919A5D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Every frame follows the same three jobs. Tic Tac Toe adds state between input and drawing.</a:t>
            </a:r>
          </a:p>
        </p:txBody>
      </p:sp>
      <p:sp>
        <p:nvSpPr>
          <p:cNvPr id="20" name="lesson-box">
            <a:extLst>
              <a:ext uri="{FF2B5EF4-FFF2-40B4-BE49-F238E27FC236}">
                <a16:creationId xmlns:a16="http://schemas.microsoft.com/office/drawing/2014/main" id="{3FAE9710-43D6-4F4F-84DA-A398B279D7C0}"/>
              </a:ext>
            </a:extLst>
          </p:cNvPr>
          <p:cNvSpPr>
            <a:spLocks noGrp="1"/>
          </p:cNvSpPr>
          <p:nvPr/>
        </p:nvSpPr>
        <p:spPr>
          <a:xfrm>
            <a:off x="904875" y="2238375"/>
            <a:ext cx="2667000" cy="1428750"/>
          </a:xfrm>
          <a:prstGeom prst="roundRect">
            <a:avLst>
              <a:gd name="adj" fmla="val 5333"/>
            </a:avLst>
          </a:prstGeom>
          <a:solidFill>
            <a:srgbClr val="FFF5D8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lesson-text">
            <a:extLst>
              <a:ext uri="{FF2B5EF4-FFF2-40B4-BE49-F238E27FC236}">
                <a16:creationId xmlns:a16="http://schemas.microsoft.com/office/drawing/2014/main" id="{5627AB89-2AF4-4658-8D7B-691BDE2A5699}"/>
              </a:ext>
            </a:extLst>
          </p:cNvPr>
          <p:cNvSpPr>
            <a:spLocks noGrp="1"/>
          </p:cNvSpPr>
          <p:nvPr/>
        </p:nvSpPr>
        <p:spPr>
          <a:xfrm>
            <a:off x="1076325" y="23812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F5C45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F5C451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2" name="lesson-text">
            <a:extLst>
              <a:ext uri="{FF2B5EF4-FFF2-40B4-BE49-F238E27FC236}">
                <a16:creationId xmlns:a16="http://schemas.microsoft.com/office/drawing/2014/main" id="{94745328-B538-405D-BF5D-06C5DF184B19}"/>
              </a:ext>
            </a:extLst>
          </p:cNvPr>
          <p:cNvSpPr>
            <a:spLocks noGrp="1"/>
          </p:cNvSpPr>
          <p:nvPr/>
        </p:nvSpPr>
        <p:spPr>
          <a:xfrm>
            <a:off x="1571625" y="2362200"/>
            <a:ext cx="1762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INPUT</a:t>
            </a:r>
          </a:p>
        </p:txBody>
      </p:sp>
      <p:sp>
        <p:nvSpPr>
          <p:cNvPr id="23" name="lesson-text">
            <a:extLst>
              <a:ext uri="{FF2B5EF4-FFF2-40B4-BE49-F238E27FC236}">
                <a16:creationId xmlns:a16="http://schemas.microsoft.com/office/drawing/2014/main" id="{E243F6D0-C084-4BAB-937D-A06E4463F783}"/>
              </a:ext>
            </a:extLst>
          </p:cNvPr>
          <p:cNvSpPr>
            <a:spLocks noGrp="1"/>
          </p:cNvSpPr>
          <p:nvPr/>
        </p:nvSpPr>
        <p:spPr>
          <a:xfrm>
            <a:off x="1171575" y="2905125"/>
            <a:ext cx="2133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read a mouse click</a:t>
            </a:r>
          </a:p>
        </p:txBody>
      </p:sp>
      <p:sp>
        <p:nvSpPr>
          <p:cNvPr id="24" name="flow-arrow">
            <a:extLst>
              <a:ext uri="{FF2B5EF4-FFF2-40B4-BE49-F238E27FC236}">
                <a16:creationId xmlns:a16="http://schemas.microsoft.com/office/drawing/2014/main" id="{A5A7ABEA-53E8-411B-A3F7-8FF11F99B293}"/>
              </a:ext>
            </a:extLst>
          </p:cNvPr>
          <p:cNvSpPr>
            <a:spLocks noGrp="1"/>
          </p:cNvSpPr>
          <p:nvPr/>
        </p:nvSpPr>
        <p:spPr>
          <a:xfrm>
            <a:off x="3762375" y="2819400"/>
            <a:ext cx="428625" cy="266700"/>
          </a:xfrm>
          <a:prstGeom prst="rightArrow">
            <a:avLst/>
          </a:prstGeom>
          <a:solidFill>
            <a:srgbClr val="F5C451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lesson-box">
            <a:extLst>
              <a:ext uri="{FF2B5EF4-FFF2-40B4-BE49-F238E27FC236}">
                <a16:creationId xmlns:a16="http://schemas.microsoft.com/office/drawing/2014/main" id="{35AA71F8-8E8B-49D0-8143-A857932B8D3A}"/>
              </a:ext>
            </a:extLst>
          </p:cNvPr>
          <p:cNvSpPr>
            <a:spLocks noGrp="1"/>
          </p:cNvSpPr>
          <p:nvPr/>
        </p:nvSpPr>
        <p:spPr>
          <a:xfrm>
            <a:off x="4381500" y="2238375"/>
            <a:ext cx="2667000" cy="1428750"/>
          </a:xfrm>
          <a:prstGeom prst="roundRect">
            <a:avLst>
              <a:gd name="adj" fmla="val 5333"/>
            </a:avLst>
          </a:prstGeom>
          <a:solidFill>
            <a:srgbClr val="EAF4FC"/>
          </a:solidFill>
          <a:ln w="9525">
            <a:solidFill>
              <a:srgbClr val="55A7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lesson-text">
            <a:extLst>
              <a:ext uri="{FF2B5EF4-FFF2-40B4-BE49-F238E27FC236}">
                <a16:creationId xmlns:a16="http://schemas.microsoft.com/office/drawing/2014/main" id="{B66563A3-B9DE-4908-9EA3-6A496DC38675}"/>
              </a:ext>
            </a:extLst>
          </p:cNvPr>
          <p:cNvSpPr>
            <a:spLocks noGrp="1"/>
          </p:cNvSpPr>
          <p:nvPr/>
        </p:nvSpPr>
        <p:spPr>
          <a:xfrm>
            <a:off x="4552950" y="23812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7" name="lesson-text">
            <a:extLst>
              <a:ext uri="{FF2B5EF4-FFF2-40B4-BE49-F238E27FC236}">
                <a16:creationId xmlns:a16="http://schemas.microsoft.com/office/drawing/2014/main" id="{325AF847-B2EA-4FBC-97E1-0DBE0DFC8473}"/>
              </a:ext>
            </a:extLst>
          </p:cNvPr>
          <p:cNvSpPr>
            <a:spLocks noGrp="1"/>
          </p:cNvSpPr>
          <p:nvPr/>
        </p:nvSpPr>
        <p:spPr>
          <a:xfrm>
            <a:off x="5048250" y="2362200"/>
            <a:ext cx="1762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UPDATE STATE</a:t>
            </a:r>
          </a:p>
        </p:txBody>
      </p:sp>
      <p:sp>
        <p:nvSpPr>
          <p:cNvPr id="28" name="lesson-text">
            <a:extLst>
              <a:ext uri="{FF2B5EF4-FFF2-40B4-BE49-F238E27FC236}">
                <a16:creationId xmlns:a16="http://schemas.microsoft.com/office/drawing/2014/main" id="{71E448B9-AE45-4788-B4EF-D5B59D8A906D}"/>
              </a:ext>
            </a:extLst>
          </p:cNvPr>
          <p:cNvSpPr>
            <a:spLocks noGrp="1"/>
          </p:cNvSpPr>
          <p:nvPr/>
        </p:nvSpPr>
        <p:spPr>
          <a:xfrm>
            <a:off x="4648200" y="2905125"/>
            <a:ext cx="2133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place a piece · check result</a:t>
            </a:r>
          </a:p>
        </p:txBody>
      </p:sp>
      <p:sp>
        <p:nvSpPr>
          <p:cNvPr id="29" name="flow-arrow">
            <a:extLst>
              <a:ext uri="{FF2B5EF4-FFF2-40B4-BE49-F238E27FC236}">
                <a16:creationId xmlns:a16="http://schemas.microsoft.com/office/drawing/2014/main" id="{D9B6B413-FF64-4CE1-A807-3FA6F3324A4D}"/>
              </a:ext>
            </a:extLst>
          </p:cNvPr>
          <p:cNvSpPr>
            <a:spLocks noGrp="1"/>
          </p:cNvSpPr>
          <p:nvPr/>
        </p:nvSpPr>
        <p:spPr>
          <a:xfrm>
            <a:off x="7239000" y="2819400"/>
            <a:ext cx="428625" cy="266700"/>
          </a:xfrm>
          <a:prstGeom prst="rightArrow">
            <a:avLst/>
          </a:prstGeom>
          <a:solidFill>
            <a:srgbClr val="F5C451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lesson-box">
            <a:extLst>
              <a:ext uri="{FF2B5EF4-FFF2-40B4-BE49-F238E27FC236}">
                <a16:creationId xmlns:a16="http://schemas.microsoft.com/office/drawing/2014/main" id="{795FC881-FF9D-4478-85E1-6C95F9A1F85F}"/>
              </a:ext>
            </a:extLst>
          </p:cNvPr>
          <p:cNvSpPr>
            <a:spLocks noGrp="1"/>
          </p:cNvSpPr>
          <p:nvPr/>
        </p:nvSpPr>
        <p:spPr>
          <a:xfrm>
            <a:off x="7858125" y="2238375"/>
            <a:ext cx="2667000" cy="1428750"/>
          </a:xfrm>
          <a:prstGeom prst="roundRect">
            <a:avLst>
              <a:gd name="adj" fmla="val 5333"/>
            </a:avLst>
          </a:prstGeom>
          <a:solidFill>
            <a:srgbClr val="E8F8F0"/>
          </a:solidFill>
          <a:ln w="9525">
            <a:solidFill>
              <a:srgbClr val="4BC38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lesson-text">
            <a:extLst>
              <a:ext uri="{FF2B5EF4-FFF2-40B4-BE49-F238E27FC236}">
                <a16:creationId xmlns:a16="http://schemas.microsoft.com/office/drawing/2014/main" id="{7E5BBFA4-4040-4489-8094-B01596201F0B}"/>
              </a:ext>
            </a:extLst>
          </p:cNvPr>
          <p:cNvSpPr>
            <a:spLocks noGrp="1"/>
          </p:cNvSpPr>
          <p:nvPr/>
        </p:nvSpPr>
        <p:spPr>
          <a:xfrm>
            <a:off x="8029575" y="23812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2" name="lesson-text">
            <a:extLst>
              <a:ext uri="{FF2B5EF4-FFF2-40B4-BE49-F238E27FC236}">
                <a16:creationId xmlns:a16="http://schemas.microsoft.com/office/drawing/2014/main" id="{A7E384DE-BEF5-4B97-B35F-69490631A0DC}"/>
              </a:ext>
            </a:extLst>
          </p:cNvPr>
          <p:cNvSpPr>
            <a:spLocks noGrp="1"/>
          </p:cNvSpPr>
          <p:nvPr/>
        </p:nvSpPr>
        <p:spPr>
          <a:xfrm>
            <a:off x="8524875" y="2362200"/>
            <a:ext cx="1762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RENDER</a:t>
            </a:r>
          </a:p>
        </p:txBody>
      </p:sp>
      <p:sp>
        <p:nvSpPr>
          <p:cNvPr id="33" name="lesson-text">
            <a:extLst>
              <a:ext uri="{FF2B5EF4-FFF2-40B4-BE49-F238E27FC236}">
                <a16:creationId xmlns:a16="http://schemas.microsoft.com/office/drawing/2014/main" id="{C4458AFF-FCA2-42CC-8394-048C6D1DAA11}"/>
              </a:ext>
            </a:extLst>
          </p:cNvPr>
          <p:cNvSpPr>
            <a:spLocks noGrp="1"/>
          </p:cNvSpPr>
          <p:nvPr/>
        </p:nvSpPr>
        <p:spPr>
          <a:xfrm>
            <a:off x="8124825" y="2905125"/>
            <a:ext cx="2133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draw the board · show text</a:t>
            </a:r>
          </a:p>
        </p:txBody>
      </p:sp>
      <p:sp>
        <p:nvSpPr>
          <p:cNvPr id="34" name="code-surface">
            <a:extLst>
              <a:ext uri="{FF2B5EF4-FFF2-40B4-BE49-F238E27FC236}">
                <a16:creationId xmlns:a16="http://schemas.microsoft.com/office/drawing/2014/main" id="{71D29B21-5AA4-4346-AF69-59F77AA5990C}"/>
              </a:ext>
            </a:extLst>
          </p:cNvPr>
          <p:cNvSpPr>
            <a:spLocks noGrp="1"/>
          </p:cNvSpPr>
          <p:nvPr/>
        </p:nvSpPr>
        <p:spPr>
          <a:xfrm>
            <a:off x="3524250" y="4095750"/>
            <a:ext cx="5143500" cy="1952625"/>
          </a:xfrm>
          <a:prstGeom prst="roundRect">
            <a:avLst>
              <a:gd name="adj" fmla="val 3902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code">
            <a:extLst>
              <a:ext uri="{FF2B5EF4-FFF2-40B4-BE49-F238E27FC236}">
                <a16:creationId xmlns:a16="http://schemas.microsoft.com/office/drawing/2014/main" id="{5B55B88B-599C-49C5-8574-54423B638B29}"/>
              </a:ext>
            </a:extLst>
          </p:cNvPr>
          <p:cNvSpPr>
            <a:spLocks noGrp="1"/>
          </p:cNvSpPr>
          <p:nvPr/>
        </p:nvSpPr>
        <p:spPr>
          <a:xfrm>
            <a:off x="3733800" y="4248150"/>
            <a:ext cx="4724400" cy="1647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while (!WindowShouldClose())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// input + update state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BeginDrawing();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// render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EndDrawing();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6487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68482373-D9AB-4415-8BAB-DC6C941D6A0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01 · ARRAYS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8AEAA0-997E-4340-A91D-34FF7A99DCD1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 dirty="0">
                <a:solidFill>
                  <a:srgbClr val="14213D"/>
                </a:solidFill>
              </a:rPr>
              <a:t>Nine Separate Variables Do Not Scale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EC7BBC-702A-4860-B777-2D5335998763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C622DED-D26F-4CDE-AD61-236B268169DE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04</a:t>
            </a:r>
          </a:p>
        </p:txBody>
      </p:sp>
      <p:sp>
        <p:nvSpPr>
          <p:cNvPr id="29" name="lesson-text">
            <a:extLst>
              <a:ext uri="{FF2B5EF4-FFF2-40B4-BE49-F238E27FC236}">
                <a16:creationId xmlns:a16="http://schemas.microsoft.com/office/drawing/2014/main" id="{D316E22D-C2BC-430E-AC9C-79BB2B00CA83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A board has nine values with the same meaning. Naming each one separately hides the pattern.</a:t>
            </a:r>
          </a:p>
        </p:txBody>
      </p:sp>
      <p:sp>
        <p:nvSpPr>
          <p:cNvPr id="30" name="code-surface">
            <a:extLst>
              <a:ext uri="{FF2B5EF4-FFF2-40B4-BE49-F238E27FC236}">
                <a16:creationId xmlns:a16="http://schemas.microsoft.com/office/drawing/2014/main" id="{5228B1A5-C29A-41FB-B024-84D7BB42B6E2}"/>
              </a:ext>
            </a:extLst>
          </p:cNvPr>
          <p:cNvSpPr>
            <a:spLocks noGrp="1"/>
          </p:cNvSpPr>
          <p:nvPr/>
        </p:nvSpPr>
        <p:spPr>
          <a:xfrm>
            <a:off x="904875" y="2238375"/>
            <a:ext cx="4095750" cy="2143125"/>
          </a:xfrm>
          <a:prstGeom prst="roundRect">
            <a:avLst>
              <a:gd name="adj" fmla="val 3556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code">
            <a:extLst>
              <a:ext uri="{FF2B5EF4-FFF2-40B4-BE49-F238E27FC236}">
                <a16:creationId xmlns:a16="http://schemas.microsoft.com/office/drawing/2014/main" id="{D18A1552-A6CB-48EF-A7DE-508BF4C61737}"/>
              </a:ext>
            </a:extLst>
          </p:cNvPr>
          <p:cNvSpPr>
            <a:spLocks noGrp="1"/>
          </p:cNvSpPr>
          <p:nvPr/>
        </p:nvSpPr>
        <p:spPr>
          <a:xfrm>
            <a:off x="1114425" y="2390775"/>
            <a:ext cx="3676650" cy="1838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cell_0 = '-';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cell_1 = '-';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cell_2 = '-';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// ...six more variables</a:t>
            </a:r>
          </a:p>
        </p:txBody>
      </p:sp>
      <p:sp>
        <p:nvSpPr>
          <p:cNvPr id="32" name="flow-arrow">
            <a:extLst>
              <a:ext uri="{FF2B5EF4-FFF2-40B4-BE49-F238E27FC236}">
                <a16:creationId xmlns:a16="http://schemas.microsoft.com/office/drawing/2014/main" id="{E83D71AE-5F66-45F5-AF0F-44AB1BB3A8A9}"/>
              </a:ext>
            </a:extLst>
          </p:cNvPr>
          <p:cNvSpPr>
            <a:spLocks noGrp="1"/>
          </p:cNvSpPr>
          <p:nvPr/>
        </p:nvSpPr>
        <p:spPr>
          <a:xfrm>
            <a:off x="5381625" y="3105150"/>
            <a:ext cx="809625" cy="266700"/>
          </a:xfrm>
          <a:prstGeom prst="rightArrow">
            <a:avLst/>
          </a:prstGeom>
          <a:solidFill>
            <a:srgbClr val="F5C451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lesson-box">
            <a:extLst>
              <a:ext uri="{FF2B5EF4-FFF2-40B4-BE49-F238E27FC236}">
                <a16:creationId xmlns:a16="http://schemas.microsoft.com/office/drawing/2014/main" id="{1A6BBD78-0034-42A9-A59F-CB377B19A8EE}"/>
              </a:ext>
            </a:extLst>
          </p:cNvPr>
          <p:cNvSpPr>
            <a:spLocks noGrp="1"/>
          </p:cNvSpPr>
          <p:nvPr/>
        </p:nvSpPr>
        <p:spPr>
          <a:xfrm>
            <a:off x="6572250" y="2238375"/>
            <a:ext cx="4095750" cy="2143125"/>
          </a:xfrm>
          <a:prstGeom prst="roundRect">
            <a:avLst>
              <a:gd name="adj" fmla="val 3556"/>
            </a:avLst>
          </a:prstGeom>
          <a:solidFill>
            <a:srgbClr val="EAF4FC"/>
          </a:solidFill>
          <a:ln w="9525">
            <a:solidFill>
              <a:srgbClr val="55A7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lesson-text">
            <a:extLst>
              <a:ext uri="{FF2B5EF4-FFF2-40B4-BE49-F238E27FC236}">
                <a16:creationId xmlns:a16="http://schemas.microsoft.com/office/drawing/2014/main" id="{81D5432C-28FE-4554-9F5E-59330BE92EEE}"/>
              </a:ext>
            </a:extLst>
          </p:cNvPr>
          <p:cNvSpPr>
            <a:spLocks noGrp="1"/>
          </p:cNvSpPr>
          <p:nvPr/>
        </p:nvSpPr>
        <p:spPr>
          <a:xfrm>
            <a:off x="6953250" y="2476500"/>
            <a:ext cx="3333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10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One name</a:t>
            </a:r>
          </a:p>
          <a:p>
            <a:pPr algn="ctr">
              <a:defRPr sz="210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+</a:t>
            </a:r>
          </a:p>
          <a:p>
            <a:pPr algn="ctr">
              <a:defRPr sz="210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one index</a:t>
            </a:r>
          </a:p>
        </p:txBody>
      </p:sp>
      <p:sp>
        <p:nvSpPr>
          <p:cNvPr id="35" name="code-surface">
            <a:extLst>
              <a:ext uri="{FF2B5EF4-FFF2-40B4-BE49-F238E27FC236}">
                <a16:creationId xmlns:a16="http://schemas.microsoft.com/office/drawing/2014/main" id="{02968FF0-3485-4FDA-B40D-41ED11C7A39B}"/>
              </a:ext>
            </a:extLst>
          </p:cNvPr>
          <p:cNvSpPr>
            <a:spLocks noGrp="1"/>
          </p:cNvSpPr>
          <p:nvPr/>
        </p:nvSpPr>
        <p:spPr>
          <a:xfrm>
            <a:off x="7239000" y="3476625"/>
            <a:ext cx="2762250" cy="742950"/>
          </a:xfrm>
          <a:prstGeom prst="roundRect">
            <a:avLst>
              <a:gd name="adj" fmla="val 10256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code">
            <a:extLst>
              <a:ext uri="{FF2B5EF4-FFF2-40B4-BE49-F238E27FC236}">
                <a16:creationId xmlns:a16="http://schemas.microsoft.com/office/drawing/2014/main" id="{BF250CB2-C1DA-46A3-9999-D028096F9754}"/>
              </a:ext>
            </a:extLst>
          </p:cNvPr>
          <p:cNvSpPr>
            <a:spLocks noGrp="1"/>
          </p:cNvSpPr>
          <p:nvPr/>
        </p:nvSpPr>
        <p:spPr>
          <a:xfrm>
            <a:off x="7448550" y="3629025"/>
            <a:ext cx="2343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cells[9];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cells[0] = 'X';</a:t>
            </a:r>
          </a:p>
        </p:txBody>
      </p:sp>
      <p:sp>
        <p:nvSpPr>
          <p:cNvPr id="37" name="lesson-text">
            <a:extLst>
              <a:ext uri="{FF2B5EF4-FFF2-40B4-BE49-F238E27FC236}">
                <a16:creationId xmlns:a16="http://schemas.microsoft.com/office/drawing/2014/main" id="{9BBEBFA9-DEEB-425E-85B5-2B085AA57897}"/>
              </a:ext>
            </a:extLst>
          </p:cNvPr>
          <p:cNvSpPr>
            <a:spLocks noGrp="1"/>
          </p:cNvSpPr>
          <p:nvPr/>
        </p:nvSpPr>
        <p:spPr>
          <a:xfrm>
            <a:off x="3429000" y="5000625"/>
            <a:ext cx="5334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Arrays keep related values together.</a:t>
            </a:r>
          </a:p>
        </p:txBody>
      </p:sp>
    </p:spTree>
    <p:extLst>
      <p:ext uri="{BB962C8B-B14F-4D97-AF65-F5344CB8AC3E}">
        <p14:creationId xmlns:p14="http://schemas.microsoft.com/office/powerpoint/2010/main" val="897801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68482373-D9AB-4415-8BAB-DC6C941D6A0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01 · ARRAYS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8AEAA0-997E-4340-A91D-34FF7A99DCD1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An Array Stores Similar Values Together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EC7BBC-702A-4860-B777-2D5335998763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C622DED-D26F-4CDE-AD61-236B268169DE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05</a:t>
            </a:r>
          </a:p>
        </p:txBody>
      </p:sp>
      <p:sp>
        <p:nvSpPr>
          <p:cNvPr id="29" name="lesson-text">
            <a:extLst>
              <a:ext uri="{FF2B5EF4-FFF2-40B4-BE49-F238E27FC236}">
                <a16:creationId xmlns:a16="http://schemas.microsoft.com/office/drawing/2014/main" id="{59077D18-7638-480B-9993-44127F7FBA1D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The index chooses one value. C++ indices start at zero.</a:t>
            </a:r>
          </a:p>
        </p:txBody>
      </p:sp>
      <p:sp>
        <p:nvSpPr>
          <p:cNvPr id="30" name="index-0">
            <a:extLst>
              <a:ext uri="{FF2B5EF4-FFF2-40B4-BE49-F238E27FC236}">
                <a16:creationId xmlns:a16="http://schemas.microsoft.com/office/drawing/2014/main" id="{13DFB260-722C-4FFB-8CA0-150CB7511C00}"/>
              </a:ext>
            </a:extLst>
          </p:cNvPr>
          <p:cNvSpPr>
            <a:spLocks noGrp="1"/>
          </p:cNvSpPr>
          <p:nvPr/>
        </p:nvSpPr>
        <p:spPr>
          <a:xfrm>
            <a:off x="1714500" y="224790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0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1" name="array-cell-0">
            <a:extLst>
              <a:ext uri="{FF2B5EF4-FFF2-40B4-BE49-F238E27FC236}">
                <a16:creationId xmlns:a16="http://schemas.microsoft.com/office/drawing/2014/main" id="{36C59391-1D41-419A-A67D-11EE07616007}"/>
              </a:ext>
            </a:extLst>
          </p:cNvPr>
          <p:cNvSpPr>
            <a:spLocks noGrp="1"/>
          </p:cNvSpPr>
          <p:nvPr/>
        </p:nvSpPr>
        <p:spPr>
          <a:xfrm>
            <a:off x="1714500" y="2571750"/>
            <a:ext cx="1619250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array-value-0">
            <a:extLst>
              <a:ext uri="{FF2B5EF4-FFF2-40B4-BE49-F238E27FC236}">
                <a16:creationId xmlns:a16="http://schemas.microsoft.com/office/drawing/2014/main" id="{7B98F601-E8D3-46DD-BE23-6704FF074FA0}"/>
              </a:ext>
            </a:extLst>
          </p:cNvPr>
          <p:cNvSpPr>
            <a:spLocks noGrp="1"/>
          </p:cNvSpPr>
          <p:nvPr/>
        </p:nvSpPr>
        <p:spPr>
          <a:xfrm>
            <a:off x="1714500" y="2571750"/>
            <a:ext cx="1619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2550" b="1" dirty="0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33" name="index-1">
            <a:extLst>
              <a:ext uri="{FF2B5EF4-FFF2-40B4-BE49-F238E27FC236}">
                <a16:creationId xmlns:a16="http://schemas.microsoft.com/office/drawing/2014/main" id="{D3E0771D-CCDD-4DD8-AB5E-F78CC37FCB10}"/>
              </a:ext>
            </a:extLst>
          </p:cNvPr>
          <p:cNvSpPr>
            <a:spLocks noGrp="1"/>
          </p:cNvSpPr>
          <p:nvPr/>
        </p:nvSpPr>
        <p:spPr>
          <a:xfrm>
            <a:off x="3333750" y="224790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0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34" name="array-cell-1">
            <a:extLst>
              <a:ext uri="{FF2B5EF4-FFF2-40B4-BE49-F238E27FC236}">
                <a16:creationId xmlns:a16="http://schemas.microsoft.com/office/drawing/2014/main" id="{50E4FCFC-73F4-46D7-B49E-ACDBEA6522EA}"/>
              </a:ext>
            </a:extLst>
          </p:cNvPr>
          <p:cNvSpPr>
            <a:spLocks noGrp="1"/>
          </p:cNvSpPr>
          <p:nvPr/>
        </p:nvSpPr>
        <p:spPr>
          <a:xfrm>
            <a:off x="3333750" y="2571750"/>
            <a:ext cx="1619250" cy="1000125"/>
          </a:xfrm>
          <a:prstGeom prst="roundRect">
            <a:avLst>
              <a:gd name="adj" fmla="val 7619"/>
            </a:avLst>
          </a:prstGeom>
          <a:solidFill>
            <a:srgbClr val="FFF5D8"/>
          </a:solidFill>
          <a:ln w="2857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array-value-1">
            <a:extLst>
              <a:ext uri="{FF2B5EF4-FFF2-40B4-BE49-F238E27FC236}">
                <a16:creationId xmlns:a16="http://schemas.microsoft.com/office/drawing/2014/main" id="{689404B2-E70B-4720-ADB7-7F99D817D1AB}"/>
              </a:ext>
            </a:extLst>
          </p:cNvPr>
          <p:cNvSpPr>
            <a:spLocks noGrp="1"/>
          </p:cNvSpPr>
          <p:nvPr/>
        </p:nvSpPr>
        <p:spPr>
          <a:xfrm>
            <a:off x="3333750" y="2571750"/>
            <a:ext cx="1619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36" name="index-2">
            <a:extLst>
              <a:ext uri="{FF2B5EF4-FFF2-40B4-BE49-F238E27FC236}">
                <a16:creationId xmlns:a16="http://schemas.microsoft.com/office/drawing/2014/main" id="{E4E66735-D2CC-457F-94AC-2E8C2156C1A3}"/>
              </a:ext>
            </a:extLst>
          </p:cNvPr>
          <p:cNvSpPr>
            <a:spLocks noGrp="1"/>
          </p:cNvSpPr>
          <p:nvPr/>
        </p:nvSpPr>
        <p:spPr>
          <a:xfrm>
            <a:off x="4953000" y="224790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0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7" name="array-cell-2">
            <a:extLst>
              <a:ext uri="{FF2B5EF4-FFF2-40B4-BE49-F238E27FC236}">
                <a16:creationId xmlns:a16="http://schemas.microsoft.com/office/drawing/2014/main" id="{196D15C8-49BC-4DB3-8BF4-70FC1E194C56}"/>
              </a:ext>
            </a:extLst>
          </p:cNvPr>
          <p:cNvSpPr>
            <a:spLocks noGrp="1"/>
          </p:cNvSpPr>
          <p:nvPr/>
        </p:nvSpPr>
        <p:spPr>
          <a:xfrm>
            <a:off x="4953000" y="2571750"/>
            <a:ext cx="1619250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array-value-2">
            <a:extLst>
              <a:ext uri="{FF2B5EF4-FFF2-40B4-BE49-F238E27FC236}">
                <a16:creationId xmlns:a16="http://schemas.microsoft.com/office/drawing/2014/main" id="{89E71422-D9F9-499E-9763-0341448A1E0D}"/>
              </a:ext>
            </a:extLst>
          </p:cNvPr>
          <p:cNvSpPr>
            <a:spLocks noGrp="1"/>
          </p:cNvSpPr>
          <p:nvPr/>
        </p:nvSpPr>
        <p:spPr>
          <a:xfrm>
            <a:off x="4953000" y="2571750"/>
            <a:ext cx="1619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39" name="code-surface">
            <a:extLst>
              <a:ext uri="{FF2B5EF4-FFF2-40B4-BE49-F238E27FC236}">
                <a16:creationId xmlns:a16="http://schemas.microsoft.com/office/drawing/2014/main" id="{9B660D59-0394-43C1-89D9-294DF91B964E}"/>
              </a:ext>
            </a:extLst>
          </p:cNvPr>
          <p:cNvSpPr>
            <a:spLocks noGrp="1"/>
          </p:cNvSpPr>
          <p:nvPr/>
        </p:nvSpPr>
        <p:spPr>
          <a:xfrm>
            <a:off x="7239000" y="2238375"/>
            <a:ext cx="3619500" cy="1619250"/>
          </a:xfrm>
          <a:prstGeom prst="roundRect">
            <a:avLst>
              <a:gd name="adj" fmla="val 4706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code">
            <a:extLst>
              <a:ext uri="{FF2B5EF4-FFF2-40B4-BE49-F238E27FC236}">
                <a16:creationId xmlns:a16="http://schemas.microsoft.com/office/drawing/2014/main" id="{3D201A5E-E4CC-40C3-80B0-B2807287F4D6}"/>
              </a:ext>
            </a:extLst>
          </p:cNvPr>
          <p:cNvSpPr>
            <a:spLocks noGrp="1"/>
          </p:cNvSpPr>
          <p:nvPr/>
        </p:nvSpPr>
        <p:spPr>
          <a:xfrm>
            <a:off x="7448550" y="2390775"/>
            <a:ext cx="3200400" cy="1314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row[3] = {'X', 'O', '-'};</a:t>
            </a:r>
          </a:p>
          <a:p>
            <a:endParaRPr sz="1425" b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4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row[1] = 'O';</a:t>
            </a:r>
          </a:p>
        </p:txBody>
      </p:sp>
      <p:sp>
        <p:nvSpPr>
          <p:cNvPr id="41" name="lesson-box">
            <a:extLst>
              <a:ext uri="{FF2B5EF4-FFF2-40B4-BE49-F238E27FC236}">
                <a16:creationId xmlns:a16="http://schemas.microsoft.com/office/drawing/2014/main" id="{7FB79D7E-CBB3-4469-B023-19BCE11712D7}"/>
              </a:ext>
            </a:extLst>
          </p:cNvPr>
          <p:cNvSpPr>
            <a:spLocks noGrp="1"/>
          </p:cNvSpPr>
          <p:nvPr/>
        </p:nvSpPr>
        <p:spPr>
          <a:xfrm>
            <a:off x="1714500" y="4238625"/>
            <a:ext cx="4857750" cy="952500"/>
          </a:xfrm>
          <a:prstGeom prst="roundRect">
            <a:avLst>
              <a:gd name="adj" fmla="val 8000"/>
            </a:avLst>
          </a:prstGeom>
          <a:solidFill>
            <a:srgbClr val="FFF5D8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lesson-text">
            <a:extLst>
              <a:ext uri="{FF2B5EF4-FFF2-40B4-BE49-F238E27FC236}">
                <a16:creationId xmlns:a16="http://schemas.microsoft.com/office/drawing/2014/main" id="{A1A869E8-8E78-4BE4-A621-8835A5D6F747}"/>
              </a:ext>
            </a:extLst>
          </p:cNvPr>
          <p:cNvSpPr>
            <a:spLocks noGrp="1"/>
          </p:cNvSpPr>
          <p:nvPr/>
        </p:nvSpPr>
        <p:spPr>
          <a:xfrm>
            <a:off x="2095500" y="4429125"/>
            <a:ext cx="13811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9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row[1]</a:t>
            </a:r>
          </a:p>
        </p:txBody>
      </p:sp>
      <p:sp>
        <p:nvSpPr>
          <p:cNvPr id="43" name="lesson-text">
            <a:extLst>
              <a:ext uri="{FF2B5EF4-FFF2-40B4-BE49-F238E27FC236}">
                <a16:creationId xmlns:a16="http://schemas.microsoft.com/office/drawing/2014/main" id="{0967D04A-A1B3-43B2-916A-237B3AD99ECD}"/>
              </a:ext>
            </a:extLst>
          </p:cNvPr>
          <p:cNvSpPr>
            <a:spLocks noGrp="1"/>
          </p:cNvSpPr>
          <p:nvPr/>
        </p:nvSpPr>
        <p:spPr>
          <a:xfrm>
            <a:off x="3714750" y="4476750"/>
            <a:ext cx="2333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name      index</a:t>
            </a:r>
          </a:p>
        </p:txBody>
      </p:sp>
      <p:sp>
        <p:nvSpPr>
          <p:cNvPr id="44" name="lesson-text">
            <a:extLst>
              <a:ext uri="{FF2B5EF4-FFF2-40B4-BE49-F238E27FC236}">
                <a16:creationId xmlns:a16="http://schemas.microsoft.com/office/drawing/2014/main" id="{9214AB5E-5B09-4A52-88BF-D0FED2B14793}"/>
              </a:ext>
            </a:extLst>
          </p:cNvPr>
          <p:cNvSpPr>
            <a:spLocks noGrp="1"/>
          </p:cNvSpPr>
          <p:nvPr/>
        </p:nvSpPr>
        <p:spPr>
          <a:xfrm>
            <a:off x="7048500" y="4429125"/>
            <a:ext cx="3905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Read left to right: choose element 1 from row.</a:t>
            </a:r>
          </a:p>
        </p:txBody>
      </p:sp>
    </p:spTree>
    <p:extLst>
      <p:ext uri="{BB962C8B-B14F-4D97-AF65-F5344CB8AC3E}">
        <p14:creationId xmlns:p14="http://schemas.microsoft.com/office/powerpoint/2010/main" val="897801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68482373-D9AB-4415-8BAB-DC6C941D6A0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01 · 2D ARRAYS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8AEAA0-997E-4340-A91D-34FF7A99DCD1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A 2D Array Adds Rows and Columns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EC7BBC-702A-4860-B777-2D5335998763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C622DED-D26F-4CDE-AD61-236B268169DE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06</a:t>
            </a:r>
          </a:p>
        </p:txBody>
      </p:sp>
      <p:sp>
        <p:nvSpPr>
          <p:cNvPr id="29" name="lesson-text">
            <a:extLst>
              <a:ext uri="{FF2B5EF4-FFF2-40B4-BE49-F238E27FC236}">
                <a16:creationId xmlns:a16="http://schemas.microsoft.com/office/drawing/2014/main" id="{0A8B4E6C-D5E5-4139-A8B2-3F8C8871B3BC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A Tic Tac Toe board is a grid, so every value needs two indices.</a:t>
            </a:r>
          </a:p>
        </p:txBody>
      </p:sp>
      <p:sp>
        <p:nvSpPr>
          <p:cNvPr id="30" name="lesson-text">
            <a:extLst>
              <a:ext uri="{FF2B5EF4-FFF2-40B4-BE49-F238E27FC236}">
                <a16:creationId xmlns:a16="http://schemas.microsoft.com/office/drawing/2014/main" id="{477598A2-B9B9-4AC1-B4B5-38BC711313F4}"/>
              </a:ext>
            </a:extLst>
          </p:cNvPr>
          <p:cNvSpPr>
            <a:spLocks noGrp="1"/>
          </p:cNvSpPr>
          <p:nvPr/>
        </p:nvSpPr>
        <p:spPr>
          <a:xfrm>
            <a:off x="1619250" y="1952625"/>
            <a:ext cx="10001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column 0</a:t>
            </a:r>
          </a:p>
        </p:txBody>
      </p:sp>
      <p:sp>
        <p:nvSpPr>
          <p:cNvPr id="31" name="lesson-text">
            <a:extLst>
              <a:ext uri="{FF2B5EF4-FFF2-40B4-BE49-F238E27FC236}">
                <a16:creationId xmlns:a16="http://schemas.microsoft.com/office/drawing/2014/main" id="{87D5F978-1360-444D-81C0-C77121A08AB9}"/>
              </a:ext>
            </a:extLst>
          </p:cNvPr>
          <p:cNvSpPr>
            <a:spLocks noGrp="1"/>
          </p:cNvSpPr>
          <p:nvPr/>
        </p:nvSpPr>
        <p:spPr>
          <a:xfrm>
            <a:off x="2619375" y="1952625"/>
            <a:ext cx="10001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column 1</a:t>
            </a:r>
          </a:p>
        </p:txBody>
      </p:sp>
      <p:sp>
        <p:nvSpPr>
          <p:cNvPr id="32" name="lesson-text">
            <a:extLst>
              <a:ext uri="{FF2B5EF4-FFF2-40B4-BE49-F238E27FC236}">
                <a16:creationId xmlns:a16="http://schemas.microsoft.com/office/drawing/2014/main" id="{9144838A-2181-409E-B472-49D8E3361CA6}"/>
              </a:ext>
            </a:extLst>
          </p:cNvPr>
          <p:cNvSpPr>
            <a:spLocks noGrp="1"/>
          </p:cNvSpPr>
          <p:nvPr/>
        </p:nvSpPr>
        <p:spPr>
          <a:xfrm>
            <a:off x="3619500" y="1952625"/>
            <a:ext cx="10001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column 2</a:t>
            </a:r>
          </a:p>
        </p:txBody>
      </p:sp>
      <p:sp>
        <p:nvSpPr>
          <p:cNvPr id="33" name="lesson-text">
            <a:extLst>
              <a:ext uri="{FF2B5EF4-FFF2-40B4-BE49-F238E27FC236}">
                <a16:creationId xmlns:a16="http://schemas.microsoft.com/office/drawing/2014/main" id="{188377EF-7CA8-4A87-AED7-66CA0B435703}"/>
              </a:ext>
            </a:extLst>
          </p:cNvPr>
          <p:cNvSpPr>
            <a:spLocks noGrp="1"/>
          </p:cNvSpPr>
          <p:nvPr/>
        </p:nvSpPr>
        <p:spPr>
          <a:xfrm>
            <a:off x="714375" y="2333625"/>
            <a:ext cx="857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1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row 0</a:t>
            </a:r>
          </a:p>
        </p:txBody>
      </p:sp>
      <p:sp>
        <p:nvSpPr>
          <p:cNvPr id="34" name="lesson-text">
            <a:extLst>
              <a:ext uri="{FF2B5EF4-FFF2-40B4-BE49-F238E27FC236}">
                <a16:creationId xmlns:a16="http://schemas.microsoft.com/office/drawing/2014/main" id="{24950F05-DA19-4238-8F02-4805B1DAE899}"/>
              </a:ext>
            </a:extLst>
          </p:cNvPr>
          <p:cNvSpPr>
            <a:spLocks noGrp="1"/>
          </p:cNvSpPr>
          <p:nvPr/>
        </p:nvSpPr>
        <p:spPr>
          <a:xfrm>
            <a:off x="714375" y="3333750"/>
            <a:ext cx="857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1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row 1</a:t>
            </a:r>
          </a:p>
        </p:txBody>
      </p:sp>
      <p:sp>
        <p:nvSpPr>
          <p:cNvPr id="35" name="lesson-text">
            <a:extLst>
              <a:ext uri="{FF2B5EF4-FFF2-40B4-BE49-F238E27FC236}">
                <a16:creationId xmlns:a16="http://schemas.microsoft.com/office/drawing/2014/main" id="{FA7C1DA9-5A4C-4002-B99B-056025D17B1D}"/>
              </a:ext>
            </a:extLst>
          </p:cNvPr>
          <p:cNvSpPr>
            <a:spLocks noGrp="1"/>
          </p:cNvSpPr>
          <p:nvPr/>
        </p:nvSpPr>
        <p:spPr>
          <a:xfrm>
            <a:off x="714375" y="4333875"/>
            <a:ext cx="857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1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row 2</a:t>
            </a:r>
          </a:p>
        </p:txBody>
      </p:sp>
      <p:sp>
        <p:nvSpPr>
          <p:cNvPr id="36" name="lesson-box">
            <a:extLst>
              <a:ext uri="{FF2B5EF4-FFF2-40B4-BE49-F238E27FC236}">
                <a16:creationId xmlns:a16="http://schemas.microsoft.com/office/drawing/2014/main" id="{654FBA80-305E-48D2-B8A4-6892EFF4B9AC}"/>
              </a:ext>
            </a:extLst>
          </p:cNvPr>
          <p:cNvSpPr>
            <a:spLocks noGrp="1"/>
          </p:cNvSpPr>
          <p:nvPr/>
        </p:nvSpPr>
        <p:spPr>
          <a:xfrm>
            <a:off x="1619250" y="233362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lesson-text">
            <a:extLst>
              <a:ext uri="{FF2B5EF4-FFF2-40B4-BE49-F238E27FC236}">
                <a16:creationId xmlns:a16="http://schemas.microsoft.com/office/drawing/2014/main" id="{299B01AD-7ABE-4840-BDEC-CDEA3BE89BDB}"/>
              </a:ext>
            </a:extLst>
          </p:cNvPr>
          <p:cNvSpPr>
            <a:spLocks noGrp="1"/>
          </p:cNvSpPr>
          <p:nvPr/>
        </p:nvSpPr>
        <p:spPr>
          <a:xfrm>
            <a:off x="1619250" y="2333625"/>
            <a:ext cx="1000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2550" b="1" dirty="0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38" name="lesson-box">
            <a:extLst>
              <a:ext uri="{FF2B5EF4-FFF2-40B4-BE49-F238E27FC236}">
                <a16:creationId xmlns:a16="http://schemas.microsoft.com/office/drawing/2014/main" id="{0F718F99-B0A4-4FEB-9F82-C235B8EB8F21}"/>
              </a:ext>
            </a:extLst>
          </p:cNvPr>
          <p:cNvSpPr>
            <a:spLocks noGrp="1"/>
          </p:cNvSpPr>
          <p:nvPr/>
        </p:nvSpPr>
        <p:spPr>
          <a:xfrm>
            <a:off x="2619375" y="233362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lesson-text">
            <a:extLst>
              <a:ext uri="{FF2B5EF4-FFF2-40B4-BE49-F238E27FC236}">
                <a16:creationId xmlns:a16="http://schemas.microsoft.com/office/drawing/2014/main" id="{9F319068-4970-4ADB-8E4E-0026BC047BE7}"/>
              </a:ext>
            </a:extLst>
          </p:cNvPr>
          <p:cNvSpPr>
            <a:spLocks noGrp="1"/>
          </p:cNvSpPr>
          <p:nvPr/>
        </p:nvSpPr>
        <p:spPr>
          <a:xfrm>
            <a:off x="2619375" y="2333625"/>
            <a:ext cx="1000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40" name="lesson-box">
            <a:extLst>
              <a:ext uri="{FF2B5EF4-FFF2-40B4-BE49-F238E27FC236}">
                <a16:creationId xmlns:a16="http://schemas.microsoft.com/office/drawing/2014/main" id="{46D0A9C6-12C0-4311-AFE0-F8DFC18BD546}"/>
              </a:ext>
            </a:extLst>
          </p:cNvPr>
          <p:cNvSpPr>
            <a:spLocks noGrp="1"/>
          </p:cNvSpPr>
          <p:nvPr/>
        </p:nvSpPr>
        <p:spPr>
          <a:xfrm>
            <a:off x="3619500" y="233362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lesson-text">
            <a:extLst>
              <a:ext uri="{FF2B5EF4-FFF2-40B4-BE49-F238E27FC236}">
                <a16:creationId xmlns:a16="http://schemas.microsoft.com/office/drawing/2014/main" id="{5B5EF438-28E5-49DF-A579-64761EDE6FEA}"/>
              </a:ext>
            </a:extLst>
          </p:cNvPr>
          <p:cNvSpPr>
            <a:spLocks noGrp="1"/>
          </p:cNvSpPr>
          <p:nvPr/>
        </p:nvSpPr>
        <p:spPr>
          <a:xfrm>
            <a:off x="3619500" y="2333625"/>
            <a:ext cx="1000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42" name="lesson-box">
            <a:extLst>
              <a:ext uri="{FF2B5EF4-FFF2-40B4-BE49-F238E27FC236}">
                <a16:creationId xmlns:a16="http://schemas.microsoft.com/office/drawing/2014/main" id="{8BAC6F6A-C0C4-4A8B-8568-7FA0F2588B24}"/>
              </a:ext>
            </a:extLst>
          </p:cNvPr>
          <p:cNvSpPr>
            <a:spLocks noGrp="1"/>
          </p:cNvSpPr>
          <p:nvPr/>
        </p:nvSpPr>
        <p:spPr>
          <a:xfrm>
            <a:off x="1619250" y="3333750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lesson-text">
            <a:extLst>
              <a:ext uri="{FF2B5EF4-FFF2-40B4-BE49-F238E27FC236}">
                <a16:creationId xmlns:a16="http://schemas.microsoft.com/office/drawing/2014/main" id="{AC69A006-72DA-411E-B8A9-DCA3723DCCB7}"/>
              </a:ext>
            </a:extLst>
          </p:cNvPr>
          <p:cNvSpPr>
            <a:spLocks noGrp="1"/>
          </p:cNvSpPr>
          <p:nvPr/>
        </p:nvSpPr>
        <p:spPr>
          <a:xfrm>
            <a:off x="1619250" y="3333750"/>
            <a:ext cx="1000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2550" b="1" dirty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44" name="lesson-box">
            <a:extLst>
              <a:ext uri="{FF2B5EF4-FFF2-40B4-BE49-F238E27FC236}">
                <a16:creationId xmlns:a16="http://schemas.microsoft.com/office/drawing/2014/main" id="{6BCCAC55-0B98-48BC-A03A-371D9C2F7694}"/>
              </a:ext>
            </a:extLst>
          </p:cNvPr>
          <p:cNvSpPr>
            <a:spLocks noGrp="1"/>
          </p:cNvSpPr>
          <p:nvPr/>
        </p:nvSpPr>
        <p:spPr>
          <a:xfrm>
            <a:off x="2619375" y="3333750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lesson-text">
            <a:extLst>
              <a:ext uri="{FF2B5EF4-FFF2-40B4-BE49-F238E27FC236}">
                <a16:creationId xmlns:a16="http://schemas.microsoft.com/office/drawing/2014/main" id="{0FFD05DC-319E-454E-B029-A99C511CC455}"/>
              </a:ext>
            </a:extLst>
          </p:cNvPr>
          <p:cNvSpPr>
            <a:spLocks noGrp="1"/>
          </p:cNvSpPr>
          <p:nvPr/>
        </p:nvSpPr>
        <p:spPr>
          <a:xfrm>
            <a:off x="2619375" y="3333750"/>
            <a:ext cx="1000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46" name="lesson-box">
            <a:extLst>
              <a:ext uri="{FF2B5EF4-FFF2-40B4-BE49-F238E27FC236}">
                <a16:creationId xmlns:a16="http://schemas.microsoft.com/office/drawing/2014/main" id="{3B4B3093-055A-4B81-91B8-AA8BA6B0C904}"/>
              </a:ext>
            </a:extLst>
          </p:cNvPr>
          <p:cNvSpPr>
            <a:spLocks noGrp="1"/>
          </p:cNvSpPr>
          <p:nvPr/>
        </p:nvSpPr>
        <p:spPr>
          <a:xfrm>
            <a:off x="3619500" y="3333750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5D8"/>
          </a:solidFill>
          <a:ln w="2857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lesson-text">
            <a:extLst>
              <a:ext uri="{FF2B5EF4-FFF2-40B4-BE49-F238E27FC236}">
                <a16:creationId xmlns:a16="http://schemas.microsoft.com/office/drawing/2014/main" id="{07A08EA9-D406-4870-9748-5A002748508D}"/>
              </a:ext>
            </a:extLst>
          </p:cNvPr>
          <p:cNvSpPr>
            <a:spLocks noGrp="1"/>
          </p:cNvSpPr>
          <p:nvPr/>
        </p:nvSpPr>
        <p:spPr>
          <a:xfrm>
            <a:off x="3619500" y="3333750"/>
            <a:ext cx="1000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48" name="lesson-box">
            <a:extLst>
              <a:ext uri="{FF2B5EF4-FFF2-40B4-BE49-F238E27FC236}">
                <a16:creationId xmlns:a16="http://schemas.microsoft.com/office/drawing/2014/main" id="{5251F327-2C59-40F2-9AFC-32DA893B57D8}"/>
              </a:ext>
            </a:extLst>
          </p:cNvPr>
          <p:cNvSpPr>
            <a:spLocks noGrp="1"/>
          </p:cNvSpPr>
          <p:nvPr/>
        </p:nvSpPr>
        <p:spPr>
          <a:xfrm>
            <a:off x="1619250" y="433387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lesson-text">
            <a:extLst>
              <a:ext uri="{FF2B5EF4-FFF2-40B4-BE49-F238E27FC236}">
                <a16:creationId xmlns:a16="http://schemas.microsoft.com/office/drawing/2014/main" id="{2955D46A-0986-4EDC-A3B9-33EE4893F712}"/>
              </a:ext>
            </a:extLst>
          </p:cNvPr>
          <p:cNvSpPr>
            <a:spLocks noGrp="1"/>
          </p:cNvSpPr>
          <p:nvPr/>
        </p:nvSpPr>
        <p:spPr>
          <a:xfrm>
            <a:off x="1619250" y="4333875"/>
            <a:ext cx="1000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50" name="lesson-box">
            <a:extLst>
              <a:ext uri="{FF2B5EF4-FFF2-40B4-BE49-F238E27FC236}">
                <a16:creationId xmlns:a16="http://schemas.microsoft.com/office/drawing/2014/main" id="{EAD9955F-48E4-4D88-A73A-E09AF27F1212}"/>
              </a:ext>
            </a:extLst>
          </p:cNvPr>
          <p:cNvSpPr>
            <a:spLocks noGrp="1"/>
          </p:cNvSpPr>
          <p:nvPr/>
        </p:nvSpPr>
        <p:spPr>
          <a:xfrm>
            <a:off x="2619375" y="433387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lesson-text">
            <a:extLst>
              <a:ext uri="{FF2B5EF4-FFF2-40B4-BE49-F238E27FC236}">
                <a16:creationId xmlns:a16="http://schemas.microsoft.com/office/drawing/2014/main" id="{1B077AFA-6688-4EEC-B683-8527F50BE02C}"/>
              </a:ext>
            </a:extLst>
          </p:cNvPr>
          <p:cNvSpPr>
            <a:spLocks noGrp="1"/>
          </p:cNvSpPr>
          <p:nvPr/>
        </p:nvSpPr>
        <p:spPr>
          <a:xfrm>
            <a:off x="2619375" y="4333875"/>
            <a:ext cx="1000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52" name="lesson-box">
            <a:extLst>
              <a:ext uri="{FF2B5EF4-FFF2-40B4-BE49-F238E27FC236}">
                <a16:creationId xmlns:a16="http://schemas.microsoft.com/office/drawing/2014/main" id="{68ED0068-B1E9-4A13-AE39-BAF06D43E9E5}"/>
              </a:ext>
            </a:extLst>
          </p:cNvPr>
          <p:cNvSpPr>
            <a:spLocks noGrp="1"/>
          </p:cNvSpPr>
          <p:nvPr/>
        </p:nvSpPr>
        <p:spPr>
          <a:xfrm>
            <a:off x="3619500" y="433387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lesson-text">
            <a:extLst>
              <a:ext uri="{FF2B5EF4-FFF2-40B4-BE49-F238E27FC236}">
                <a16:creationId xmlns:a16="http://schemas.microsoft.com/office/drawing/2014/main" id="{E4807B40-99F2-4996-9507-F533A6A80611}"/>
              </a:ext>
            </a:extLst>
          </p:cNvPr>
          <p:cNvSpPr>
            <a:spLocks noGrp="1"/>
          </p:cNvSpPr>
          <p:nvPr/>
        </p:nvSpPr>
        <p:spPr>
          <a:xfrm>
            <a:off x="3619500" y="4333875"/>
            <a:ext cx="1000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54" name="code-surface">
            <a:extLst>
              <a:ext uri="{FF2B5EF4-FFF2-40B4-BE49-F238E27FC236}">
                <a16:creationId xmlns:a16="http://schemas.microsoft.com/office/drawing/2014/main" id="{B790BAF4-F990-4422-92B5-CC88D7075CF6}"/>
              </a:ext>
            </a:extLst>
          </p:cNvPr>
          <p:cNvSpPr>
            <a:spLocks noGrp="1"/>
          </p:cNvSpPr>
          <p:nvPr/>
        </p:nvSpPr>
        <p:spPr>
          <a:xfrm>
            <a:off x="6191250" y="2428875"/>
            <a:ext cx="4476750" cy="1714500"/>
          </a:xfrm>
          <a:prstGeom prst="roundRect">
            <a:avLst>
              <a:gd name="adj" fmla="val 444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code">
            <a:extLst>
              <a:ext uri="{FF2B5EF4-FFF2-40B4-BE49-F238E27FC236}">
                <a16:creationId xmlns:a16="http://schemas.microsoft.com/office/drawing/2014/main" id="{C407156D-9581-448E-B898-591C257929DE}"/>
              </a:ext>
            </a:extLst>
          </p:cNvPr>
          <p:cNvSpPr>
            <a:spLocks noGrp="1"/>
          </p:cNvSpPr>
          <p:nvPr/>
        </p:nvSpPr>
        <p:spPr>
          <a:xfrm>
            <a:off x="6400800" y="2581275"/>
            <a:ext cx="405765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board[3][3];</a:t>
            </a:r>
          </a:p>
          <a:p>
            <a:endParaRPr sz="1575" b="0" dirty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5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board[1][2] = 'O';</a:t>
            </a:r>
          </a:p>
          <a:p>
            <a:pPr algn="l">
              <a:defRPr sz="15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//    row  column</a:t>
            </a:r>
          </a:p>
        </p:txBody>
      </p:sp>
      <p:sp>
        <p:nvSpPr>
          <p:cNvPr id="56" name="lesson-box">
            <a:extLst>
              <a:ext uri="{FF2B5EF4-FFF2-40B4-BE49-F238E27FC236}">
                <a16:creationId xmlns:a16="http://schemas.microsoft.com/office/drawing/2014/main" id="{0CF8D414-1C65-4065-9608-09C73472FDF6}"/>
              </a:ext>
            </a:extLst>
          </p:cNvPr>
          <p:cNvSpPr>
            <a:spLocks noGrp="1"/>
          </p:cNvSpPr>
          <p:nvPr/>
        </p:nvSpPr>
        <p:spPr>
          <a:xfrm>
            <a:off x="6191250" y="4476750"/>
            <a:ext cx="4476750" cy="838200"/>
          </a:xfrm>
          <a:prstGeom prst="roundRect">
            <a:avLst>
              <a:gd name="adj" fmla="val 9091"/>
            </a:avLst>
          </a:prstGeom>
          <a:solidFill>
            <a:srgbClr val="FFF5D8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lesson-text">
            <a:extLst>
              <a:ext uri="{FF2B5EF4-FFF2-40B4-BE49-F238E27FC236}">
                <a16:creationId xmlns:a16="http://schemas.microsoft.com/office/drawing/2014/main" id="{FB18407E-C3D2-4F89-A159-2FEC21C9AE66}"/>
              </a:ext>
            </a:extLst>
          </p:cNvPr>
          <p:cNvSpPr>
            <a:spLocks noGrp="1"/>
          </p:cNvSpPr>
          <p:nvPr/>
        </p:nvSpPr>
        <p:spPr>
          <a:xfrm>
            <a:off x="6572250" y="4629150"/>
            <a:ext cx="3714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9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950" b="1" dirty="0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board[row][column]</a:t>
            </a:r>
          </a:p>
        </p:txBody>
      </p:sp>
    </p:spTree>
    <p:extLst>
      <p:ext uri="{BB962C8B-B14F-4D97-AF65-F5344CB8AC3E}">
        <p14:creationId xmlns:p14="http://schemas.microsoft.com/office/powerpoint/2010/main" val="8978016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68482373-D9AB-4415-8BAB-DC6C941D6A0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PROGRAM DESIGN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8AEAA0-997E-4340-A91D-34FF7A99DCD1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Four Functions Split the Game into Jobs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EC7BBC-702A-4860-B777-2D5335998763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C622DED-D26F-4CDE-AD61-236B268169DE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08</a:t>
            </a:r>
          </a:p>
        </p:txBody>
      </p:sp>
      <p:sp>
        <p:nvSpPr>
          <p:cNvPr id="29" name="lesson-text">
            <a:extLst>
              <a:ext uri="{FF2B5EF4-FFF2-40B4-BE49-F238E27FC236}">
                <a16:creationId xmlns:a16="http://schemas.microsoft.com/office/drawing/2014/main" id="{845CB0F4-0CFC-4B0C-90AA-9CA7E0C0E334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Design the small jobs first. The main loop decides when to use them.</a:t>
            </a:r>
          </a:p>
        </p:txBody>
      </p:sp>
      <p:sp>
        <p:nvSpPr>
          <p:cNvPr id="30" name="lesson-box">
            <a:extLst>
              <a:ext uri="{FF2B5EF4-FFF2-40B4-BE49-F238E27FC236}">
                <a16:creationId xmlns:a16="http://schemas.microsoft.com/office/drawing/2014/main" id="{3FA3F19F-78CB-4716-A9A8-B4FC242356B1}"/>
              </a:ext>
            </a:extLst>
          </p:cNvPr>
          <p:cNvSpPr>
            <a:spLocks noGrp="1"/>
          </p:cNvSpPr>
          <p:nvPr/>
        </p:nvSpPr>
        <p:spPr>
          <a:xfrm>
            <a:off x="904875" y="2190750"/>
            <a:ext cx="4857750" cy="1285875"/>
          </a:xfrm>
          <a:prstGeom prst="roundRect">
            <a:avLst>
              <a:gd name="adj" fmla="val 5926"/>
            </a:avLst>
          </a:prstGeom>
          <a:solidFill>
            <a:srgbClr val="FFF5D8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lesson-text">
            <a:extLst>
              <a:ext uri="{FF2B5EF4-FFF2-40B4-BE49-F238E27FC236}">
                <a16:creationId xmlns:a16="http://schemas.microsoft.com/office/drawing/2014/main" id="{CF9132E4-8C56-4C12-A65E-84B36CDC8795}"/>
              </a:ext>
            </a:extLst>
          </p:cNvPr>
          <p:cNvSpPr>
            <a:spLocks noGrp="1"/>
          </p:cNvSpPr>
          <p:nvPr/>
        </p:nvSpPr>
        <p:spPr>
          <a:xfrm>
            <a:off x="1095375" y="2381250"/>
            <a:ext cx="47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F5C45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5C451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32" name="lesson-text">
            <a:extLst>
              <a:ext uri="{FF2B5EF4-FFF2-40B4-BE49-F238E27FC236}">
                <a16:creationId xmlns:a16="http://schemas.microsoft.com/office/drawing/2014/main" id="{1D1654E5-FFE7-4A7C-B97C-D5C79AC078ED}"/>
              </a:ext>
            </a:extLst>
          </p:cNvPr>
          <p:cNvSpPr>
            <a:spLocks noGrp="1"/>
          </p:cNvSpPr>
          <p:nvPr/>
        </p:nvSpPr>
        <p:spPr>
          <a:xfrm>
            <a:off x="1714500" y="2362200"/>
            <a:ext cx="3429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reset_board()</a:t>
            </a:r>
          </a:p>
        </p:txBody>
      </p:sp>
      <p:sp>
        <p:nvSpPr>
          <p:cNvPr id="33" name="lesson-text">
            <a:extLst>
              <a:ext uri="{FF2B5EF4-FFF2-40B4-BE49-F238E27FC236}">
                <a16:creationId xmlns:a16="http://schemas.microsoft.com/office/drawing/2014/main" id="{22CA18DC-187C-465F-BC29-2216DDF61F1B}"/>
              </a:ext>
            </a:extLst>
          </p:cNvPr>
          <p:cNvSpPr>
            <a:spLocks noGrp="1"/>
          </p:cNvSpPr>
          <p:nvPr/>
        </p:nvSpPr>
        <p:spPr>
          <a:xfrm>
            <a:off x="1714500" y="2809875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fill every cell with '-'</a:t>
            </a:r>
          </a:p>
        </p:txBody>
      </p:sp>
      <p:sp>
        <p:nvSpPr>
          <p:cNvPr id="34" name="lesson-box">
            <a:extLst>
              <a:ext uri="{FF2B5EF4-FFF2-40B4-BE49-F238E27FC236}">
                <a16:creationId xmlns:a16="http://schemas.microsoft.com/office/drawing/2014/main" id="{AC4F1EA3-1A13-4D80-A96E-E65494BC4D48}"/>
              </a:ext>
            </a:extLst>
          </p:cNvPr>
          <p:cNvSpPr>
            <a:spLocks noGrp="1"/>
          </p:cNvSpPr>
          <p:nvPr/>
        </p:nvSpPr>
        <p:spPr>
          <a:xfrm>
            <a:off x="6238875" y="2190750"/>
            <a:ext cx="4857750" cy="1285875"/>
          </a:xfrm>
          <a:prstGeom prst="roundRect">
            <a:avLst>
              <a:gd name="adj" fmla="val 5926"/>
            </a:avLst>
          </a:prstGeom>
          <a:solidFill>
            <a:srgbClr val="EAF4FC"/>
          </a:solidFill>
          <a:ln w="9525">
            <a:solidFill>
              <a:srgbClr val="55A7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lesson-text">
            <a:extLst>
              <a:ext uri="{FF2B5EF4-FFF2-40B4-BE49-F238E27FC236}">
                <a16:creationId xmlns:a16="http://schemas.microsoft.com/office/drawing/2014/main" id="{253381D4-F469-45FE-AA7B-3AEFD20BA5AB}"/>
              </a:ext>
            </a:extLst>
          </p:cNvPr>
          <p:cNvSpPr>
            <a:spLocks noGrp="1"/>
          </p:cNvSpPr>
          <p:nvPr/>
        </p:nvSpPr>
        <p:spPr>
          <a:xfrm>
            <a:off x="6429375" y="2381250"/>
            <a:ext cx="47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36" name="lesson-text">
            <a:extLst>
              <a:ext uri="{FF2B5EF4-FFF2-40B4-BE49-F238E27FC236}">
                <a16:creationId xmlns:a16="http://schemas.microsoft.com/office/drawing/2014/main" id="{0EEDCC8D-E576-406E-A26F-C0D0E93526BD}"/>
              </a:ext>
            </a:extLst>
          </p:cNvPr>
          <p:cNvSpPr>
            <a:spLocks noGrp="1"/>
          </p:cNvSpPr>
          <p:nvPr/>
        </p:nvSpPr>
        <p:spPr>
          <a:xfrm>
            <a:off x="7048500" y="2362200"/>
            <a:ext cx="3429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draw_board()</a:t>
            </a:r>
          </a:p>
        </p:txBody>
      </p:sp>
      <p:sp>
        <p:nvSpPr>
          <p:cNvPr id="37" name="lesson-text">
            <a:extLst>
              <a:ext uri="{FF2B5EF4-FFF2-40B4-BE49-F238E27FC236}">
                <a16:creationId xmlns:a16="http://schemas.microsoft.com/office/drawing/2014/main" id="{98423872-ED02-4D3C-AC5B-3E638B85AEB6}"/>
              </a:ext>
            </a:extLst>
          </p:cNvPr>
          <p:cNvSpPr>
            <a:spLocks noGrp="1"/>
          </p:cNvSpPr>
          <p:nvPr/>
        </p:nvSpPr>
        <p:spPr>
          <a:xfrm>
            <a:off x="7048500" y="2809875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turn board data into pixels</a:t>
            </a:r>
          </a:p>
        </p:txBody>
      </p:sp>
      <p:sp>
        <p:nvSpPr>
          <p:cNvPr id="38" name="lesson-box">
            <a:extLst>
              <a:ext uri="{FF2B5EF4-FFF2-40B4-BE49-F238E27FC236}">
                <a16:creationId xmlns:a16="http://schemas.microsoft.com/office/drawing/2014/main" id="{DFF22FDF-D5A7-4F4E-ADE0-58B7318B8300}"/>
              </a:ext>
            </a:extLst>
          </p:cNvPr>
          <p:cNvSpPr>
            <a:spLocks noGrp="1"/>
          </p:cNvSpPr>
          <p:nvPr/>
        </p:nvSpPr>
        <p:spPr>
          <a:xfrm>
            <a:off x="904875" y="3810000"/>
            <a:ext cx="4857750" cy="1285875"/>
          </a:xfrm>
          <a:prstGeom prst="roundRect">
            <a:avLst>
              <a:gd name="adj" fmla="val 5926"/>
            </a:avLst>
          </a:prstGeom>
          <a:solidFill>
            <a:srgbClr val="E8F8F0"/>
          </a:solidFill>
          <a:ln w="9525">
            <a:solidFill>
              <a:srgbClr val="4BC38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lesson-text">
            <a:extLst>
              <a:ext uri="{FF2B5EF4-FFF2-40B4-BE49-F238E27FC236}">
                <a16:creationId xmlns:a16="http://schemas.microsoft.com/office/drawing/2014/main" id="{FCB1F13D-E4A6-4EAE-A3B3-B811EF7D0ADB}"/>
              </a:ext>
            </a:extLst>
          </p:cNvPr>
          <p:cNvSpPr>
            <a:spLocks noGrp="1"/>
          </p:cNvSpPr>
          <p:nvPr/>
        </p:nvSpPr>
        <p:spPr>
          <a:xfrm>
            <a:off x="1095375" y="4000500"/>
            <a:ext cx="47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40" name="lesson-text">
            <a:extLst>
              <a:ext uri="{FF2B5EF4-FFF2-40B4-BE49-F238E27FC236}">
                <a16:creationId xmlns:a16="http://schemas.microsoft.com/office/drawing/2014/main" id="{7793EF2B-B907-405A-9255-1E250D71C40E}"/>
              </a:ext>
            </a:extLst>
          </p:cNvPr>
          <p:cNvSpPr>
            <a:spLocks noGrp="1"/>
          </p:cNvSpPr>
          <p:nvPr/>
        </p:nvSpPr>
        <p:spPr>
          <a:xfrm>
            <a:off x="1714500" y="3981450"/>
            <a:ext cx="3429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check_win()</a:t>
            </a:r>
          </a:p>
        </p:txBody>
      </p:sp>
      <p:sp>
        <p:nvSpPr>
          <p:cNvPr id="41" name="lesson-text">
            <a:extLst>
              <a:ext uri="{FF2B5EF4-FFF2-40B4-BE49-F238E27FC236}">
                <a16:creationId xmlns:a16="http://schemas.microsoft.com/office/drawing/2014/main" id="{B5382306-89D2-49F4-A9BE-B56F394D0CD0}"/>
              </a:ext>
            </a:extLst>
          </p:cNvPr>
          <p:cNvSpPr>
            <a:spLocks noGrp="1"/>
          </p:cNvSpPr>
          <p:nvPr/>
        </p:nvSpPr>
        <p:spPr>
          <a:xfrm>
            <a:off x="1714500" y="4429125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test eight winning lines</a:t>
            </a:r>
          </a:p>
        </p:txBody>
      </p:sp>
      <p:sp>
        <p:nvSpPr>
          <p:cNvPr id="42" name="lesson-box">
            <a:extLst>
              <a:ext uri="{FF2B5EF4-FFF2-40B4-BE49-F238E27FC236}">
                <a16:creationId xmlns:a16="http://schemas.microsoft.com/office/drawing/2014/main" id="{391414E2-91F9-48C3-AA9C-5E2798321ED9}"/>
              </a:ext>
            </a:extLst>
          </p:cNvPr>
          <p:cNvSpPr>
            <a:spLocks noGrp="1"/>
          </p:cNvSpPr>
          <p:nvPr/>
        </p:nvSpPr>
        <p:spPr>
          <a:xfrm>
            <a:off x="6238875" y="3810000"/>
            <a:ext cx="4857750" cy="1285875"/>
          </a:xfrm>
          <a:prstGeom prst="roundRect">
            <a:avLst>
              <a:gd name="adj" fmla="val 5926"/>
            </a:avLst>
          </a:prstGeom>
          <a:solidFill>
            <a:srgbClr val="F2EDFD"/>
          </a:solidFill>
          <a:ln w="9525">
            <a:solidFill>
              <a:srgbClr val="9C7B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lesson-text">
            <a:extLst>
              <a:ext uri="{FF2B5EF4-FFF2-40B4-BE49-F238E27FC236}">
                <a16:creationId xmlns:a16="http://schemas.microsoft.com/office/drawing/2014/main" id="{D881C923-9CC8-4DFC-B1F7-DB154906534D}"/>
              </a:ext>
            </a:extLst>
          </p:cNvPr>
          <p:cNvSpPr>
            <a:spLocks noGrp="1"/>
          </p:cNvSpPr>
          <p:nvPr/>
        </p:nvSpPr>
        <p:spPr>
          <a:xfrm>
            <a:off x="6429375" y="4000500"/>
            <a:ext cx="47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9C7BE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9C7BEA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44" name="lesson-text">
            <a:extLst>
              <a:ext uri="{FF2B5EF4-FFF2-40B4-BE49-F238E27FC236}">
                <a16:creationId xmlns:a16="http://schemas.microsoft.com/office/drawing/2014/main" id="{B0480616-D4D1-4F32-B6B2-43882A13F7F6}"/>
              </a:ext>
            </a:extLst>
          </p:cNvPr>
          <p:cNvSpPr>
            <a:spLocks noGrp="1"/>
          </p:cNvSpPr>
          <p:nvPr/>
        </p:nvSpPr>
        <p:spPr>
          <a:xfrm>
            <a:off x="7048500" y="3981450"/>
            <a:ext cx="3429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is_board_full()</a:t>
            </a:r>
          </a:p>
        </p:txBody>
      </p:sp>
      <p:sp>
        <p:nvSpPr>
          <p:cNvPr id="45" name="lesson-text">
            <a:extLst>
              <a:ext uri="{FF2B5EF4-FFF2-40B4-BE49-F238E27FC236}">
                <a16:creationId xmlns:a16="http://schemas.microsoft.com/office/drawing/2014/main" id="{BDB28C74-ECFB-416D-B03F-01E6403380AC}"/>
              </a:ext>
            </a:extLst>
          </p:cNvPr>
          <p:cNvSpPr>
            <a:spLocks noGrp="1"/>
          </p:cNvSpPr>
          <p:nvPr/>
        </p:nvSpPr>
        <p:spPr>
          <a:xfrm>
            <a:off x="7048500" y="4429125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find an empty cell or a draw</a:t>
            </a:r>
          </a:p>
        </p:txBody>
      </p:sp>
    </p:spTree>
    <p:extLst>
      <p:ext uri="{BB962C8B-B14F-4D97-AF65-F5344CB8AC3E}">
        <p14:creationId xmlns:p14="http://schemas.microsoft.com/office/powerpoint/2010/main" val="897801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05C16E7A-AC86-43A2-9239-B7ACCED95EEC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02 · COORDINATES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C5B233D-C0BF-4946-9E4D-C978FD676350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Array Positions Become Screen Positions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1AFBDA8-49B7-44B9-8898-3FE289544AB7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0D02239-1A66-4401-A4F7-DAC22181C441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07</a:t>
            </a:r>
          </a:p>
        </p:txBody>
      </p:sp>
      <p:sp>
        <p:nvSpPr>
          <p:cNvPr id="18" name="lesson-text">
            <a:extLst>
              <a:ext uri="{FF2B5EF4-FFF2-40B4-BE49-F238E27FC236}">
                <a16:creationId xmlns:a16="http://schemas.microsoft.com/office/drawing/2014/main" id="{2E2E482F-F832-4240-8332-9CD92BB383E7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Each board cell is 300 pixels wide and 300 pixels tall.</a:t>
            </a:r>
          </a:p>
        </p:txBody>
      </p:sp>
      <p:sp>
        <p:nvSpPr>
          <p:cNvPr id="19" name="board-back">
            <a:extLst>
              <a:ext uri="{FF2B5EF4-FFF2-40B4-BE49-F238E27FC236}">
                <a16:creationId xmlns:a16="http://schemas.microsoft.com/office/drawing/2014/main" id="{80D60EDC-70DA-40D9-866E-2730704E59C2}"/>
              </a:ext>
            </a:extLst>
          </p:cNvPr>
          <p:cNvSpPr>
            <a:spLocks noGrp="1"/>
          </p:cNvSpPr>
          <p:nvPr/>
        </p:nvSpPr>
        <p:spPr>
          <a:xfrm>
            <a:off x="971550" y="2162175"/>
            <a:ext cx="3343275" cy="3343275"/>
          </a:xfrm>
          <a:prstGeom prst="roundRect">
            <a:avLst>
              <a:gd name="adj" fmla="val 2279"/>
            </a:avLst>
          </a:prstGeom>
          <a:solidFill>
            <a:srgbClr val="F4F7FA"/>
          </a:solidFill>
          <a:ln w="9525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cell-0-0">
            <a:extLst>
              <a:ext uri="{FF2B5EF4-FFF2-40B4-BE49-F238E27FC236}">
                <a16:creationId xmlns:a16="http://schemas.microsoft.com/office/drawing/2014/main" id="{10B5D50B-9886-469A-98F5-0AFEF09E679E}"/>
              </a:ext>
            </a:extLst>
          </p:cNvPr>
          <p:cNvSpPr>
            <a:spLocks noGrp="1"/>
          </p:cNvSpPr>
          <p:nvPr/>
        </p:nvSpPr>
        <p:spPr>
          <a:xfrm>
            <a:off x="1143000" y="233362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cell-0-1">
            <a:extLst>
              <a:ext uri="{FF2B5EF4-FFF2-40B4-BE49-F238E27FC236}">
                <a16:creationId xmlns:a16="http://schemas.microsoft.com/office/drawing/2014/main" id="{CB291620-4921-4134-97DB-6C8EDF61E098}"/>
              </a:ext>
            </a:extLst>
          </p:cNvPr>
          <p:cNvSpPr>
            <a:spLocks noGrp="1"/>
          </p:cNvSpPr>
          <p:nvPr/>
        </p:nvSpPr>
        <p:spPr>
          <a:xfrm>
            <a:off x="2143125" y="233362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cell-0-2">
            <a:extLst>
              <a:ext uri="{FF2B5EF4-FFF2-40B4-BE49-F238E27FC236}">
                <a16:creationId xmlns:a16="http://schemas.microsoft.com/office/drawing/2014/main" id="{298D06D0-3175-4F59-9893-C3BE4AA674D7}"/>
              </a:ext>
            </a:extLst>
          </p:cNvPr>
          <p:cNvSpPr>
            <a:spLocks noGrp="1"/>
          </p:cNvSpPr>
          <p:nvPr/>
        </p:nvSpPr>
        <p:spPr>
          <a:xfrm>
            <a:off x="3143250" y="233362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cell-1-0">
            <a:extLst>
              <a:ext uri="{FF2B5EF4-FFF2-40B4-BE49-F238E27FC236}">
                <a16:creationId xmlns:a16="http://schemas.microsoft.com/office/drawing/2014/main" id="{3CB323F6-0B3E-495C-966F-0B1708379460}"/>
              </a:ext>
            </a:extLst>
          </p:cNvPr>
          <p:cNvSpPr>
            <a:spLocks noGrp="1"/>
          </p:cNvSpPr>
          <p:nvPr/>
        </p:nvSpPr>
        <p:spPr>
          <a:xfrm>
            <a:off x="1143000" y="3333750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cell-1-1">
            <a:extLst>
              <a:ext uri="{FF2B5EF4-FFF2-40B4-BE49-F238E27FC236}">
                <a16:creationId xmlns:a16="http://schemas.microsoft.com/office/drawing/2014/main" id="{32C9C124-F7C8-496A-82CC-8DDCD4A7D454}"/>
              </a:ext>
            </a:extLst>
          </p:cNvPr>
          <p:cNvSpPr>
            <a:spLocks noGrp="1"/>
          </p:cNvSpPr>
          <p:nvPr/>
        </p:nvSpPr>
        <p:spPr>
          <a:xfrm>
            <a:off x="2143125" y="3333750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cell-1-2">
            <a:extLst>
              <a:ext uri="{FF2B5EF4-FFF2-40B4-BE49-F238E27FC236}">
                <a16:creationId xmlns:a16="http://schemas.microsoft.com/office/drawing/2014/main" id="{415BD55D-D0DA-4995-B650-A119B99F7D33}"/>
              </a:ext>
            </a:extLst>
          </p:cNvPr>
          <p:cNvSpPr>
            <a:spLocks noGrp="1"/>
          </p:cNvSpPr>
          <p:nvPr/>
        </p:nvSpPr>
        <p:spPr>
          <a:xfrm>
            <a:off x="3143250" y="3333750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5D8"/>
          </a:solidFill>
          <a:ln w="2857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piece-1-2">
            <a:extLst>
              <a:ext uri="{FF2B5EF4-FFF2-40B4-BE49-F238E27FC236}">
                <a16:creationId xmlns:a16="http://schemas.microsoft.com/office/drawing/2014/main" id="{A095896F-0824-4F53-B541-CD00A68C6B13}"/>
              </a:ext>
            </a:extLst>
          </p:cNvPr>
          <p:cNvSpPr>
            <a:spLocks noGrp="1"/>
          </p:cNvSpPr>
          <p:nvPr/>
        </p:nvSpPr>
        <p:spPr>
          <a:xfrm>
            <a:off x="3143250" y="3333750"/>
            <a:ext cx="1000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75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75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27" name="cell-2-0">
            <a:extLst>
              <a:ext uri="{FF2B5EF4-FFF2-40B4-BE49-F238E27FC236}">
                <a16:creationId xmlns:a16="http://schemas.microsoft.com/office/drawing/2014/main" id="{EF59F266-EC3E-47CE-8E73-0A638556DE7B}"/>
              </a:ext>
            </a:extLst>
          </p:cNvPr>
          <p:cNvSpPr>
            <a:spLocks noGrp="1"/>
          </p:cNvSpPr>
          <p:nvPr/>
        </p:nvSpPr>
        <p:spPr>
          <a:xfrm>
            <a:off x="1143000" y="433387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cell-2-1">
            <a:extLst>
              <a:ext uri="{FF2B5EF4-FFF2-40B4-BE49-F238E27FC236}">
                <a16:creationId xmlns:a16="http://schemas.microsoft.com/office/drawing/2014/main" id="{E78BE307-42CC-48F1-9426-DD6E058C0AA9}"/>
              </a:ext>
            </a:extLst>
          </p:cNvPr>
          <p:cNvSpPr>
            <a:spLocks noGrp="1"/>
          </p:cNvSpPr>
          <p:nvPr/>
        </p:nvSpPr>
        <p:spPr>
          <a:xfrm>
            <a:off x="2143125" y="433387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cell-2-2">
            <a:extLst>
              <a:ext uri="{FF2B5EF4-FFF2-40B4-BE49-F238E27FC236}">
                <a16:creationId xmlns:a16="http://schemas.microsoft.com/office/drawing/2014/main" id="{EBCC918D-5156-4A6A-910A-BAB1DB2B22C2}"/>
              </a:ext>
            </a:extLst>
          </p:cNvPr>
          <p:cNvSpPr>
            <a:spLocks noGrp="1"/>
          </p:cNvSpPr>
          <p:nvPr/>
        </p:nvSpPr>
        <p:spPr>
          <a:xfrm>
            <a:off x="3143250" y="433387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lesson-text">
            <a:extLst>
              <a:ext uri="{FF2B5EF4-FFF2-40B4-BE49-F238E27FC236}">
                <a16:creationId xmlns:a16="http://schemas.microsoft.com/office/drawing/2014/main" id="{78534CB6-0B93-4782-8840-2F468CD80E06}"/>
              </a:ext>
            </a:extLst>
          </p:cNvPr>
          <p:cNvSpPr>
            <a:spLocks noGrp="1"/>
          </p:cNvSpPr>
          <p:nvPr/>
        </p:nvSpPr>
        <p:spPr>
          <a:xfrm>
            <a:off x="428625" y="3333750"/>
            <a:ext cx="66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27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row 1</a:t>
            </a:r>
          </a:p>
        </p:txBody>
      </p:sp>
      <p:sp>
        <p:nvSpPr>
          <p:cNvPr id="31" name="lesson-text">
            <a:extLst>
              <a:ext uri="{FF2B5EF4-FFF2-40B4-BE49-F238E27FC236}">
                <a16:creationId xmlns:a16="http://schemas.microsoft.com/office/drawing/2014/main" id="{8745EF1A-DDFF-421A-A141-3CAED63ECC73}"/>
              </a:ext>
            </a:extLst>
          </p:cNvPr>
          <p:cNvSpPr>
            <a:spLocks noGrp="1"/>
          </p:cNvSpPr>
          <p:nvPr/>
        </p:nvSpPr>
        <p:spPr>
          <a:xfrm>
            <a:off x="2857500" y="1924050"/>
            <a:ext cx="1285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column 2</a:t>
            </a:r>
          </a:p>
        </p:txBody>
      </p:sp>
      <p:sp>
        <p:nvSpPr>
          <p:cNvPr id="32" name="code-surface">
            <a:extLst>
              <a:ext uri="{FF2B5EF4-FFF2-40B4-BE49-F238E27FC236}">
                <a16:creationId xmlns:a16="http://schemas.microsoft.com/office/drawing/2014/main" id="{43CF6A8F-C6B1-41BF-B354-5A54A6039BE9}"/>
              </a:ext>
            </a:extLst>
          </p:cNvPr>
          <p:cNvSpPr>
            <a:spLocks noGrp="1"/>
          </p:cNvSpPr>
          <p:nvPr/>
        </p:nvSpPr>
        <p:spPr>
          <a:xfrm>
            <a:off x="5953125" y="2238375"/>
            <a:ext cx="4857750" cy="2095500"/>
          </a:xfrm>
          <a:prstGeom prst="roundRect">
            <a:avLst>
              <a:gd name="adj" fmla="val 3636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code">
            <a:extLst>
              <a:ext uri="{FF2B5EF4-FFF2-40B4-BE49-F238E27FC236}">
                <a16:creationId xmlns:a16="http://schemas.microsoft.com/office/drawing/2014/main" id="{19BD6612-D9A1-4AC9-872A-935E8AF47EB2}"/>
              </a:ext>
            </a:extLst>
          </p:cNvPr>
          <p:cNvSpPr>
            <a:spLocks noGrp="1"/>
          </p:cNvSpPr>
          <p:nvPr/>
        </p:nvSpPr>
        <p:spPr>
          <a:xfrm>
            <a:off x="6162675" y="2390775"/>
            <a:ext cx="4438650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const int column = mouse_x / 300;</a:t>
            </a:r>
          </a:p>
          <a:p>
            <a:pPr algn="l">
              <a:defRPr sz="14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const int row = mouse_y / 300;</a:t>
            </a:r>
          </a:p>
          <a:p>
            <a:endParaRPr sz="1425" b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4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left = column * 300;</a:t>
            </a:r>
          </a:p>
          <a:p>
            <a:pPr algn="l">
              <a:defRPr sz="14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top  = row * 300;</a:t>
            </a:r>
          </a:p>
        </p:txBody>
      </p:sp>
      <p:sp>
        <p:nvSpPr>
          <p:cNvPr id="34" name="lesson-box">
            <a:extLst>
              <a:ext uri="{FF2B5EF4-FFF2-40B4-BE49-F238E27FC236}">
                <a16:creationId xmlns:a16="http://schemas.microsoft.com/office/drawing/2014/main" id="{4B8D097D-D9C7-4D8C-B392-E9D1D9E19FBB}"/>
              </a:ext>
            </a:extLst>
          </p:cNvPr>
          <p:cNvSpPr>
            <a:spLocks noGrp="1"/>
          </p:cNvSpPr>
          <p:nvPr/>
        </p:nvSpPr>
        <p:spPr>
          <a:xfrm>
            <a:off x="5953125" y="4619625"/>
            <a:ext cx="4857750" cy="904875"/>
          </a:xfrm>
          <a:prstGeom prst="roundRect">
            <a:avLst>
              <a:gd name="adj" fmla="val 8421"/>
            </a:avLst>
          </a:prstGeom>
          <a:solidFill>
            <a:srgbClr val="EAF4FC"/>
          </a:solidFill>
          <a:ln w="9525">
            <a:solidFill>
              <a:srgbClr val="55A7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lesson-text">
            <a:extLst>
              <a:ext uri="{FF2B5EF4-FFF2-40B4-BE49-F238E27FC236}">
                <a16:creationId xmlns:a16="http://schemas.microsoft.com/office/drawing/2014/main" id="{A8BE952C-56B5-46D0-A8CB-AF962012A489}"/>
              </a:ext>
            </a:extLst>
          </p:cNvPr>
          <p:cNvSpPr>
            <a:spLocks noGrp="1"/>
          </p:cNvSpPr>
          <p:nvPr/>
        </p:nvSpPr>
        <p:spPr>
          <a:xfrm>
            <a:off x="6286500" y="4810125"/>
            <a:ext cx="4191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65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mouse (742, 465)  →  board[1][2]</a:t>
            </a:r>
          </a:p>
        </p:txBody>
      </p:sp>
    </p:spTree>
    <p:extLst>
      <p:ext uri="{BB962C8B-B14F-4D97-AF65-F5344CB8AC3E}">
        <p14:creationId xmlns:p14="http://schemas.microsoft.com/office/powerpoint/2010/main" val="1316962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A87B1E58-9D4A-4232-874F-1BD7491A566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STEP 1 · reference/01.cpp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8AD3988-A4FA-449C-8719-DE428F2B3687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Design the Game Structure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9721E4-B84D-4C88-BA23-6EA63EA21EBE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609F21D-F51B-48D2-88EB-836CBBD6AEB8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09</a:t>
            </a:r>
          </a:p>
        </p:txBody>
      </p:sp>
      <p:sp>
        <p:nvSpPr>
          <p:cNvPr id="22" name="step-label">
            <a:extLst>
              <a:ext uri="{FF2B5EF4-FFF2-40B4-BE49-F238E27FC236}">
                <a16:creationId xmlns:a16="http://schemas.microsoft.com/office/drawing/2014/main" id="{7A4F8976-CE8F-4F56-95A6-122FED32D048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00125" cy="323850"/>
          </a:xfrm>
          <a:prstGeom prst="roundRect">
            <a:avLst>
              <a:gd name="adj" fmla="val 50000"/>
            </a:avLst>
          </a:prstGeom>
          <a:solidFill>
            <a:srgbClr val="FFF5D8"/>
          </a:solidFill>
          <a:ln w="9525">
            <a:solidFill>
              <a:srgbClr val="FFF5D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step-label-text">
            <a:extLst>
              <a:ext uri="{FF2B5EF4-FFF2-40B4-BE49-F238E27FC236}">
                <a16:creationId xmlns:a16="http://schemas.microsoft.com/office/drawing/2014/main" id="{8970F189-B7F4-41CB-9D4A-FC55A17ED077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00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STEP 1</a:t>
            </a:r>
          </a:p>
        </p:txBody>
      </p:sp>
      <p:sp>
        <p:nvSpPr>
          <p:cNvPr id="24" name="lesson-text">
            <a:extLst>
              <a:ext uri="{FF2B5EF4-FFF2-40B4-BE49-F238E27FC236}">
                <a16:creationId xmlns:a16="http://schemas.microsoft.com/office/drawing/2014/main" id="{AED63BAF-6CA4-4AE6-A11F-11640DE419BF}"/>
              </a:ext>
            </a:extLst>
          </p:cNvPr>
          <p:cNvSpPr>
            <a:spLocks noGrp="1"/>
          </p:cNvSpPr>
          <p:nvPr/>
        </p:nvSpPr>
        <p:spPr>
          <a:xfrm>
            <a:off x="1857375" y="1476375"/>
            <a:ext cx="876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The data and helper functions exist before drawing or input is connected.</a:t>
            </a:r>
          </a:p>
        </p:txBody>
      </p:sp>
      <p:sp>
        <p:nvSpPr>
          <p:cNvPr id="25" name="code-surface">
            <a:extLst>
              <a:ext uri="{FF2B5EF4-FFF2-40B4-BE49-F238E27FC236}">
                <a16:creationId xmlns:a16="http://schemas.microsoft.com/office/drawing/2014/main" id="{4FB60AC1-1470-48F6-8409-48C488DDD633}"/>
              </a:ext>
            </a:extLst>
          </p:cNvPr>
          <p:cNvSpPr>
            <a:spLocks noGrp="1"/>
          </p:cNvSpPr>
          <p:nvPr/>
        </p:nvSpPr>
        <p:spPr>
          <a:xfrm>
            <a:off x="857250" y="2238375"/>
            <a:ext cx="4429125" cy="1714500"/>
          </a:xfrm>
          <a:prstGeom prst="roundRect">
            <a:avLst>
              <a:gd name="adj" fmla="val 444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code">
            <a:extLst>
              <a:ext uri="{FF2B5EF4-FFF2-40B4-BE49-F238E27FC236}">
                <a16:creationId xmlns:a16="http://schemas.microsoft.com/office/drawing/2014/main" id="{1CA19EBF-FE34-4364-A404-7A51E3A1676D}"/>
              </a:ext>
            </a:extLst>
          </p:cNvPr>
          <p:cNvSpPr>
            <a:spLocks noGrp="1"/>
          </p:cNvSpPr>
          <p:nvPr/>
        </p:nvSpPr>
        <p:spPr>
          <a:xfrm>
            <a:off x="1066800" y="2390775"/>
            <a:ext cx="4010025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board[3][3];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current_player = 'X';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winner = '-';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reset_board(board);</a:t>
            </a:r>
          </a:p>
        </p:txBody>
      </p:sp>
      <p:sp>
        <p:nvSpPr>
          <p:cNvPr id="27" name="code-surface">
            <a:extLst>
              <a:ext uri="{FF2B5EF4-FFF2-40B4-BE49-F238E27FC236}">
                <a16:creationId xmlns:a16="http://schemas.microsoft.com/office/drawing/2014/main" id="{813C2E26-7BCA-461C-890F-2057C82518E4}"/>
              </a:ext>
            </a:extLst>
          </p:cNvPr>
          <p:cNvSpPr>
            <a:spLocks noGrp="1"/>
          </p:cNvSpPr>
          <p:nvPr/>
        </p:nvSpPr>
        <p:spPr>
          <a:xfrm>
            <a:off x="6048375" y="2238375"/>
            <a:ext cx="4762500" cy="1714500"/>
          </a:xfrm>
          <a:prstGeom prst="roundRect">
            <a:avLst>
              <a:gd name="adj" fmla="val 444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code">
            <a:extLst>
              <a:ext uri="{FF2B5EF4-FFF2-40B4-BE49-F238E27FC236}">
                <a16:creationId xmlns:a16="http://schemas.microsoft.com/office/drawing/2014/main" id="{C5E98BD2-D4BC-4397-83C2-58881FD6CABD}"/>
              </a:ext>
            </a:extLst>
          </p:cNvPr>
          <p:cNvSpPr>
            <a:spLocks noGrp="1"/>
          </p:cNvSpPr>
          <p:nvPr/>
        </p:nvSpPr>
        <p:spPr>
          <a:xfrm>
            <a:off x="6257925" y="2390775"/>
            <a:ext cx="43434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draw_board(const char board[3][3])</a:t>
            </a: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endParaRPr sz="1350" b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// main loop still calls draw_board(board);</a:t>
            </a:r>
          </a:p>
        </p:txBody>
      </p:sp>
      <p:sp>
        <p:nvSpPr>
          <p:cNvPr id="29" name="lesson-box">
            <a:extLst>
              <a:ext uri="{FF2B5EF4-FFF2-40B4-BE49-F238E27FC236}">
                <a16:creationId xmlns:a16="http://schemas.microsoft.com/office/drawing/2014/main" id="{8BA536F2-782A-4171-9063-BAB9264FEF25}"/>
              </a:ext>
            </a:extLst>
          </p:cNvPr>
          <p:cNvSpPr>
            <a:spLocks noGrp="1"/>
          </p:cNvSpPr>
          <p:nvPr/>
        </p:nvSpPr>
        <p:spPr>
          <a:xfrm>
            <a:off x="857250" y="4429125"/>
            <a:ext cx="9953625" cy="9525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lesson-text">
            <a:extLst>
              <a:ext uri="{FF2B5EF4-FFF2-40B4-BE49-F238E27FC236}">
                <a16:creationId xmlns:a16="http://schemas.microsoft.com/office/drawing/2014/main" id="{1F361182-E40D-41E8-A7BF-5BDA7113DA9B}"/>
              </a:ext>
            </a:extLst>
          </p:cNvPr>
          <p:cNvSpPr>
            <a:spLocks noGrp="1"/>
          </p:cNvSpPr>
          <p:nvPr/>
        </p:nvSpPr>
        <p:spPr>
          <a:xfrm>
            <a:off x="1143000" y="4619625"/>
            <a:ext cx="1381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Ready now</a:t>
            </a:r>
          </a:p>
        </p:txBody>
      </p:sp>
      <p:sp>
        <p:nvSpPr>
          <p:cNvPr id="31" name="lesson-text">
            <a:extLst>
              <a:ext uri="{FF2B5EF4-FFF2-40B4-BE49-F238E27FC236}">
                <a16:creationId xmlns:a16="http://schemas.microsoft.com/office/drawing/2014/main" id="{7C1C3669-0FC4-4912-9C71-C43137325F52}"/>
              </a:ext>
            </a:extLst>
          </p:cNvPr>
          <p:cNvSpPr>
            <a:spLocks noGrp="1"/>
          </p:cNvSpPr>
          <p:nvPr/>
        </p:nvSpPr>
        <p:spPr>
          <a:xfrm>
            <a:off x="2714625" y="4591050"/>
            <a:ext cx="3905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reset_board · check_win · is_board_full</a:t>
            </a:r>
          </a:p>
        </p:txBody>
      </p:sp>
      <p:sp>
        <p:nvSpPr>
          <p:cNvPr id="32" name="lesson-text">
            <a:extLst>
              <a:ext uri="{FF2B5EF4-FFF2-40B4-BE49-F238E27FC236}">
                <a16:creationId xmlns:a16="http://schemas.microsoft.com/office/drawing/2014/main" id="{BE57999C-605B-4DFD-AF0F-06F67013E21A}"/>
              </a:ext>
            </a:extLst>
          </p:cNvPr>
          <p:cNvSpPr>
            <a:spLocks noGrp="1"/>
          </p:cNvSpPr>
          <p:nvPr/>
        </p:nvSpPr>
        <p:spPr>
          <a:xfrm>
            <a:off x="1143000" y="5000625"/>
            <a:ext cx="1381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Still empty</a:t>
            </a:r>
          </a:p>
        </p:txBody>
      </p:sp>
      <p:sp>
        <p:nvSpPr>
          <p:cNvPr id="33" name="lesson-text">
            <a:extLst>
              <a:ext uri="{FF2B5EF4-FFF2-40B4-BE49-F238E27FC236}">
                <a16:creationId xmlns:a16="http://schemas.microsoft.com/office/drawing/2014/main" id="{FB68618D-B3A4-418D-8650-1CCF953F001C}"/>
              </a:ext>
            </a:extLst>
          </p:cNvPr>
          <p:cNvSpPr>
            <a:spLocks noGrp="1"/>
          </p:cNvSpPr>
          <p:nvPr/>
        </p:nvSpPr>
        <p:spPr>
          <a:xfrm>
            <a:off x="2714625" y="4972050"/>
            <a:ext cx="3905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F5C451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F5C451"/>
                </a:solidFill>
                <a:latin typeface="Calibri"/>
                <a:ea typeface="Calibri"/>
                <a:cs typeface="Calibri"/>
              </a:rPr>
              <a:t>draw_board · input section</a:t>
            </a:r>
          </a:p>
        </p:txBody>
      </p:sp>
    </p:spTree>
    <p:extLst>
      <p:ext uri="{BB962C8B-B14F-4D97-AF65-F5344CB8AC3E}">
        <p14:creationId xmlns:p14="http://schemas.microsoft.com/office/powerpoint/2010/main" val="403112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59700243-6847-423D-9FA4-F6623B977FA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STEP 2 · reference/02.cpp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A778F46-416C-4E48-8D9D-693E52E0354B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Implement Drawing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7E10BB-6FB2-41C1-9100-504AAF7E3384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768FD21-A52D-4D83-9457-982976171F3E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10</a:t>
            </a:r>
          </a:p>
        </p:txBody>
      </p:sp>
      <p:sp>
        <p:nvSpPr>
          <p:cNvPr id="18" name="step-label">
            <a:extLst>
              <a:ext uri="{FF2B5EF4-FFF2-40B4-BE49-F238E27FC236}">
                <a16:creationId xmlns:a16="http://schemas.microsoft.com/office/drawing/2014/main" id="{4CD7E2E4-E2F2-4979-95C6-884B31B5374C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00125" cy="32385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 w="9525">
            <a:solidFill>
              <a:srgbClr val="EAF4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tep-label-text">
            <a:extLst>
              <a:ext uri="{FF2B5EF4-FFF2-40B4-BE49-F238E27FC236}">
                <a16:creationId xmlns:a16="http://schemas.microsoft.com/office/drawing/2014/main" id="{EFDE9D2E-B85D-4A36-B22E-A4D3B54E9924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00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STEP 2</a:t>
            </a:r>
          </a:p>
        </p:txBody>
      </p:sp>
      <p:sp>
        <p:nvSpPr>
          <p:cNvPr id="20" name="lesson-text">
            <a:extLst>
              <a:ext uri="{FF2B5EF4-FFF2-40B4-BE49-F238E27FC236}">
                <a16:creationId xmlns:a16="http://schemas.microsoft.com/office/drawing/2014/main" id="{6193B6D2-9403-4505-BA88-00C4A0E25CCE}"/>
              </a:ext>
            </a:extLst>
          </p:cNvPr>
          <p:cNvSpPr>
            <a:spLocks noGrp="1"/>
          </p:cNvSpPr>
          <p:nvPr/>
        </p:nvSpPr>
        <p:spPr>
          <a:xfrm>
            <a:off x="1857375" y="1476375"/>
            <a:ext cx="876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Read every board cell and draw the matching symbol.</a:t>
            </a:r>
          </a:p>
        </p:txBody>
      </p:sp>
      <p:sp>
        <p:nvSpPr>
          <p:cNvPr id="21" name="code-surface">
            <a:extLst>
              <a:ext uri="{FF2B5EF4-FFF2-40B4-BE49-F238E27FC236}">
                <a16:creationId xmlns:a16="http://schemas.microsoft.com/office/drawing/2014/main" id="{8B2D4EE2-F944-4967-A2A0-4085A1C5C09A}"/>
              </a:ext>
            </a:extLst>
          </p:cNvPr>
          <p:cNvSpPr>
            <a:spLocks noGrp="1"/>
          </p:cNvSpPr>
          <p:nvPr/>
        </p:nvSpPr>
        <p:spPr>
          <a:xfrm>
            <a:off x="685800" y="2143125"/>
            <a:ext cx="5905500" cy="2857500"/>
          </a:xfrm>
          <a:prstGeom prst="roundRect">
            <a:avLst>
              <a:gd name="adj" fmla="val 2667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code">
            <a:extLst>
              <a:ext uri="{FF2B5EF4-FFF2-40B4-BE49-F238E27FC236}">
                <a16:creationId xmlns:a16="http://schemas.microsoft.com/office/drawing/2014/main" id="{FC67CAB0-CF24-4AA5-AC79-F7C839B8CB23}"/>
              </a:ext>
            </a:extLst>
          </p:cNvPr>
          <p:cNvSpPr>
            <a:spLocks noGrp="1"/>
          </p:cNvSpPr>
          <p:nvPr/>
        </p:nvSpPr>
        <p:spPr>
          <a:xfrm>
            <a:off x="895350" y="2295525"/>
            <a:ext cx="5486400" cy="2552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for (int row = 0; row &lt; 3; ++row)</a:t>
            </a:r>
          </a:p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column = 0; column &lt; 3; ++column)</a:t>
            </a:r>
          </a:p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{</a:t>
            </a:r>
          </a:p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(board[row][column] == 'X') { ... }</a:t>
            </a:r>
          </a:p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if (board[row][column] == 'O') { ... }</a:t>
            </a:r>
          </a:p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3" name="board-back">
            <a:extLst>
              <a:ext uri="{FF2B5EF4-FFF2-40B4-BE49-F238E27FC236}">
                <a16:creationId xmlns:a16="http://schemas.microsoft.com/office/drawing/2014/main" id="{917B7976-8F43-4B3D-9A68-AE90F8728A1E}"/>
              </a:ext>
            </a:extLst>
          </p:cNvPr>
          <p:cNvSpPr>
            <a:spLocks noGrp="1"/>
          </p:cNvSpPr>
          <p:nvPr/>
        </p:nvSpPr>
        <p:spPr>
          <a:xfrm>
            <a:off x="7591425" y="2162175"/>
            <a:ext cx="2914650" cy="2914650"/>
          </a:xfrm>
          <a:prstGeom prst="roundRect">
            <a:avLst>
              <a:gd name="adj" fmla="val 2614"/>
            </a:avLst>
          </a:prstGeom>
          <a:solidFill>
            <a:srgbClr val="EAF4FC"/>
          </a:solidFill>
          <a:ln w="9525">
            <a:solidFill>
              <a:srgbClr val="EAF4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cell-0-0">
            <a:extLst>
              <a:ext uri="{FF2B5EF4-FFF2-40B4-BE49-F238E27FC236}">
                <a16:creationId xmlns:a16="http://schemas.microsoft.com/office/drawing/2014/main" id="{AD1D5E91-79DD-4315-A0AA-5D9E8BEB1E69}"/>
              </a:ext>
            </a:extLst>
          </p:cNvPr>
          <p:cNvSpPr>
            <a:spLocks noGrp="1"/>
          </p:cNvSpPr>
          <p:nvPr/>
        </p:nvSpPr>
        <p:spPr>
          <a:xfrm>
            <a:off x="7762875" y="233362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piece-0-0">
            <a:extLst>
              <a:ext uri="{FF2B5EF4-FFF2-40B4-BE49-F238E27FC236}">
                <a16:creationId xmlns:a16="http://schemas.microsoft.com/office/drawing/2014/main" id="{B237CDD6-7E0B-492F-926F-7CE2689EFC2C}"/>
              </a:ext>
            </a:extLst>
          </p:cNvPr>
          <p:cNvSpPr>
            <a:spLocks noGrp="1"/>
          </p:cNvSpPr>
          <p:nvPr/>
        </p:nvSpPr>
        <p:spPr>
          <a:xfrm>
            <a:off x="7762875" y="2333625"/>
            <a:ext cx="8572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22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26" name="cell-0-1">
            <a:extLst>
              <a:ext uri="{FF2B5EF4-FFF2-40B4-BE49-F238E27FC236}">
                <a16:creationId xmlns:a16="http://schemas.microsoft.com/office/drawing/2014/main" id="{E19975FB-DEB0-4117-8472-E78511DABB6C}"/>
              </a:ext>
            </a:extLst>
          </p:cNvPr>
          <p:cNvSpPr>
            <a:spLocks noGrp="1"/>
          </p:cNvSpPr>
          <p:nvPr/>
        </p:nvSpPr>
        <p:spPr>
          <a:xfrm>
            <a:off x="8620125" y="233362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cell-0-2">
            <a:extLst>
              <a:ext uri="{FF2B5EF4-FFF2-40B4-BE49-F238E27FC236}">
                <a16:creationId xmlns:a16="http://schemas.microsoft.com/office/drawing/2014/main" id="{B4CE2AD1-9422-4765-B773-AA2134F23980}"/>
              </a:ext>
            </a:extLst>
          </p:cNvPr>
          <p:cNvSpPr>
            <a:spLocks noGrp="1"/>
          </p:cNvSpPr>
          <p:nvPr/>
        </p:nvSpPr>
        <p:spPr>
          <a:xfrm>
            <a:off x="9477375" y="233362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cell-1-0">
            <a:extLst>
              <a:ext uri="{FF2B5EF4-FFF2-40B4-BE49-F238E27FC236}">
                <a16:creationId xmlns:a16="http://schemas.microsoft.com/office/drawing/2014/main" id="{7E72D92B-2A5D-4E07-A875-54760F7496E4}"/>
              </a:ext>
            </a:extLst>
          </p:cNvPr>
          <p:cNvSpPr>
            <a:spLocks noGrp="1"/>
          </p:cNvSpPr>
          <p:nvPr/>
        </p:nvSpPr>
        <p:spPr>
          <a:xfrm>
            <a:off x="7762875" y="319087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cell-1-1">
            <a:extLst>
              <a:ext uri="{FF2B5EF4-FFF2-40B4-BE49-F238E27FC236}">
                <a16:creationId xmlns:a16="http://schemas.microsoft.com/office/drawing/2014/main" id="{D3FC1D2F-4DD4-4E0C-9008-2295AC81263F}"/>
              </a:ext>
            </a:extLst>
          </p:cNvPr>
          <p:cNvSpPr>
            <a:spLocks noGrp="1"/>
          </p:cNvSpPr>
          <p:nvPr/>
        </p:nvSpPr>
        <p:spPr>
          <a:xfrm>
            <a:off x="8620125" y="319087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piece-1-1">
            <a:extLst>
              <a:ext uri="{FF2B5EF4-FFF2-40B4-BE49-F238E27FC236}">
                <a16:creationId xmlns:a16="http://schemas.microsoft.com/office/drawing/2014/main" id="{2F7D7B16-00BF-4E89-AD8E-B3DE132BB222}"/>
              </a:ext>
            </a:extLst>
          </p:cNvPr>
          <p:cNvSpPr>
            <a:spLocks noGrp="1"/>
          </p:cNvSpPr>
          <p:nvPr/>
        </p:nvSpPr>
        <p:spPr>
          <a:xfrm>
            <a:off x="8620125" y="3190875"/>
            <a:ext cx="8572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225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31" name="cell-1-2">
            <a:extLst>
              <a:ext uri="{FF2B5EF4-FFF2-40B4-BE49-F238E27FC236}">
                <a16:creationId xmlns:a16="http://schemas.microsoft.com/office/drawing/2014/main" id="{F4F8CD46-59CF-4191-8DFD-63ADF2A368C9}"/>
              </a:ext>
            </a:extLst>
          </p:cNvPr>
          <p:cNvSpPr>
            <a:spLocks noGrp="1"/>
          </p:cNvSpPr>
          <p:nvPr/>
        </p:nvSpPr>
        <p:spPr>
          <a:xfrm>
            <a:off x="9477375" y="319087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cell-2-0">
            <a:extLst>
              <a:ext uri="{FF2B5EF4-FFF2-40B4-BE49-F238E27FC236}">
                <a16:creationId xmlns:a16="http://schemas.microsoft.com/office/drawing/2014/main" id="{8582CAB0-9391-4222-A6FF-3AAFFFB9EF20}"/>
              </a:ext>
            </a:extLst>
          </p:cNvPr>
          <p:cNvSpPr>
            <a:spLocks noGrp="1"/>
          </p:cNvSpPr>
          <p:nvPr/>
        </p:nvSpPr>
        <p:spPr>
          <a:xfrm>
            <a:off x="7762875" y="404812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cell-2-1">
            <a:extLst>
              <a:ext uri="{FF2B5EF4-FFF2-40B4-BE49-F238E27FC236}">
                <a16:creationId xmlns:a16="http://schemas.microsoft.com/office/drawing/2014/main" id="{09B5013D-FEA1-4213-A1B2-7A72700296D8}"/>
              </a:ext>
            </a:extLst>
          </p:cNvPr>
          <p:cNvSpPr>
            <a:spLocks noGrp="1"/>
          </p:cNvSpPr>
          <p:nvPr/>
        </p:nvSpPr>
        <p:spPr>
          <a:xfrm>
            <a:off x="8620125" y="404812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cell-2-2">
            <a:extLst>
              <a:ext uri="{FF2B5EF4-FFF2-40B4-BE49-F238E27FC236}">
                <a16:creationId xmlns:a16="http://schemas.microsoft.com/office/drawing/2014/main" id="{DC1CA5BD-9AFA-47E2-9261-3FEDE3D86762}"/>
              </a:ext>
            </a:extLst>
          </p:cNvPr>
          <p:cNvSpPr>
            <a:spLocks noGrp="1"/>
          </p:cNvSpPr>
          <p:nvPr/>
        </p:nvSpPr>
        <p:spPr>
          <a:xfrm>
            <a:off x="9477375" y="404812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piece-2-2">
            <a:extLst>
              <a:ext uri="{FF2B5EF4-FFF2-40B4-BE49-F238E27FC236}">
                <a16:creationId xmlns:a16="http://schemas.microsoft.com/office/drawing/2014/main" id="{96911196-EE64-4E3D-95F6-7017D75125DC}"/>
              </a:ext>
            </a:extLst>
          </p:cNvPr>
          <p:cNvSpPr>
            <a:spLocks noGrp="1"/>
          </p:cNvSpPr>
          <p:nvPr/>
        </p:nvSpPr>
        <p:spPr>
          <a:xfrm>
            <a:off x="9477375" y="4048125"/>
            <a:ext cx="8572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22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36" name="lesson-box">
            <a:extLst>
              <a:ext uri="{FF2B5EF4-FFF2-40B4-BE49-F238E27FC236}">
                <a16:creationId xmlns:a16="http://schemas.microsoft.com/office/drawing/2014/main" id="{ABCD2493-DFC8-41A5-9EE1-FB9ED6C45042}"/>
              </a:ext>
            </a:extLst>
          </p:cNvPr>
          <p:cNvSpPr>
            <a:spLocks noGrp="1"/>
          </p:cNvSpPr>
          <p:nvPr/>
        </p:nvSpPr>
        <p:spPr>
          <a:xfrm>
            <a:off x="7048500" y="5286375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5D8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lesson-text">
            <a:extLst>
              <a:ext uri="{FF2B5EF4-FFF2-40B4-BE49-F238E27FC236}">
                <a16:creationId xmlns:a16="http://schemas.microsoft.com/office/drawing/2014/main" id="{7FF55E62-B8F6-48EA-BA69-2DE84803F2F1}"/>
              </a:ext>
            </a:extLst>
          </p:cNvPr>
          <p:cNvSpPr>
            <a:spLocks noGrp="1"/>
          </p:cNvSpPr>
          <p:nvPr/>
        </p:nvSpPr>
        <p:spPr>
          <a:xfrm>
            <a:off x="7286625" y="5381625"/>
            <a:ext cx="3524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The input section is still empty.</a:t>
            </a:r>
          </a:p>
        </p:txBody>
      </p:sp>
    </p:spTree>
    <p:extLst>
      <p:ext uri="{BB962C8B-B14F-4D97-AF65-F5344CB8AC3E}">
        <p14:creationId xmlns:p14="http://schemas.microsoft.com/office/powerpoint/2010/main" val="4435464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49C904A8-886D-49D5-978D-5554854F7120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STEP 3 · reference/03.cpp · PART A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83ED227-657C-45EB-BC02-5672105C2F3A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Turn a Click into a Cell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488352-5CC2-40AA-9542-FC6A70DEEAA7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B4A68D9-AF16-4FFE-873D-99A75179BA70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11</a:t>
            </a:r>
          </a:p>
        </p:txBody>
      </p:sp>
      <p:sp>
        <p:nvSpPr>
          <p:cNvPr id="16" name="step-label">
            <a:extLst>
              <a:ext uri="{FF2B5EF4-FFF2-40B4-BE49-F238E27FC236}">
                <a16:creationId xmlns:a16="http://schemas.microsoft.com/office/drawing/2014/main" id="{B7401002-0D58-4FB8-8D4C-AEBFFBCCD4CD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143000" cy="323850"/>
          </a:xfrm>
          <a:prstGeom prst="roundRect">
            <a:avLst>
              <a:gd name="adj" fmla="val 50000"/>
            </a:avLst>
          </a:prstGeom>
          <a:solidFill>
            <a:srgbClr val="FFF5D8"/>
          </a:solidFill>
          <a:ln w="9525">
            <a:solidFill>
              <a:srgbClr val="FFF5D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tep-label-text">
            <a:extLst>
              <a:ext uri="{FF2B5EF4-FFF2-40B4-BE49-F238E27FC236}">
                <a16:creationId xmlns:a16="http://schemas.microsoft.com/office/drawing/2014/main" id="{31A3DBFD-BF3D-4FA3-95DC-4C25B5108034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14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STEP 3A</a:t>
            </a:r>
          </a:p>
        </p:txBody>
      </p:sp>
      <p:sp>
        <p:nvSpPr>
          <p:cNvPr id="18" name="lesson-text">
            <a:extLst>
              <a:ext uri="{FF2B5EF4-FFF2-40B4-BE49-F238E27FC236}">
                <a16:creationId xmlns:a16="http://schemas.microsoft.com/office/drawing/2014/main" id="{14A6F547-07BE-4B99-8E90-383C64CFEBC4}"/>
              </a:ext>
            </a:extLst>
          </p:cNvPr>
          <p:cNvSpPr>
            <a:spLocks noGrp="1"/>
          </p:cNvSpPr>
          <p:nvPr/>
        </p:nvSpPr>
        <p:spPr>
          <a:xfrm>
            <a:off x="2000250" y="1476375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One click gives pixel coordinates; integer division chooses a cell.</a:t>
            </a:r>
          </a:p>
        </p:txBody>
      </p:sp>
      <p:sp>
        <p:nvSpPr>
          <p:cNvPr id="19" name="code-surface">
            <a:extLst>
              <a:ext uri="{FF2B5EF4-FFF2-40B4-BE49-F238E27FC236}">
                <a16:creationId xmlns:a16="http://schemas.microsoft.com/office/drawing/2014/main" id="{0CBC652F-1912-4602-ABD2-9A312D71330D}"/>
              </a:ext>
            </a:extLst>
          </p:cNvPr>
          <p:cNvSpPr>
            <a:spLocks noGrp="1"/>
          </p:cNvSpPr>
          <p:nvPr/>
        </p:nvSpPr>
        <p:spPr>
          <a:xfrm>
            <a:off x="685800" y="2143125"/>
            <a:ext cx="5905500" cy="2857500"/>
          </a:xfrm>
          <a:prstGeom prst="roundRect">
            <a:avLst>
              <a:gd name="adj" fmla="val 2667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code">
            <a:extLst>
              <a:ext uri="{FF2B5EF4-FFF2-40B4-BE49-F238E27FC236}">
                <a16:creationId xmlns:a16="http://schemas.microsoft.com/office/drawing/2014/main" id="{A865A582-8C12-4567-82BC-A62AFB53B7DB}"/>
              </a:ext>
            </a:extLst>
          </p:cNvPr>
          <p:cNvSpPr>
            <a:spLocks noGrp="1"/>
          </p:cNvSpPr>
          <p:nvPr/>
        </p:nvSpPr>
        <p:spPr>
          <a:xfrm>
            <a:off x="895350" y="2295525"/>
            <a:ext cx="5486400" cy="2552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if (IsMouseButtonPressed(MOUSE_BUTTON_LEFT))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const int mouse_x = GetMouseX();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const int mouse_y = GetMouseY();</a:t>
            </a:r>
          </a:p>
          <a:p>
            <a:endParaRPr sz="1275" b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const int column = mouse_x / 300;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const int row = mouse_y / 300;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1" name="board-back">
            <a:extLst>
              <a:ext uri="{FF2B5EF4-FFF2-40B4-BE49-F238E27FC236}">
                <a16:creationId xmlns:a16="http://schemas.microsoft.com/office/drawing/2014/main" id="{66F98C8B-B677-4CB3-AAD3-68BF6E3C13E5}"/>
              </a:ext>
            </a:extLst>
          </p:cNvPr>
          <p:cNvSpPr>
            <a:spLocks noGrp="1"/>
          </p:cNvSpPr>
          <p:nvPr/>
        </p:nvSpPr>
        <p:spPr>
          <a:xfrm>
            <a:off x="7591425" y="2209800"/>
            <a:ext cx="2914650" cy="2914650"/>
          </a:xfrm>
          <a:prstGeom prst="roundRect">
            <a:avLst>
              <a:gd name="adj" fmla="val 2614"/>
            </a:avLst>
          </a:prstGeom>
          <a:solidFill>
            <a:srgbClr val="F4F7FA"/>
          </a:solidFill>
          <a:ln w="9525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cell-0-0">
            <a:extLst>
              <a:ext uri="{FF2B5EF4-FFF2-40B4-BE49-F238E27FC236}">
                <a16:creationId xmlns:a16="http://schemas.microsoft.com/office/drawing/2014/main" id="{021F86E5-D4FA-41E8-B19E-183510906043}"/>
              </a:ext>
            </a:extLst>
          </p:cNvPr>
          <p:cNvSpPr>
            <a:spLocks noGrp="1"/>
          </p:cNvSpPr>
          <p:nvPr/>
        </p:nvSpPr>
        <p:spPr>
          <a:xfrm>
            <a:off x="7762875" y="2381250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cell-0-1">
            <a:extLst>
              <a:ext uri="{FF2B5EF4-FFF2-40B4-BE49-F238E27FC236}">
                <a16:creationId xmlns:a16="http://schemas.microsoft.com/office/drawing/2014/main" id="{00EE9987-F77E-4087-A360-F792FFC3CA1D}"/>
              </a:ext>
            </a:extLst>
          </p:cNvPr>
          <p:cNvSpPr>
            <a:spLocks noGrp="1"/>
          </p:cNvSpPr>
          <p:nvPr/>
        </p:nvSpPr>
        <p:spPr>
          <a:xfrm>
            <a:off x="8620125" y="2381250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cell-0-2">
            <a:extLst>
              <a:ext uri="{FF2B5EF4-FFF2-40B4-BE49-F238E27FC236}">
                <a16:creationId xmlns:a16="http://schemas.microsoft.com/office/drawing/2014/main" id="{BE846561-6F4C-400C-A52B-6EE3CE1EEC8A}"/>
              </a:ext>
            </a:extLst>
          </p:cNvPr>
          <p:cNvSpPr>
            <a:spLocks noGrp="1"/>
          </p:cNvSpPr>
          <p:nvPr/>
        </p:nvSpPr>
        <p:spPr>
          <a:xfrm>
            <a:off x="9477375" y="2381250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cell-1-0">
            <a:extLst>
              <a:ext uri="{FF2B5EF4-FFF2-40B4-BE49-F238E27FC236}">
                <a16:creationId xmlns:a16="http://schemas.microsoft.com/office/drawing/2014/main" id="{901E0136-CED5-4756-8094-4037388AE590}"/>
              </a:ext>
            </a:extLst>
          </p:cNvPr>
          <p:cNvSpPr>
            <a:spLocks noGrp="1"/>
          </p:cNvSpPr>
          <p:nvPr/>
        </p:nvSpPr>
        <p:spPr>
          <a:xfrm>
            <a:off x="7762875" y="3238500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cell-1-1">
            <a:extLst>
              <a:ext uri="{FF2B5EF4-FFF2-40B4-BE49-F238E27FC236}">
                <a16:creationId xmlns:a16="http://schemas.microsoft.com/office/drawing/2014/main" id="{A5C82D63-C677-492E-A7A7-159DE8141E8A}"/>
              </a:ext>
            </a:extLst>
          </p:cNvPr>
          <p:cNvSpPr>
            <a:spLocks noGrp="1"/>
          </p:cNvSpPr>
          <p:nvPr/>
        </p:nvSpPr>
        <p:spPr>
          <a:xfrm>
            <a:off x="8620125" y="3238500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cell-1-2">
            <a:extLst>
              <a:ext uri="{FF2B5EF4-FFF2-40B4-BE49-F238E27FC236}">
                <a16:creationId xmlns:a16="http://schemas.microsoft.com/office/drawing/2014/main" id="{7576C270-B3DC-4282-B8FC-E6399995F55D}"/>
              </a:ext>
            </a:extLst>
          </p:cNvPr>
          <p:cNvSpPr>
            <a:spLocks noGrp="1"/>
          </p:cNvSpPr>
          <p:nvPr/>
        </p:nvSpPr>
        <p:spPr>
          <a:xfrm>
            <a:off x="9477375" y="3238500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5D8"/>
          </a:solidFill>
          <a:ln w="2857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cell-2-0">
            <a:extLst>
              <a:ext uri="{FF2B5EF4-FFF2-40B4-BE49-F238E27FC236}">
                <a16:creationId xmlns:a16="http://schemas.microsoft.com/office/drawing/2014/main" id="{7A1039B5-73F2-4B5F-9645-DF266013D018}"/>
              </a:ext>
            </a:extLst>
          </p:cNvPr>
          <p:cNvSpPr>
            <a:spLocks noGrp="1"/>
          </p:cNvSpPr>
          <p:nvPr/>
        </p:nvSpPr>
        <p:spPr>
          <a:xfrm>
            <a:off x="7762875" y="4095750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cell-2-1">
            <a:extLst>
              <a:ext uri="{FF2B5EF4-FFF2-40B4-BE49-F238E27FC236}">
                <a16:creationId xmlns:a16="http://schemas.microsoft.com/office/drawing/2014/main" id="{2E89F0BE-3D04-4337-972F-1117ADB4A594}"/>
              </a:ext>
            </a:extLst>
          </p:cNvPr>
          <p:cNvSpPr>
            <a:spLocks noGrp="1"/>
          </p:cNvSpPr>
          <p:nvPr/>
        </p:nvSpPr>
        <p:spPr>
          <a:xfrm>
            <a:off x="8620125" y="4095750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cell-2-2">
            <a:extLst>
              <a:ext uri="{FF2B5EF4-FFF2-40B4-BE49-F238E27FC236}">
                <a16:creationId xmlns:a16="http://schemas.microsoft.com/office/drawing/2014/main" id="{D553436F-1244-45C7-8DE6-833F3AFB3884}"/>
              </a:ext>
            </a:extLst>
          </p:cNvPr>
          <p:cNvSpPr>
            <a:spLocks noGrp="1"/>
          </p:cNvSpPr>
          <p:nvPr/>
        </p:nvSpPr>
        <p:spPr>
          <a:xfrm>
            <a:off x="9477375" y="4095750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lesson-text">
            <a:extLst>
              <a:ext uri="{FF2B5EF4-FFF2-40B4-BE49-F238E27FC236}">
                <a16:creationId xmlns:a16="http://schemas.microsoft.com/office/drawing/2014/main" id="{8F5A381D-CEEE-471D-BCEC-3B5D0CEE148B}"/>
              </a:ext>
            </a:extLst>
          </p:cNvPr>
          <p:cNvSpPr>
            <a:spLocks noGrp="1"/>
          </p:cNvSpPr>
          <p:nvPr/>
        </p:nvSpPr>
        <p:spPr>
          <a:xfrm>
            <a:off x="7667625" y="5191125"/>
            <a:ext cx="2762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mouse (742, 465)</a:t>
            </a:r>
          </a:p>
        </p:txBody>
      </p:sp>
      <p:sp>
        <p:nvSpPr>
          <p:cNvPr id="32" name="lesson-text">
            <a:extLst>
              <a:ext uri="{FF2B5EF4-FFF2-40B4-BE49-F238E27FC236}">
                <a16:creationId xmlns:a16="http://schemas.microsoft.com/office/drawing/2014/main" id="{60F68C35-009E-4C17-A009-393A4096C9F4}"/>
              </a:ext>
            </a:extLst>
          </p:cNvPr>
          <p:cNvSpPr>
            <a:spLocks noGrp="1"/>
          </p:cNvSpPr>
          <p:nvPr/>
        </p:nvSpPr>
        <p:spPr>
          <a:xfrm>
            <a:off x="7667625" y="5524500"/>
            <a:ext cx="2762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→ row 1, column 2</a:t>
            </a:r>
          </a:p>
        </p:txBody>
      </p:sp>
    </p:spTree>
    <p:extLst>
      <p:ext uri="{BB962C8B-B14F-4D97-AF65-F5344CB8AC3E}">
        <p14:creationId xmlns:p14="http://schemas.microsoft.com/office/powerpoint/2010/main" val="501949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59700243-6847-423D-9FA4-F6623B977FA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STEP 3 · reference/03.cpp · PART B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A778F46-416C-4E48-8D9D-693E52E0354B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Place a Piece and Switch Turns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7E10BB-6FB2-41C1-9100-504AAF7E3384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768FD21-A52D-4D83-9457-982976171F3E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12</a:t>
            </a:r>
          </a:p>
        </p:txBody>
      </p:sp>
      <p:sp>
        <p:nvSpPr>
          <p:cNvPr id="18" name="step-label">
            <a:extLst>
              <a:ext uri="{FF2B5EF4-FFF2-40B4-BE49-F238E27FC236}">
                <a16:creationId xmlns:a16="http://schemas.microsoft.com/office/drawing/2014/main" id="{84258B1D-DDB9-4AE9-93F9-3ED3BE853782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143000" cy="32385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 w="9525">
            <a:solidFill>
              <a:srgbClr val="EAF4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tep-label-text">
            <a:extLst>
              <a:ext uri="{FF2B5EF4-FFF2-40B4-BE49-F238E27FC236}">
                <a16:creationId xmlns:a16="http://schemas.microsoft.com/office/drawing/2014/main" id="{8DAE9DC3-F116-42DF-9C71-5C7F7C55C9CE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14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STEP 3B</a:t>
            </a:r>
          </a:p>
        </p:txBody>
      </p:sp>
      <p:sp>
        <p:nvSpPr>
          <p:cNvPr id="20" name="lesson-text">
            <a:extLst>
              <a:ext uri="{FF2B5EF4-FFF2-40B4-BE49-F238E27FC236}">
                <a16:creationId xmlns:a16="http://schemas.microsoft.com/office/drawing/2014/main" id="{78A652A1-D18E-48CF-93CD-C564F8918D12}"/>
              </a:ext>
            </a:extLst>
          </p:cNvPr>
          <p:cNvSpPr>
            <a:spLocks noGrp="1"/>
          </p:cNvSpPr>
          <p:nvPr/>
        </p:nvSpPr>
        <p:spPr>
          <a:xfrm>
            <a:off x="2000250" y="1476375"/>
            <a:ext cx="885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Only an empty cell can change. A valid move passes control to the other player.</a:t>
            </a:r>
          </a:p>
        </p:txBody>
      </p:sp>
      <p:sp>
        <p:nvSpPr>
          <p:cNvPr id="21" name="code-surface">
            <a:extLst>
              <a:ext uri="{FF2B5EF4-FFF2-40B4-BE49-F238E27FC236}">
                <a16:creationId xmlns:a16="http://schemas.microsoft.com/office/drawing/2014/main" id="{3DD6157B-2246-4173-834A-ADC2960B2227}"/>
              </a:ext>
            </a:extLst>
          </p:cNvPr>
          <p:cNvSpPr>
            <a:spLocks noGrp="1"/>
          </p:cNvSpPr>
          <p:nvPr/>
        </p:nvSpPr>
        <p:spPr>
          <a:xfrm>
            <a:off x="685800" y="2190750"/>
            <a:ext cx="5715000" cy="2476500"/>
          </a:xfrm>
          <a:prstGeom prst="roundRect">
            <a:avLst>
              <a:gd name="adj" fmla="val 3077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code">
            <a:extLst>
              <a:ext uri="{FF2B5EF4-FFF2-40B4-BE49-F238E27FC236}">
                <a16:creationId xmlns:a16="http://schemas.microsoft.com/office/drawing/2014/main" id="{52788C88-7A7D-431F-A21D-0BCCE07007C1}"/>
              </a:ext>
            </a:extLst>
          </p:cNvPr>
          <p:cNvSpPr>
            <a:spLocks noGrp="1"/>
          </p:cNvSpPr>
          <p:nvPr/>
        </p:nvSpPr>
        <p:spPr>
          <a:xfrm>
            <a:off x="895350" y="2343150"/>
            <a:ext cx="52959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if (board[row][column] == '-')</a:t>
            </a: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board[row][column] = current_player;</a:t>
            </a:r>
          </a:p>
          <a:p>
            <a:endParaRPr sz="1350" b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// after result checks...</a:t>
            </a: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current_player =</a:t>
            </a: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current_player == 'X' ? 'O' : 'X';</a:t>
            </a: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3" name="lesson-box">
            <a:extLst>
              <a:ext uri="{FF2B5EF4-FFF2-40B4-BE49-F238E27FC236}">
                <a16:creationId xmlns:a16="http://schemas.microsoft.com/office/drawing/2014/main" id="{6CDAD738-4F42-4B71-8F39-F084C5FA1B9C}"/>
              </a:ext>
            </a:extLst>
          </p:cNvPr>
          <p:cNvSpPr>
            <a:spLocks noGrp="1"/>
          </p:cNvSpPr>
          <p:nvPr/>
        </p:nvSpPr>
        <p:spPr>
          <a:xfrm>
            <a:off x="6953250" y="2143125"/>
            <a:ext cx="4095750" cy="904875"/>
          </a:xfrm>
          <a:prstGeom prst="roundRect">
            <a:avLst>
              <a:gd name="adj" fmla="val 8421"/>
            </a:avLst>
          </a:prstGeom>
          <a:solidFill>
            <a:srgbClr val="FFF5D8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lesson-text">
            <a:extLst>
              <a:ext uri="{FF2B5EF4-FFF2-40B4-BE49-F238E27FC236}">
                <a16:creationId xmlns:a16="http://schemas.microsoft.com/office/drawing/2014/main" id="{B136068F-285B-4915-9151-70DC197D218E}"/>
              </a:ext>
            </a:extLst>
          </p:cNvPr>
          <p:cNvSpPr>
            <a:spLocks noGrp="1"/>
          </p:cNvSpPr>
          <p:nvPr/>
        </p:nvSpPr>
        <p:spPr>
          <a:xfrm>
            <a:off x="7143750" y="2352675"/>
            <a:ext cx="457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>
                <a:solidFill>
                  <a:srgbClr val="F5C45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5C451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5" name="lesson-text">
            <a:extLst>
              <a:ext uri="{FF2B5EF4-FFF2-40B4-BE49-F238E27FC236}">
                <a16:creationId xmlns:a16="http://schemas.microsoft.com/office/drawing/2014/main" id="{51C3AB64-9878-40CC-9F86-FFC1881B5578}"/>
              </a:ext>
            </a:extLst>
          </p:cNvPr>
          <p:cNvSpPr>
            <a:spLocks noGrp="1"/>
          </p:cNvSpPr>
          <p:nvPr/>
        </p:nvSpPr>
        <p:spPr>
          <a:xfrm>
            <a:off x="7762875" y="2257425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EMPTY?</a:t>
            </a:r>
          </a:p>
        </p:txBody>
      </p:sp>
      <p:sp>
        <p:nvSpPr>
          <p:cNvPr id="26" name="lesson-text">
            <a:extLst>
              <a:ext uri="{FF2B5EF4-FFF2-40B4-BE49-F238E27FC236}">
                <a16:creationId xmlns:a16="http://schemas.microsoft.com/office/drawing/2014/main" id="{2A3F7128-6652-4C99-958A-4BE56BD93206}"/>
              </a:ext>
            </a:extLst>
          </p:cNvPr>
          <p:cNvSpPr>
            <a:spLocks noGrp="1"/>
          </p:cNvSpPr>
          <p:nvPr/>
        </p:nvSpPr>
        <p:spPr>
          <a:xfrm>
            <a:off x="7762875" y="2562225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board[row][column] == '-'</a:t>
            </a:r>
          </a:p>
        </p:txBody>
      </p:sp>
      <p:sp>
        <p:nvSpPr>
          <p:cNvPr id="27" name="lesson-box">
            <a:extLst>
              <a:ext uri="{FF2B5EF4-FFF2-40B4-BE49-F238E27FC236}">
                <a16:creationId xmlns:a16="http://schemas.microsoft.com/office/drawing/2014/main" id="{5BA47914-09A5-43A0-BAB5-C291AF0A0168}"/>
              </a:ext>
            </a:extLst>
          </p:cNvPr>
          <p:cNvSpPr>
            <a:spLocks noGrp="1"/>
          </p:cNvSpPr>
          <p:nvPr/>
        </p:nvSpPr>
        <p:spPr>
          <a:xfrm>
            <a:off x="6953250" y="3333750"/>
            <a:ext cx="4095750" cy="904875"/>
          </a:xfrm>
          <a:prstGeom prst="roundRect">
            <a:avLst>
              <a:gd name="adj" fmla="val 8421"/>
            </a:avLst>
          </a:prstGeom>
          <a:solidFill>
            <a:srgbClr val="EAF4FC"/>
          </a:solidFill>
          <a:ln w="9525">
            <a:solidFill>
              <a:srgbClr val="55A7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lesson-text">
            <a:extLst>
              <a:ext uri="{FF2B5EF4-FFF2-40B4-BE49-F238E27FC236}">
                <a16:creationId xmlns:a16="http://schemas.microsoft.com/office/drawing/2014/main" id="{9AD6FAAF-4A10-4CBA-BDDB-83EB157AED45}"/>
              </a:ext>
            </a:extLst>
          </p:cNvPr>
          <p:cNvSpPr>
            <a:spLocks noGrp="1"/>
          </p:cNvSpPr>
          <p:nvPr/>
        </p:nvSpPr>
        <p:spPr>
          <a:xfrm>
            <a:off x="7143750" y="3543300"/>
            <a:ext cx="457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9" name="lesson-text">
            <a:extLst>
              <a:ext uri="{FF2B5EF4-FFF2-40B4-BE49-F238E27FC236}">
                <a16:creationId xmlns:a16="http://schemas.microsoft.com/office/drawing/2014/main" id="{7477B66D-A61F-4A3A-BDEB-5795F72E2F5B}"/>
              </a:ext>
            </a:extLst>
          </p:cNvPr>
          <p:cNvSpPr>
            <a:spLocks noGrp="1"/>
          </p:cNvSpPr>
          <p:nvPr/>
        </p:nvSpPr>
        <p:spPr>
          <a:xfrm>
            <a:off x="7762875" y="34480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PLACE</a:t>
            </a:r>
          </a:p>
        </p:txBody>
      </p:sp>
      <p:sp>
        <p:nvSpPr>
          <p:cNvPr id="30" name="lesson-text">
            <a:extLst>
              <a:ext uri="{FF2B5EF4-FFF2-40B4-BE49-F238E27FC236}">
                <a16:creationId xmlns:a16="http://schemas.microsoft.com/office/drawing/2014/main" id="{81C3C13A-58BB-46A9-8361-3F7163C7F48C}"/>
              </a:ext>
            </a:extLst>
          </p:cNvPr>
          <p:cNvSpPr>
            <a:spLocks noGrp="1"/>
          </p:cNvSpPr>
          <p:nvPr/>
        </p:nvSpPr>
        <p:spPr>
          <a:xfrm>
            <a:off x="7762875" y="375285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board[row][column] = current_player</a:t>
            </a:r>
          </a:p>
        </p:txBody>
      </p:sp>
      <p:sp>
        <p:nvSpPr>
          <p:cNvPr id="31" name="lesson-box">
            <a:extLst>
              <a:ext uri="{FF2B5EF4-FFF2-40B4-BE49-F238E27FC236}">
                <a16:creationId xmlns:a16="http://schemas.microsoft.com/office/drawing/2014/main" id="{7CD7F16A-84E5-4D35-9CC2-751F43FC4958}"/>
              </a:ext>
            </a:extLst>
          </p:cNvPr>
          <p:cNvSpPr>
            <a:spLocks noGrp="1"/>
          </p:cNvSpPr>
          <p:nvPr/>
        </p:nvSpPr>
        <p:spPr>
          <a:xfrm>
            <a:off x="6953250" y="4524375"/>
            <a:ext cx="4095750" cy="904875"/>
          </a:xfrm>
          <a:prstGeom prst="roundRect">
            <a:avLst>
              <a:gd name="adj" fmla="val 8421"/>
            </a:avLst>
          </a:prstGeom>
          <a:solidFill>
            <a:srgbClr val="E8F8F0"/>
          </a:solidFill>
          <a:ln w="9525">
            <a:solidFill>
              <a:srgbClr val="4BC38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lesson-text">
            <a:extLst>
              <a:ext uri="{FF2B5EF4-FFF2-40B4-BE49-F238E27FC236}">
                <a16:creationId xmlns:a16="http://schemas.microsoft.com/office/drawing/2014/main" id="{3367204F-A64E-4DFE-BB58-B3CEB987F21A}"/>
              </a:ext>
            </a:extLst>
          </p:cNvPr>
          <p:cNvSpPr>
            <a:spLocks noGrp="1"/>
          </p:cNvSpPr>
          <p:nvPr/>
        </p:nvSpPr>
        <p:spPr>
          <a:xfrm>
            <a:off x="7143750" y="4733925"/>
            <a:ext cx="457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3" name="lesson-text">
            <a:extLst>
              <a:ext uri="{FF2B5EF4-FFF2-40B4-BE49-F238E27FC236}">
                <a16:creationId xmlns:a16="http://schemas.microsoft.com/office/drawing/2014/main" id="{4447FD37-F110-44CF-9A13-D87CFF57C2B3}"/>
              </a:ext>
            </a:extLst>
          </p:cNvPr>
          <p:cNvSpPr>
            <a:spLocks noGrp="1"/>
          </p:cNvSpPr>
          <p:nvPr/>
        </p:nvSpPr>
        <p:spPr>
          <a:xfrm>
            <a:off x="7762875" y="4638675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SWITCH</a:t>
            </a:r>
          </a:p>
        </p:txBody>
      </p:sp>
      <p:sp>
        <p:nvSpPr>
          <p:cNvPr id="34" name="lesson-text">
            <a:extLst>
              <a:ext uri="{FF2B5EF4-FFF2-40B4-BE49-F238E27FC236}">
                <a16:creationId xmlns:a16="http://schemas.microsoft.com/office/drawing/2014/main" id="{3884F861-B424-4E37-AAA1-1EB8E632DB70}"/>
              </a:ext>
            </a:extLst>
          </p:cNvPr>
          <p:cNvSpPr>
            <a:spLocks noGrp="1"/>
          </p:cNvSpPr>
          <p:nvPr/>
        </p:nvSpPr>
        <p:spPr>
          <a:xfrm>
            <a:off x="7762875" y="4943475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X becomes O · O becomes X</a:t>
            </a:r>
          </a:p>
        </p:txBody>
      </p:sp>
      <p:sp>
        <p:nvSpPr>
          <p:cNvPr id="35" name="lesson-text">
            <a:extLst>
              <a:ext uri="{FF2B5EF4-FFF2-40B4-BE49-F238E27FC236}">
                <a16:creationId xmlns:a16="http://schemas.microsoft.com/office/drawing/2014/main" id="{81EECB27-68A7-417C-A01F-785E2A0C4A98}"/>
              </a:ext>
            </a:extLst>
          </p:cNvPr>
          <p:cNvSpPr>
            <a:spLocks noGrp="1"/>
          </p:cNvSpPr>
          <p:nvPr/>
        </p:nvSpPr>
        <p:spPr>
          <a:xfrm>
            <a:off x="1714500" y="5095875"/>
            <a:ext cx="4000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F5C45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F5C451"/>
                </a:solidFill>
                <a:latin typeface="Calibri"/>
                <a:ea typeface="Calibri"/>
                <a:cs typeface="Calibri"/>
              </a:rPr>
              <a:t>Clicking an occupied cell does nothing.</a:t>
            </a:r>
          </a:p>
        </p:txBody>
      </p:sp>
    </p:spTree>
    <p:extLst>
      <p:ext uri="{BB962C8B-B14F-4D97-AF65-F5344CB8AC3E}">
        <p14:creationId xmlns:p14="http://schemas.microsoft.com/office/powerpoint/2010/main" val="4435464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A87B1E58-9D4A-4232-874F-1BD7491A566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STEP 3 · reference/03.cpp · PART C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8AD3988-A4FA-449C-8719-DE428F2B3687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Detect the Result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9721E4-B84D-4C88-BA23-6EA63EA21EBE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609F21D-F51B-48D2-88EB-836CBBD6AEB8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13</a:t>
            </a:r>
          </a:p>
        </p:txBody>
      </p:sp>
      <p:sp>
        <p:nvSpPr>
          <p:cNvPr id="22" name="step-label">
            <a:extLst>
              <a:ext uri="{FF2B5EF4-FFF2-40B4-BE49-F238E27FC236}">
                <a16:creationId xmlns:a16="http://schemas.microsoft.com/office/drawing/2014/main" id="{7CD4D404-16A0-46D9-8CDA-91E1C7944808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143000" cy="323850"/>
          </a:xfrm>
          <a:prstGeom prst="roundRect">
            <a:avLst>
              <a:gd name="adj" fmla="val 50000"/>
            </a:avLst>
          </a:prstGeom>
          <a:solidFill>
            <a:srgbClr val="E8F8F0"/>
          </a:solidFill>
          <a:ln w="9525">
            <a:solidFill>
              <a:srgbClr val="E8F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step-label-text">
            <a:extLst>
              <a:ext uri="{FF2B5EF4-FFF2-40B4-BE49-F238E27FC236}">
                <a16:creationId xmlns:a16="http://schemas.microsoft.com/office/drawing/2014/main" id="{4B708220-B5D1-43A8-BCFB-C56C7EA6F45D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14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STEP 3C</a:t>
            </a:r>
          </a:p>
        </p:txBody>
      </p:sp>
      <p:sp>
        <p:nvSpPr>
          <p:cNvPr id="24" name="lesson-text">
            <a:extLst>
              <a:ext uri="{FF2B5EF4-FFF2-40B4-BE49-F238E27FC236}">
                <a16:creationId xmlns:a16="http://schemas.microsoft.com/office/drawing/2014/main" id="{EB859A3F-350B-47DE-980A-FAC62A8C0ECD}"/>
              </a:ext>
            </a:extLst>
          </p:cNvPr>
          <p:cNvSpPr>
            <a:spLocks noGrp="1"/>
          </p:cNvSpPr>
          <p:nvPr/>
        </p:nvSpPr>
        <p:spPr>
          <a:xfrm>
            <a:off x="2000250" y="1476375"/>
            <a:ext cx="885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After each move, check for a winner first, then check for a full board.</a:t>
            </a:r>
          </a:p>
        </p:txBody>
      </p:sp>
      <p:sp>
        <p:nvSpPr>
          <p:cNvPr id="25" name="code-surface">
            <a:extLst>
              <a:ext uri="{FF2B5EF4-FFF2-40B4-BE49-F238E27FC236}">
                <a16:creationId xmlns:a16="http://schemas.microsoft.com/office/drawing/2014/main" id="{F99DA5A0-858D-4493-8C8E-7A1733A69391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5429250" cy="3286125"/>
          </a:xfrm>
          <a:prstGeom prst="roundRect">
            <a:avLst>
              <a:gd name="adj" fmla="val 2319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code">
            <a:extLst>
              <a:ext uri="{FF2B5EF4-FFF2-40B4-BE49-F238E27FC236}">
                <a16:creationId xmlns:a16="http://schemas.microsoft.com/office/drawing/2014/main" id="{5911EB23-2C52-44CC-B6B9-DEBA1D4EEB7B}"/>
              </a:ext>
            </a:extLst>
          </p:cNvPr>
          <p:cNvSpPr>
            <a:spLocks noGrp="1"/>
          </p:cNvSpPr>
          <p:nvPr/>
        </p:nvSpPr>
        <p:spPr>
          <a:xfrm>
            <a:off x="895350" y="2247900"/>
            <a:ext cx="5010150" cy="2981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if (check_win(board, current_player))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winner = current_player;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else if (is_board_full(board))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winner = 'D';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else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current_player =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current_player == 'X' ? 'O' : 'X';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7" name="lesson-text">
            <a:extLst>
              <a:ext uri="{FF2B5EF4-FFF2-40B4-BE49-F238E27FC236}">
                <a16:creationId xmlns:a16="http://schemas.microsoft.com/office/drawing/2014/main" id="{197DF492-FD78-4571-B7F5-0130A2BBA2A3}"/>
              </a:ext>
            </a:extLst>
          </p:cNvPr>
          <p:cNvSpPr>
            <a:spLocks noGrp="1"/>
          </p:cNvSpPr>
          <p:nvPr/>
        </p:nvSpPr>
        <p:spPr>
          <a:xfrm>
            <a:off x="6953250" y="2095500"/>
            <a:ext cx="3905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75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8 winning lines</a:t>
            </a:r>
          </a:p>
        </p:txBody>
      </p:sp>
      <p:sp>
        <p:nvSpPr>
          <p:cNvPr id="28" name="lesson-box">
            <a:extLst>
              <a:ext uri="{FF2B5EF4-FFF2-40B4-BE49-F238E27FC236}">
                <a16:creationId xmlns:a16="http://schemas.microsoft.com/office/drawing/2014/main" id="{84432EE5-E107-4446-A406-F801F67734F3}"/>
              </a:ext>
            </a:extLst>
          </p:cNvPr>
          <p:cNvSpPr>
            <a:spLocks noGrp="1"/>
          </p:cNvSpPr>
          <p:nvPr/>
        </p:nvSpPr>
        <p:spPr>
          <a:xfrm>
            <a:off x="6953250" y="257175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lesson-rule">
            <a:extLst>
              <a:ext uri="{FF2B5EF4-FFF2-40B4-BE49-F238E27FC236}">
                <a16:creationId xmlns:a16="http://schemas.microsoft.com/office/drawing/2014/main" id="{C882596A-5AD5-4E76-BB14-6BE2E4B8D560}"/>
              </a:ext>
            </a:extLst>
          </p:cNvPr>
          <p:cNvSpPr>
            <a:spLocks noGrp="1"/>
          </p:cNvSpPr>
          <p:nvPr/>
        </p:nvSpPr>
        <p:spPr>
          <a:xfrm>
            <a:off x="7067550" y="2971800"/>
            <a:ext cx="581025" cy="47625"/>
          </a:xfrm>
          <a:prstGeom prst="rect">
            <a:avLst/>
          </a:prstGeom>
          <a:solidFill>
            <a:srgbClr val="4BC38A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lesson-box">
            <a:extLst>
              <a:ext uri="{FF2B5EF4-FFF2-40B4-BE49-F238E27FC236}">
                <a16:creationId xmlns:a16="http://schemas.microsoft.com/office/drawing/2014/main" id="{EA3FEE03-C929-4C5D-B447-8B60B3CBBB69}"/>
              </a:ext>
            </a:extLst>
          </p:cNvPr>
          <p:cNvSpPr>
            <a:spLocks noGrp="1"/>
          </p:cNvSpPr>
          <p:nvPr/>
        </p:nvSpPr>
        <p:spPr>
          <a:xfrm>
            <a:off x="7953375" y="257175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lesson-rule">
            <a:extLst>
              <a:ext uri="{FF2B5EF4-FFF2-40B4-BE49-F238E27FC236}">
                <a16:creationId xmlns:a16="http://schemas.microsoft.com/office/drawing/2014/main" id="{2296C686-24C4-4067-AE65-E58E5AB1AC24}"/>
              </a:ext>
            </a:extLst>
          </p:cNvPr>
          <p:cNvSpPr>
            <a:spLocks noGrp="1"/>
          </p:cNvSpPr>
          <p:nvPr/>
        </p:nvSpPr>
        <p:spPr>
          <a:xfrm>
            <a:off x="8067675" y="2971800"/>
            <a:ext cx="581025" cy="47625"/>
          </a:xfrm>
          <a:prstGeom prst="rect">
            <a:avLst/>
          </a:prstGeom>
          <a:solidFill>
            <a:srgbClr val="4BC38A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lesson-box">
            <a:extLst>
              <a:ext uri="{FF2B5EF4-FFF2-40B4-BE49-F238E27FC236}">
                <a16:creationId xmlns:a16="http://schemas.microsoft.com/office/drawing/2014/main" id="{8D54DBF0-2081-45AD-A0FA-C91444982790}"/>
              </a:ext>
            </a:extLst>
          </p:cNvPr>
          <p:cNvSpPr>
            <a:spLocks noGrp="1"/>
          </p:cNvSpPr>
          <p:nvPr/>
        </p:nvSpPr>
        <p:spPr>
          <a:xfrm>
            <a:off x="8953500" y="257175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lesson-rule">
            <a:extLst>
              <a:ext uri="{FF2B5EF4-FFF2-40B4-BE49-F238E27FC236}">
                <a16:creationId xmlns:a16="http://schemas.microsoft.com/office/drawing/2014/main" id="{798CC7F7-2BA8-4874-841A-03F9CF5DA40D}"/>
              </a:ext>
            </a:extLst>
          </p:cNvPr>
          <p:cNvSpPr>
            <a:spLocks noGrp="1"/>
          </p:cNvSpPr>
          <p:nvPr/>
        </p:nvSpPr>
        <p:spPr>
          <a:xfrm>
            <a:off x="9067800" y="2971800"/>
            <a:ext cx="581025" cy="47625"/>
          </a:xfrm>
          <a:prstGeom prst="rect">
            <a:avLst/>
          </a:prstGeom>
          <a:solidFill>
            <a:srgbClr val="4BC38A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lesson-box">
            <a:extLst>
              <a:ext uri="{FF2B5EF4-FFF2-40B4-BE49-F238E27FC236}">
                <a16:creationId xmlns:a16="http://schemas.microsoft.com/office/drawing/2014/main" id="{9F569D62-8153-44F9-B845-A00FD74E69CA}"/>
              </a:ext>
            </a:extLst>
          </p:cNvPr>
          <p:cNvSpPr>
            <a:spLocks noGrp="1"/>
          </p:cNvSpPr>
          <p:nvPr/>
        </p:nvSpPr>
        <p:spPr>
          <a:xfrm>
            <a:off x="9953625" y="257175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win-line-vertical">
            <a:extLst>
              <a:ext uri="{FF2B5EF4-FFF2-40B4-BE49-F238E27FC236}">
                <a16:creationId xmlns:a16="http://schemas.microsoft.com/office/drawing/2014/main" id="{B10708EF-0741-4492-B4AC-B4063F122DF5}"/>
              </a:ext>
            </a:extLst>
          </p:cNvPr>
          <p:cNvSpPr>
            <a:spLocks noGrp="1"/>
          </p:cNvSpPr>
          <p:nvPr/>
        </p:nvSpPr>
        <p:spPr>
          <a:xfrm>
            <a:off x="10353675" y="2686050"/>
            <a:ext cx="47625" cy="581025"/>
          </a:xfrm>
          <a:prstGeom prst="rect">
            <a:avLst/>
          </a:prstGeom>
          <a:solidFill>
            <a:srgbClr val="55A7E8"/>
          </a:solidFill>
          <a:ln w="0">
            <a:solidFill>
              <a:srgbClr val="55A7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lesson-box">
            <a:extLst>
              <a:ext uri="{FF2B5EF4-FFF2-40B4-BE49-F238E27FC236}">
                <a16:creationId xmlns:a16="http://schemas.microsoft.com/office/drawing/2014/main" id="{6A958505-E4B5-42C9-997E-8D58A44CFA3C}"/>
              </a:ext>
            </a:extLst>
          </p:cNvPr>
          <p:cNvSpPr>
            <a:spLocks noGrp="1"/>
          </p:cNvSpPr>
          <p:nvPr/>
        </p:nvSpPr>
        <p:spPr>
          <a:xfrm>
            <a:off x="6953250" y="3762375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win-line-vertical">
            <a:extLst>
              <a:ext uri="{FF2B5EF4-FFF2-40B4-BE49-F238E27FC236}">
                <a16:creationId xmlns:a16="http://schemas.microsoft.com/office/drawing/2014/main" id="{F5B646EA-FFAC-4CD7-918B-E554840D5FDE}"/>
              </a:ext>
            </a:extLst>
          </p:cNvPr>
          <p:cNvSpPr>
            <a:spLocks noGrp="1"/>
          </p:cNvSpPr>
          <p:nvPr/>
        </p:nvSpPr>
        <p:spPr>
          <a:xfrm>
            <a:off x="7353300" y="3876675"/>
            <a:ext cx="47625" cy="581025"/>
          </a:xfrm>
          <a:prstGeom prst="rect">
            <a:avLst/>
          </a:prstGeom>
          <a:solidFill>
            <a:srgbClr val="55A7E8"/>
          </a:solidFill>
          <a:ln w="0">
            <a:solidFill>
              <a:srgbClr val="55A7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lesson-box">
            <a:extLst>
              <a:ext uri="{FF2B5EF4-FFF2-40B4-BE49-F238E27FC236}">
                <a16:creationId xmlns:a16="http://schemas.microsoft.com/office/drawing/2014/main" id="{F5930E3F-7FE2-4FCB-AC8A-D62DB080AE18}"/>
              </a:ext>
            </a:extLst>
          </p:cNvPr>
          <p:cNvSpPr>
            <a:spLocks noGrp="1"/>
          </p:cNvSpPr>
          <p:nvPr/>
        </p:nvSpPr>
        <p:spPr>
          <a:xfrm>
            <a:off x="7953375" y="3762375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win-line-vertical">
            <a:extLst>
              <a:ext uri="{FF2B5EF4-FFF2-40B4-BE49-F238E27FC236}">
                <a16:creationId xmlns:a16="http://schemas.microsoft.com/office/drawing/2014/main" id="{566669B9-D030-4B99-B6CA-2095B5066863}"/>
              </a:ext>
            </a:extLst>
          </p:cNvPr>
          <p:cNvSpPr>
            <a:spLocks noGrp="1"/>
          </p:cNvSpPr>
          <p:nvPr/>
        </p:nvSpPr>
        <p:spPr>
          <a:xfrm>
            <a:off x="8353425" y="3876675"/>
            <a:ext cx="47625" cy="581025"/>
          </a:xfrm>
          <a:prstGeom prst="rect">
            <a:avLst/>
          </a:prstGeom>
          <a:solidFill>
            <a:srgbClr val="55A7E8"/>
          </a:solidFill>
          <a:ln w="0">
            <a:solidFill>
              <a:srgbClr val="55A7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lesson-box">
            <a:extLst>
              <a:ext uri="{FF2B5EF4-FFF2-40B4-BE49-F238E27FC236}">
                <a16:creationId xmlns:a16="http://schemas.microsoft.com/office/drawing/2014/main" id="{8939F447-4184-4F5D-8928-15478B7D65BA}"/>
              </a:ext>
            </a:extLst>
          </p:cNvPr>
          <p:cNvSpPr>
            <a:spLocks noGrp="1"/>
          </p:cNvSpPr>
          <p:nvPr/>
        </p:nvSpPr>
        <p:spPr>
          <a:xfrm>
            <a:off x="8953500" y="3762375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win-line-diagonal">
            <a:extLst>
              <a:ext uri="{FF2B5EF4-FFF2-40B4-BE49-F238E27FC236}">
                <a16:creationId xmlns:a16="http://schemas.microsoft.com/office/drawing/2014/main" id="{5411A7C9-1F62-4578-A4BE-BE51B33710D8}"/>
              </a:ext>
            </a:extLst>
          </p:cNvPr>
          <p:cNvSpPr>
            <a:spLocks noGrp="1"/>
          </p:cNvSpPr>
          <p:nvPr/>
        </p:nvSpPr>
        <p:spPr>
          <a:xfrm>
            <a:off x="9096375" y="3905250"/>
            <a:ext cx="523875" cy="523875"/>
          </a:xfrm>
          <a:prstGeom prst="line">
            <a:avLst/>
          </a:prstGeom>
          <a:ln w="47625">
            <a:solidFill>
              <a:srgbClr val="9C7B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lesson-box">
            <a:extLst>
              <a:ext uri="{FF2B5EF4-FFF2-40B4-BE49-F238E27FC236}">
                <a16:creationId xmlns:a16="http://schemas.microsoft.com/office/drawing/2014/main" id="{094E0045-C80B-494F-BBCA-D36D75D5427F}"/>
              </a:ext>
            </a:extLst>
          </p:cNvPr>
          <p:cNvSpPr>
            <a:spLocks noGrp="1"/>
          </p:cNvSpPr>
          <p:nvPr/>
        </p:nvSpPr>
        <p:spPr>
          <a:xfrm>
            <a:off x="9953625" y="3762375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win-line-diagonal">
            <a:extLst>
              <a:ext uri="{FF2B5EF4-FFF2-40B4-BE49-F238E27FC236}">
                <a16:creationId xmlns:a16="http://schemas.microsoft.com/office/drawing/2014/main" id="{06616C5D-4351-433D-BCF4-344597BC1836}"/>
              </a:ext>
            </a:extLst>
          </p:cNvPr>
          <p:cNvSpPr>
            <a:spLocks noGrp="1"/>
          </p:cNvSpPr>
          <p:nvPr/>
        </p:nvSpPr>
        <p:spPr>
          <a:xfrm rot="5400000">
            <a:off x="10096500" y="3905250"/>
            <a:ext cx="523875" cy="523875"/>
          </a:xfrm>
          <a:prstGeom prst="line">
            <a:avLst/>
          </a:prstGeom>
          <a:ln w="47625">
            <a:solidFill>
              <a:srgbClr val="9C7B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lesson-box">
            <a:extLst>
              <a:ext uri="{FF2B5EF4-FFF2-40B4-BE49-F238E27FC236}">
                <a16:creationId xmlns:a16="http://schemas.microsoft.com/office/drawing/2014/main" id="{C8AE25CE-B80C-49E9-9C12-57D2103795DB}"/>
              </a:ext>
            </a:extLst>
          </p:cNvPr>
          <p:cNvSpPr>
            <a:spLocks noGrp="1"/>
          </p:cNvSpPr>
          <p:nvPr/>
        </p:nvSpPr>
        <p:spPr>
          <a:xfrm>
            <a:off x="6762750" y="5095875"/>
            <a:ext cx="4286250" cy="685800"/>
          </a:xfrm>
          <a:prstGeom prst="roundRect">
            <a:avLst>
              <a:gd name="adj" fmla="val 11111"/>
            </a:avLst>
          </a:prstGeom>
          <a:solidFill>
            <a:srgbClr val="FFF5D8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lesson-text">
            <a:extLst>
              <a:ext uri="{FF2B5EF4-FFF2-40B4-BE49-F238E27FC236}">
                <a16:creationId xmlns:a16="http://schemas.microsoft.com/office/drawing/2014/main" id="{D3F0E0E8-247B-4D58-B375-F1EED40ADCA5}"/>
              </a:ext>
            </a:extLst>
          </p:cNvPr>
          <p:cNvSpPr>
            <a:spLocks noGrp="1"/>
          </p:cNvSpPr>
          <p:nvPr/>
        </p:nvSpPr>
        <p:spPr>
          <a:xfrm>
            <a:off x="7000875" y="5219700"/>
            <a:ext cx="3810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Result is calculated — not displayed yet.</a:t>
            </a:r>
          </a:p>
        </p:txBody>
      </p:sp>
    </p:spTree>
    <p:extLst>
      <p:ext uri="{BB962C8B-B14F-4D97-AF65-F5344CB8AC3E}">
        <p14:creationId xmlns:p14="http://schemas.microsoft.com/office/powerpoint/2010/main" val="403112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88FF29E1-CD6A-4ABD-8C05-71ABF786A33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STEP 4 · reference/04.cpp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DFDCD55-A448-41EE-8CC3-9F667E66A3FD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Show the Result and Restart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8C6D994-809B-4DB3-B430-03FB15BB2E12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97C392B-EB98-4A21-BB02-78B2DD58FFD9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14</a:t>
            </a:r>
          </a:p>
        </p:txBody>
      </p:sp>
      <p:sp>
        <p:nvSpPr>
          <p:cNvPr id="16" name="step-label">
            <a:extLst>
              <a:ext uri="{FF2B5EF4-FFF2-40B4-BE49-F238E27FC236}">
                <a16:creationId xmlns:a16="http://schemas.microsoft.com/office/drawing/2014/main" id="{ADDA7667-6A3F-4003-ADA1-AA7E93D6F98E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00125" cy="323850"/>
          </a:xfrm>
          <a:prstGeom prst="roundRect">
            <a:avLst>
              <a:gd name="adj" fmla="val 50000"/>
            </a:avLst>
          </a:prstGeom>
          <a:solidFill>
            <a:srgbClr val="FFF5D8"/>
          </a:solidFill>
          <a:ln w="9525">
            <a:solidFill>
              <a:srgbClr val="FFF5D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tep-label-text">
            <a:extLst>
              <a:ext uri="{FF2B5EF4-FFF2-40B4-BE49-F238E27FC236}">
                <a16:creationId xmlns:a16="http://schemas.microsoft.com/office/drawing/2014/main" id="{38CF747F-6822-4CA6-8014-2BAC1962E7C5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00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STEP 4</a:t>
            </a:r>
          </a:p>
        </p:txBody>
      </p:sp>
      <p:sp>
        <p:nvSpPr>
          <p:cNvPr id="18" name="lesson-text">
            <a:extLst>
              <a:ext uri="{FF2B5EF4-FFF2-40B4-BE49-F238E27FC236}">
                <a16:creationId xmlns:a16="http://schemas.microsoft.com/office/drawing/2014/main" id="{131D2FDD-BB08-4D91-8B95-BAE1545D6E3F}"/>
              </a:ext>
            </a:extLst>
          </p:cNvPr>
          <p:cNvSpPr>
            <a:spLocks noGrp="1"/>
          </p:cNvSpPr>
          <p:nvPr/>
        </p:nvSpPr>
        <p:spPr>
          <a:xfrm>
            <a:off x="1857375" y="1476375"/>
            <a:ext cx="885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The result becomes visible, and the next click resets all game state.</a:t>
            </a:r>
          </a:p>
        </p:txBody>
      </p:sp>
      <p:sp>
        <p:nvSpPr>
          <p:cNvPr id="19" name="code-surface">
            <a:extLst>
              <a:ext uri="{FF2B5EF4-FFF2-40B4-BE49-F238E27FC236}">
                <a16:creationId xmlns:a16="http://schemas.microsoft.com/office/drawing/2014/main" id="{675C7CE9-32E9-4869-B814-89C7E666B2A0}"/>
              </a:ext>
            </a:extLst>
          </p:cNvPr>
          <p:cNvSpPr>
            <a:spLocks noGrp="1"/>
          </p:cNvSpPr>
          <p:nvPr/>
        </p:nvSpPr>
        <p:spPr>
          <a:xfrm>
            <a:off x="685800" y="2190750"/>
            <a:ext cx="4762500" cy="2095500"/>
          </a:xfrm>
          <a:prstGeom prst="roundRect">
            <a:avLst>
              <a:gd name="adj" fmla="val 3636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code">
            <a:extLst>
              <a:ext uri="{FF2B5EF4-FFF2-40B4-BE49-F238E27FC236}">
                <a16:creationId xmlns:a16="http://schemas.microsoft.com/office/drawing/2014/main" id="{DCA79610-A8EA-4A47-9D31-F8079140CAB6}"/>
              </a:ext>
            </a:extLst>
          </p:cNvPr>
          <p:cNvSpPr>
            <a:spLocks noGrp="1"/>
          </p:cNvSpPr>
          <p:nvPr/>
        </p:nvSpPr>
        <p:spPr>
          <a:xfrm>
            <a:off x="895350" y="2343150"/>
            <a:ext cx="4343400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if (winner != '-')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reset_board(board);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current_player = 'X';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winner = '-';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1" name="lesson-box">
            <a:extLst>
              <a:ext uri="{FF2B5EF4-FFF2-40B4-BE49-F238E27FC236}">
                <a16:creationId xmlns:a16="http://schemas.microsoft.com/office/drawing/2014/main" id="{B9E13F36-4EC9-48C3-B513-81AEC0ACA1D7}"/>
              </a:ext>
            </a:extLst>
          </p:cNvPr>
          <p:cNvSpPr>
            <a:spLocks noGrp="1"/>
          </p:cNvSpPr>
          <p:nvPr/>
        </p:nvSpPr>
        <p:spPr>
          <a:xfrm>
            <a:off x="6477000" y="2143125"/>
            <a:ext cx="4286250" cy="200025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9050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lesson-text">
            <a:extLst>
              <a:ext uri="{FF2B5EF4-FFF2-40B4-BE49-F238E27FC236}">
                <a16:creationId xmlns:a16="http://schemas.microsoft.com/office/drawing/2014/main" id="{D88C9A08-64B8-432A-929C-7093B502DA83}"/>
              </a:ext>
            </a:extLst>
          </p:cNvPr>
          <p:cNvSpPr>
            <a:spLocks noGrp="1"/>
          </p:cNvSpPr>
          <p:nvPr/>
        </p:nvSpPr>
        <p:spPr>
          <a:xfrm>
            <a:off x="6762750" y="2428875"/>
            <a:ext cx="3714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70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X Wins!</a:t>
            </a:r>
          </a:p>
        </p:txBody>
      </p:sp>
      <p:sp>
        <p:nvSpPr>
          <p:cNvPr id="23" name="lesson-text">
            <a:extLst>
              <a:ext uri="{FF2B5EF4-FFF2-40B4-BE49-F238E27FC236}">
                <a16:creationId xmlns:a16="http://schemas.microsoft.com/office/drawing/2014/main" id="{5708945B-9B97-4109-8F2C-85FBE87DACDE}"/>
              </a:ext>
            </a:extLst>
          </p:cNvPr>
          <p:cNvSpPr>
            <a:spLocks noGrp="1"/>
          </p:cNvSpPr>
          <p:nvPr/>
        </p:nvSpPr>
        <p:spPr>
          <a:xfrm>
            <a:off x="6762750" y="3190875"/>
            <a:ext cx="3714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65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Click to restart</a:t>
            </a:r>
          </a:p>
        </p:txBody>
      </p:sp>
      <p:sp>
        <p:nvSpPr>
          <p:cNvPr id="24" name="flow-arrow">
            <a:extLst>
              <a:ext uri="{FF2B5EF4-FFF2-40B4-BE49-F238E27FC236}">
                <a16:creationId xmlns:a16="http://schemas.microsoft.com/office/drawing/2014/main" id="{A96E41BC-C5DF-4462-B4BB-843A4F02EA95}"/>
              </a:ext>
            </a:extLst>
          </p:cNvPr>
          <p:cNvSpPr>
            <a:spLocks noGrp="1"/>
          </p:cNvSpPr>
          <p:nvPr/>
        </p:nvSpPr>
        <p:spPr>
          <a:xfrm>
            <a:off x="5810250" y="4619625"/>
            <a:ext cx="714375" cy="266700"/>
          </a:xfrm>
          <a:prstGeom prst="rightArrow">
            <a:avLst/>
          </a:prstGeom>
          <a:solidFill>
            <a:srgbClr val="F5C451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lesson-text">
            <a:extLst>
              <a:ext uri="{FF2B5EF4-FFF2-40B4-BE49-F238E27FC236}">
                <a16:creationId xmlns:a16="http://schemas.microsoft.com/office/drawing/2014/main" id="{2F52AC23-20B6-4364-A723-97CF77EF66EC}"/>
              </a:ext>
            </a:extLst>
          </p:cNvPr>
          <p:cNvSpPr>
            <a:spLocks noGrp="1"/>
          </p:cNvSpPr>
          <p:nvPr/>
        </p:nvSpPr>
        <p:spPr>
          <a:xfrm>
            <a:off x="4333875" y="4552950"/>
            <a:ext cx="1381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winner set</a:t>
            </a:r>
          </a:p>
        </p:txBody>
      </p:sp>
      <p:sp>
        <p:nvSpPr>
          <p:cNvPr id="26" name="lesson-text">
            <a:extLst>
              <a:ext uri="{FF2B5EF4-FFF2-40B4-BE49-F238E27FC236}">
                <a16:creationId xmlns:a16="http://schemas.microsoft.com/office/drawing/2014/main" id="{13171B04-B7F8-4BF7-A99D-B7BC522E5447}"/>
              </a:ext>
            </a:extLst>
          </p:cNvPr>
          <p:cNvSpPr>
            <a:spLocks noGrp="1"/>
          </p:cNvSpPr>
          <p:nvPr/>
        </p:nvSpPr>
        <p:spPr>
          <a:xfrm>
            <a:off x="6667500" y="4552950"/>
            <a:ext cx="95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click</a:t>
            </a:r>
          </a:p>
        </p:txBody>
      </p:sp>
      <p:sp>
        <p:nvSpPr>
          <p:cNvPr id="27" name="flow-arrow">
            <a:extLst>
              <a:ext uri="{FF2B5EF4-FFF2-40B4-BE49-F238E27FC236}">
                <a16:creationId xmlns:a16="http://schemas.microsoft.com/office/drawing/2014/main" id="{47D47281-D878-45F6-8156-BAA914639D72}"/>
              </a:ext>
            </a:extLst>
          </p:cNvPr>
          <p:cNvSpPr>
            <a:spLocks noGrp="1"/>
          </p:cNvSpPr>
          <p:nvPr/>
        </p:nvSpPr>
        <p:spPr>
          <a:xfrm>
            <a:off x="7715250" y="4619625"/>
            <a:ext cx="714375" cy="266700"/>
          </a:xfrm>
          <a:prstGeom prst="rightArrow">
            <a:avLst/>
          </a:prstGeom>
          <a:solidFill>
            <a:srgbClr val="F5C451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lesson-text">
            <a:extLst>
              <a:ext uri="{FF2B5EF4-FFF2-40B4-BE49-F238E27FC236}">
                <a16:creationId xmlns:a16="http://schemas.microsoft.com/office/drawing/2014/main" id="{98E98898-FD65-4473-B160-38A94DE94B99}"/>
              </a:ext>
            </a:extLst>
          </p:cNvPr>
          <p:cNvSpPr>
            <a:spLocks noGrp="1"/>
          </p:cNvSpPr>
          <p:nvPr/>
        </p:nvSpPr>
        <p:spPr>
          <a:xfrm>
            <a:off x="8524875" y="4552950"/>
            <a:ext cx="1619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fresh board</a:t>
            </a:r>
          </a:p>
        </p:txBody>
      </p:sp>
      <p:sp>
        <p:nvSpPr>
          <p:cNvPr id="29" name="lesson-text">
            <a:extLst>
              <a:ext uri="{FF2B5EF4-FFF2-40B4-BE49-F238E27FC236}">
                <a16:creationId xmlns:a16="http://schemas.microsoft.com/office/drawing/2014/main" id="{3E8BF89D-B295-4314-96A4-FAD6F50F009F}"/>
              </a:ext>
            </a:extLst>
          </p:cNvPr>
          <p:cNvSpPr>
            <a:spLocks noGrp="1"/>
          </p:cNvSpPr>
          <p:nvPr/>
        </p:nvSpPr>
        <p:spPr>
          <a:xfrm>
            <a:off x="2857500" y="5381625"/>
            <a:ext cx="6477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Step 4 changes behavior and feedback — not the win algorithm.</a:t>
            </a:r>
          </a:p>
        </p:txBody>
      </p:sp>
    </p:spTree>
    <p:extLst>
      <p:ext uri="{BB962C8B-B14F-4D97-AF65-F5344CB8AC3E}">
        <p14:creationId xmlns:p14="http://schemas.microsoft.com/office/powerpoint/2010/main" val="20877398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59700243-6847-423D-9FA4-F6623B977FA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STEP 5 · reference/05.cpp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A778F46-416C-4E48-8D9D-693E52E0354B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Polish the Final Game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7E10BB-6FB2-41C1-9100-504AAF7E3384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768FD21-A52D-4D83-9457-982976171F3E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15</a:t>
            </a:r>
          </a:p>
        </p:txBody>
      </p:sp>
      <p:sp>
        <p:nvSpPr>
          <p:cNvPr id="18" name="step-label">
            <a:extLst>
              <a:ext uri="{FF2B5EF4-FFF2-40B4-BE49-F238E27FC236}">
                <a16:creationId xmlns:a16="http://schemas.microsoft.com/office/drawing/2014/main" id="{CF04D06F-D028-4B52-A231-0C38237BD7C3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00125" cy="32385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 w="9525">
            <a:solidFill>
              <a:srgbClr val="EAF4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tep-label-text">
            <a:extLst>
              <a:ext uri="{FF2B5EF4-FFF2-40B4-BE49-F238E27FC236}">
                <a16:creationId xmlns:a16="http://schemas.microsoft.com/office/drawing/2014/main" id="{D4B916F0-9347-4694-81D2-9594B70FC615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00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STEP 5</a:t>
            </a:r>
          </a:p>
        </p:txBody>
      </p:sp>
      <p:sp>
        <p:nvSpPr>
          <p:cNvPr id="20" name="lesson-text">
            <a:extLst>
              <a:ext uri="{FF2B5EF4-FFF2-40B4-BE49-F238E27FC236}">
                <a16:creationId xmlns:a16="http://schemas.microsoft.com/office/drawing/2014/main" id="{A10931E2-BAF3-4FD8-BA10-F3FFC271EF3A}"/>
              </a:ext>
            </a:extLst>
          </p:cNvPr>
          <p:cNvSpPr>
            <a:spLocks noGrp="1"/>
          </p:cNvSpPr>
          <p:nvPr/>
        </p:nvSpPr>
        <p:spPr>
          <a:xfrm>
            <a:off x="1857375" y="1476375"/>
            <a:ext cx="885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The rules stay the same. Only spacing and the result panel change.</a:t>
            </a:r>
          </a:p>
        </p:txBody>
      </p:sp>
      <p:sp>
        <p:nvSpPr>
          <p:cNvPr id="21" name="lesson-text">
            <a:extLst>
              <a:ext uri="{FF2B5EF4-FFF2-40B4-BE49-F238E27FC236}">
                <a16:creationId xmlns:a16="http://schemas.microsoft.com/office/drawing/2014/main" id="{98225D9E-DB90-4602-831D-AB31767EC127}"/>
              </a:ext>
            </a:extLst>
          </p:cNvPr>
          <p:cNvSpPr>
            <a:spLocks noGrp="1"/>
          </p:cNvSpPr>
          <p:nvPr/>
        </p:nvSpPr>
        <p:spPr>
          <a:xfrm>
            <a:off x="1524000" y="2047875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BEFORE</a:t>
            </a:r>
          </a:p>
        </p:txBody>
      </p:sp>
      <p:sp>
        <p:nvSpPr>
          <p:cNvPr id="22" name="board-back">
            <a:extLst>
              <a:ext uri="{FF2B5EF4-FFF2-40B4-BE49-F238E27FC236}">
                <a16:creationId xmlns:a16="http://schemas.microsoft.com/office/drawing/2014/main" id="{0B343972-AF4B-4046-8376-2543A5067066}"/>
              </a:ext>
            </a:extLst>
          </p:cNvPr>
          <p:cNvSpPr>
            <a:spLocks noGrp="1"/>
          </p:cNvSpPr>
          <p:nvPr/>
        </p:nvSpPr>
        <p:spPr>
          <a:xfrm>
            <a:off x="1447800" y="2400300"/>
            <a:ext cx="2771775" cy="2771775"/>
          </a:xfrm>
          <a:prstGeom prst="roundRect">
            <a:avLst>
              <a:gd name="adj" fmla="val 2749"/>
            </a:avLst>
          </a:prstGeom>
          <a:solidFill>
            <a:srgbClr val="F4F7FA"/>
          </a:solidFill>
          <a:ln w="9525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cell-0-0">
            <a:extLst>
              <a:ext uri="{FF2B5EF4-FFF2-40B4-BE49-F238E27FC236}">
                <a16:creationId xmlns:a16="http://schemas.microsoft.com/office/drawing/2014/main" id="{59AA547E-127F-4987-B8E6-11FD47EACD64}"/>
              </a:ext>
            </a:extLst>
          </p:cNvPr>
          <p:cNvSpPr>
            <a:spLocks noGrp="1"/>
          </p:cNvSpPr>
          <p:nvPr/>
        </p:nvSpPr>
        <p:spPr>
          <a:xfrm>
            <a:off x="1619250" y="257175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piece-0-0">
            <a:extLst>
              <a:ext uri="{FF2B5EF4-FFF2-40B4-BE49-F238E27FC236}">
                <a16:creationId xmlns:a16="http://schemas.microsoft.com/office/drawing/2014/main" id="{0D76C467-9422-41AB-95AD-563C9B7E591C}"/>
              </a:ext>
            </a:extLst>
          </p:cNvPr>
          <p:cNvSpPr>
            <a:spLocks noGrp="1"/>
          </p:cNvSpPr>
          <p:nvPr/>
        </p:nvSpPr>
        <p:spPr>
          <a:xfrm>
            <a:off x="1619250" y="2571750"/>
            <a:ext cx="809625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07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07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25" name="cell-0-1">
            <a:extLst>
              <a:ext uri="{FF2B5EF4-FFF2-40B4-BE49-F238E27FC236}">
                <a16:creationId xmlns:a16="http://schemas.microsoft.com/office/drawing/2014/main" id="{FA3EF77C-3D5B-4087-9E68-C6341CF52881}"/>
              </a:ext>
            </a:extLst>
          </p:cNvPr>
          <p:cNvSpPr>
            <a:spLocks noGrp="1"/>
          </p:cNvSpPr>
          <p:nvPr/>
        </p:nvSpPr>
        <p:spPr>
          <a:xfrm>
            <a:off x="2428875" y="257175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cell-0-2">
            <a:extLst>
              <a:ext uri="{FF2B5EF4-FFF2-40B4-BE49-F238E27FC236}">
                <a16:creationId xmlns:a16="http://schemas.microsoft.com/office/drawing/2014/main" id="{8B5FDD31-CDAC-4D68-AAE1-A939FB7F945F}"/>
              </a:ext>
            </a:extLst>
          </p:cNvPr>
          <p:cNvSpPr>
            <a:spLocks noGrp="1"/>
          </p:cNvSpPr>
          <p:nvPr/>
        </p:nvSpPr>
        <p:spPr>
          <a:xfrm>
            <a:off x="3238500" y="257175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cell-1-0">
            <a:extLst>
              <a:ext uri="{FF2B5EF4-FFF2-40B4-BE49-F238E27FC236}">
                <a16:creationId xmlns:a16="http://schemas.microsoft.com/office/drawing/2014/main" id="{4442B74B-9023-4E30-946A-30619BDBCA4E}"/>
              </a:ext>
            </a:extLst>
          </p:cNvPr>
          <p:cNvSpPr>
            <a:spLocks noGrp="1"/>
          </p:cNvSpPr>
          <p:nvPr/>
        </p:nvSpPr>
        <p:spPr>
          <a:xfrm>
            <a:off x="1619250" y="3381375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cell-1-1">
            <a:extLst>
              <a:ext uri="{FF2B5EF4-FFF2-40B4-BE49-F238E27FC236}">
                <a16:creationId xmlns:a16="http://schemas.microsoft.com/office/drawing/2014/main" id="{79F85A6E-614C-4CAC-AFE5-D77F0F0F3BDE}"/>
              </a:ext>
            </a:extLst>
          </p:cNvPr>
          <p:cNvSpPr>
            <a:spLocks noGrp="1"/>
          </p:cNvSpPr>
          <p:nvPr/>
        </p:nvSpPr>
        <p:spPr>
          <a:xfrm>
            <a:off x="2428875" y="3381375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piece-1-1">
            <a:extLst>
              <a:ext uri="{FF2B5EF4-FFF2-40B4-BE49-F238E27FC236}">
                <a16:creationId xmlns:a16="http://schemas.microsoft.com/office/drawing/2014/main" id="{2FB52894-4A37-43E5-AFA1-E2C8EB7592AA}"/>
              </a:ext>
            </a:extLst>
          </p:cNvPr>
          <p:cNvSpPr>
            <a:spLocks noGrp="1"/>
          </p:cNvSpPr>
          <p:nvPr/>
        </p:nvSpPr>
        <p:spPr>
          <a:xfrm>
            <a:off x="2428875" y="3381375"/>
            <a:ext cx="809625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075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3075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30" name="cell-1-2">
            <a:extLst>
              <a:ext uri="{FF2B5EF4-FFF2-40B4-BE49-F238E27FC236}">
                <a16:creationId xmlns:a16="http://schemas.microsoft.com/office/drawing/2014/main" id="{591BCC27-3867-4312-9935-41DEC2DED7AC}"/>
              </a:ext>
            </a:extLst>
          </p:cNvPr>
          <p:cNvSpPr>
            <a:spLocks noGrp="1"/>
          </p:cNvSpPr>
          <p:nvPr/>
        </p:nvSpPr>
        <p:spPr>
          <a:xfrm>
            <a:off x="3238500" y="3381375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cell-2-0">
            <a:extLst>
              <a:ext uri="{FF2B5EF4-FFF2-40B4-BE49-F238E27FC236}">
                <a16:creationId xmlns:a16="http://schemas.microsoft.com/office/drawing/2014/main" id="{01844D56-8D06-4CF4-B7B9-5CC756ECEA5D}"/>
              </a:ext>
            </a:extLst>
          </p:cNvPr>
          <p:cNvSpPr>
            <a:spLocks noGrp="1"/>
          </p:cNvSpPr>
          <p:nvPr/>
        </p:nvSpPr>
        <p:spPr>
          <a:xfrm>
            <a:off x="1619250" y="419100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cell-2-1">
            <a:extLst>
              <a:ext uri="{FF2B5EF4-FFF2-40B4-BE49-F238E27FC236}">
                <a16:creationId xmlns:a16="http://schemas.microsoft.com/office/drawing/2014/main" id="{31D5F573-A92D-453F-9915-BB977AACA87A}"/>
              </a:ext>
            </a:extLst>
          </p:cNvPr>
          <p:cNvSpPr>
            <a:spLocks noGrp="1"/>
          </p:cNvSpPr>
          <p:nvPr/>
        </p:nvSpPr>
        <p:spPr>
          <a:xfrm>
            <a:off x="2428875" y="419100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cell-2-2">
            <a:extLst>
              <a:ext uri="{FF2B5EF4-FFF2-40B4-BE49-F238E27FC236}">
                <a16:creationId xmlns:a16="http://schemas.microsoft.com/office/drawing/2014/main" id="{B70E14DC-DF3F-4FF0-BD78-B47CC6CF96D6}"/>
              </a:ext>
            </a:extLst>
          </p:cNvPr>
          <p:cNvSpPr>
            <a:spLocks noGrp="1"/>
          </p:cNvSpPr>
          <p:nvPr/>
        </p:nvSpPr>
        <p:spPr>
          <a:xfrm>
            <a:off x="3238500" y="419100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piece-2-2">
            <a:extLst>
              <a:ext uri="{FF2B5EF4-FFF2-40B4-BE49-F238E27FC236}">
                <a16:creationId xmlns:a16="http://schemas.microsoft.com/office/drawing/2014/main" id="{CE3577A2-42F9-45CC-83FA-0D4C0E16BD5B}"/>
              </a:ext>
            </a:extLst>
          </p:cNvPr>
          <p:cNvSpPr>
            <a:spLocks noGrp="1"/>
          </p:cNvSpPr>
          <p:nvPr/>
        </p:nvSpPr>
        <p:spPr>
          <a:xfrm>
            <a:off x="3238500" y="4191000"/>
            <a:ext cx="809625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07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07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35" name="lesson-text">
            <a:extLst>
              <a:ext uri="{FF2B5EF4-FFF2-40B4-BE49-F238E27FC236}">
                <a16:creationId xmlns:a16="http://schemas.microsoft.com/office/drawing/2014/main" id="{95EFE896-9A3F-4478-BEB0-0F4F24943A67}"/>
              </a:ext>
            </a:extLst>
          </p:cNvPr>
          <p:cNvSpPr>
            <a:spLocks noGrp="1"/>
          </p:cNvSpPr>
          <p:nvPr/>
        </p:nvSpPr>
        <p:spPr>
          <a:xfrm>
            <a:off x="7477125" y="2047875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AFTER</a:t>
            </a:r>
          </a:p>
        </p:txBody>
      </p:sp>
      <p:sp>
        <p:nvSpPr>
          <p:cNvPr id="36" name="board-back">
            <a:extLst>
              <a:ext uri="{FF2B5EF4-FFF2-40B4-BE49-F238E27FC236}">
                <a16:creationId xmlns:a16="http://schemas.microsoft.com/office/drawing/2014/main" id="{B42FB80C-1D69-484B-B1BA-96FDF6002C59}"/>
              </a:ext>
            </a:extLst>
          </p:cNvPr>
          <p:cNvSpPr>
            <a:spLocks noGrp="1"/>
          </p:cNvSpPr>
          <p:nvPr/>
        </p:nvSpPr>
        <p:spPr>
          <a:xfrm>
            <a:off x="7448550" y="2400300"/>
            <a:ext cx="2771775" cy="2771775"/>
          </a:xfrm>
          <a:prstGeom prst="roundRect">
            <a:avLst>
              <a:gd name="adj" fmla="val 2749"/>
            </a:avLst>
          </a:prstGeom>
          <a:solidFill>
            <a:srgbClr val="EAF4FC"/>
          </a:solidFill>
          <a:ln w="9525">
            <a:solidFill>
              <a:srgbClr val="EAF4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cell-0-0">
            <a:extLst>
              <a:ext uri="{FF2B5EF4-FFF2-40B4-BE49-F238E27FC236}">
                <a16:creationId xmlns:a16="http://schemas.microsoft.com/office/drawing/2014/main" id="{376FA6E4-FA4E-4808-94AE-B6222C7AA04E}"/>
              </a:ext>
            </a:extLst>
          </p:cNvPr>
          <p:cNvSpPr>
            <a:spLocks noGrp="1"/>
          </p:cNvSpPr>
          <p:nvPr/>
        </p:nvSpPr>
        <p:spPr>
          <a:xfrm>
            <a:off x="7620000" y="257175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piece-0-0">
            <a:extLst>
              <a:ext uri="{FF2B5EF4-FFF2-40B4-BE49-F238E27FC236}">
                <a16:creationId xmlns:a16="http://schemas.microsoft.com/office/drawing/2014/main" id="{96A9F971-A47F-4A18-927A-F29924A23827}"/>
              </a:ext>
            </a:extLst>
          </p:cNvPr>
          <p:cNvSpPr>
            <a:spLocks noGrp="1"/>
          </p:cNvSpPr>
          <p:nvPr/>
        </p:nvSpPr>
        <p:spPr>
          <a:xfrm>
            <a:off x="7620000" y="2571750"/>
            <a:ext cx="809625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07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07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39" name="cell-0-1">
            <a:extLst>
              <a:ext uri="{FF2B5EF4-FFF2-40B4-BE49-F238E27FC236}">
                <a16:creationId xmlns:a16="http://schemas.microsoft.com/office/drawing/2014/main" id="{30FFD279-5C5A-48CB-8812-2AAC63BC44E6}"/>
              </a:ext>
            </a:extLst>
          </p:cNvPr>
          <p:cNvSpPr>
            <a:spLocks noGrp="1"/>
          </p:cNvSpPr>
          <p:nvPr/>
        </p:nvSpPr>
        <p:spPr>
          <a:xfrm>
            <a:off x="8429625" y="257175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cell-0-2">
            <a:extLst>
              <a:ext uri="{FF2B5EF4-FFF2-40B4-BE49-F238E27FC236}">
                <a16:creationId xmlns:a16="http://schemas.microsoft.com/office/drawing/2014/main" id="{6BC22929-37C9-486E-B516-EE7B93B92EAC}"/>
              </a:ext>
            </a:extLst>
          </p:cNvPr>
          <p:cNvSpPr>
            <a:spLocks noGrp="1"/>
          </p:cNvSpPr>
          <p:nvPr/>
        </p:nvSpPr>
        <p:spPr>
          <a:xfrm>
            <a:off x="9239250" y="257175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cell-1-0">
            <a:extLst>
              <a:ext uri="{FF2B5EF4-FFF2-40B4-BE49-F238E27FC236}">
                <a16:creationId xmlns:a16="http://schemas.microsoft.com/office/drawing/2014/main" id="{A7D99C37-9197-4D01-983B-3D8733EF5C43}"/>
              </a:ext>
            </a:extLst>
          </p:cNvPr>
          <p:cNvSpPr>
            <a:spLocks noGrp="1"/>
          </p:cNvSpPr>
          <p:nvPr/>
        </p:nvSpPr>
        <p:spPr>
          <a:xfrm>
            <a:off x="7620000" y="3381375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cell-1-1">
            <a:extLst>
              <a:ext uri="{FF2B5EF4-FFF2-40B4-BE49-F238E27FC236}">
                <a16:creationId xmlns:a16="http://schemas.microsoft.com/office/drawing/2014/main" id="{4DEE8B3C-475F-4CC9-8C4B-D69FE83EAA19}"/>
              </a:ext>
            </a:extLst>
          </p:cNvPr>
          <p:cNvSpPr>
            <a:spLocks noGrp="1"/>
          </p:cNvSpPr>
          <p:nvPr/>
        </p:nvSpPr>
        <p:spPr>
          <a:xfrm>
            <a:off x="8429625" y="3381375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piece-1-1">
            <a:extLst>
              <a:ext uri="{FF2B5EF4-FFF2-40B4-BE49-F238E27FC236}">
                <a16:creationId xmlns:a16="http://schemas.microsoft.com/office/drawing/2014/main" id="{A12666C1-7A0C-4B49-A2A8-177788946D65}"/>
              </a:ext>
            </a:extLst>
          </p:cNvPr>
          <p:cNvSpPr>
            <a:spLocks noGrp="1"/>
          </p:cNvSpPr>
          <p:nvPr/>
        </p:nvSpPr>
        <p:spPr>
          <a:xfrm>
            <a:off x="8429625" y="3381375"/>
            <a:ext cx="809625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075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3075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44" name="cell-1-2">
            <a:extLst>
              <a:ext uri="{FF2B5EF4-FFF2-40B4-BE49-F238E27FC236}">
                <a16:creationId xmlns:a16="http://schemas.microsoft.com/office/drawing/2014/main" id="{84D26D58-AA93-4CE4-BCC2-22EA9683125B}"/>
              </a:ext>
            </a:extLst>
          </p:cNvPr>
          <p:cNvSpPr>
            <a:spLocks noGrp="1"/>
          </p:cNvSpPr>
          <p:nvPr/>
        </p:nvSpPr>
        <p:spPr>
          <a:xfrm>
            <a:off x="9239250" y="3381375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cell-2-0">
            <a:extLst>
              <a:ext uri="{FF2B5EF4-FFF2-40B4-BE49-F238E27FC236}">
                <a16:creationId xmlns:a16="http://schemas.microsoft.com/office/drawing/2014/main" id="{F208EB85-7161-41C0-9613-37EA99B0350D}"/>
              </a:ext>
            </a:extLst>
          </p:cNvPr>
          <p:cNvSpPr>
            <a:spLocks noGrp="1"/>
          </p:cNvSpPr>
          <p:nvPr/>
        </p:nvSpPr>
        <p:spPr>
          <a:xfrm>
            <a:off x="7620000" y="419100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cell-2-1">
            <a:extLst>
              <a:ext uri="{FF2B5EF4-FFF2-40B4-BE49-F238E27FC236}">
                <a16:creationId xmlns:a16="http://schemas.microsoft.com/office/drawing/2014/main" id="{54BD2E0D-7D75-4AE8-AC6D-6FB3F501A6CA}"/>
              </a:ext>
            </a:extLst>
          </p:cNvPr>
          <p:cNvSpPr>
            <a:spLocks noGrp="1"/>
          </p:cNvSpPr>
          <p:nvPr/>
        </p:nvSpPr>
        <p:spPr>
          <a:xfrm>
            <a:off x="8429625" y="419100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cell-2-2">
            <a:extLst>
              <a:ext uri="{FF2B5EF4-FFF2-40B4-BE49-F238E27FC236}">
                <a16:creationId xmlns:a16="http://schemas.microsoft.com/office/drawing/2014/main" id="{8E8EE1A4-ACAE-4E7D-B6F7-62E95893B4E8}"/>
              </a:ext>
            </a:extLst>
          </p:cNvPr>
          <p:cNvSpPr>
            <a:spLocks noGrp="1"/>
          </p:cNvSpPr>
          <p:nvPr/>
        </p:nvSpPr>
        <p:spPr>
          <a:xfrm>
            <a:off x="9239250" y="419100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piece-2-2">
            <a:extLst>
              <a:ext uri="{FF2B5EF4-FFF2-40B4-BE49-F238E27FC236}">
                <a16:creationId xmlns:a16="http://schemas.microsoft.com/office/drawing/2014/main" id="{F0E00795-4DB5-441E-880E-9C4FDC7491CC}"/>
              </a:ext>
            </a:extLst>
          </p:cNvPr>
          <p:cNvSpPr>
            <a:spLocks noGrp="1"/>
          </p:cNvSpPr>
          <p:nvPr/>
        </p:nvSpPr>
        <p:spPr>
          <a:xfrm>
            <a:off x="9239250" y="4191000"/>
            <a:ext cx="809625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07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07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49" name="lesson-box">
            <a:extLst>
              <a:ext uri="{FF2B5EF4-FFF2-40B4-BE49-F238E27FC236}">
                <a16:creationId xmlns:a16="http://schemas.microsoft.com/office/drawing/2014/main" id="{0C83090C-E407-497B-88AC-EAFBA5278C78}"/>
              </a:ext>
            </a:extLst>
          </p:cNvPr>
          <p:cNvSpPr>
            <a:spLocks noGrp="1"/>
          </p:cNvSpPr>
          <p:nvPr/>
        </p:nvSpPr>
        <p:spPr>
          <a:xfrm>
            <a:off x="7286625" y="3286125"/>
            <a:ext cx="30956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lesson-text">
            <a:extLst>
              <a:ext uri="{FF2B5EF4-FFF2-40B4-BE49-F238E27FC236}">
                <a16:creationId xmlns:a16="http://schemas.microsoft.com/office/drawing/2014/main" id="{B582D954-5673-4F26-9970-0DE6AFAE621A}"/>
              </a:ext>
            </a:extLst>
          </p:cNvPr>
          <p:cNvSpPr>
            <a:spLocks noGrp="1"/>
          </p:cNvSpPr>
          <p:nvPr/>
        </p:nvSpPr>
        <p:spPr>
          <a:xfrm>
            <a:off x="7524750" y="3429000"/>
            <a:ext cx="2619375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X Wins!</a:t>
            </a:r>
          </a:p>
          <a:p>
            <a:pPr algn="ctr">
              <a:defRPr sz="150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Click to restart</a:t>
            </a:r>
          </a:p>
        </p:txBody>
      </p:sp>
      <p:sp>
        <p:nvSpPr>
          <p:cNvPr id="51" name="flow-arrow">
            <a:extLst>
              <a:ext uri="{FF2B5EF4-FFF2-40B4-BE49-F238E27FC236}">
                <a16:creationId xmlns:a16="http://schemas.microsoft.com/office/drawing/2014/main" id="{1D4F38EC-246B-4495-99AC-6235A6A5262E}"/>
              </a:ext>
            </a:extLst>
          </p:cNvPr>
          <p:cNvSpPr>
            <a:spLocks noGrp="1"/>
          </p:cNvSpPr>
          <p:nvPr/>
        </p:nvSpPr>
        <p:spPr>
          <a:xfrm>
            <a:off x="5286375" y="3333750"/>
            <a:ext cx="952500" cy="266700"/>
          </a:xfrm>
          <a:prstGeom prst="rightArrow">
            <a:avLst/>
          </a:prstGeom>
          <a:solidFill>
            <a:srgbClr val="F5C451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code-surface">
            <a:extLst>
              <a:ext uri="{FF2B5EF4-FFF2-40B4-BE49-F238E27FC236}">
                <a16:creationId xmlns:a16="http://schemas.microsoft.com/office/drawing/2014/main" id="{DDA9A434-832C-4D9B-BF60-BF6BF85D34A8}"/>
              </a:ext>
            </a:extLst>
          </p:cNvPr>
          <p:cNvSpPr>
            <a:spLocks noGrp="1"/>
          </p:cNvSpPr>
          <p:nvPr/>
        </p:nvSpPr>
        <p:spPr>
          <a:xfrm>
            <a:off x="2381250" y="5286375"/>
            <a:ext cx="7429500" cy="666750"/>
          </a:xfrm>
          <a:prstGeom prst="roundRect">
            <a:avLst>
              <a:gd name="adj" fmla="val 11429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code">
            <a:extLst>
              <a:ext uri="{FF2B5EF4-FFF2-40B4-BE49-F238E27FC236}">
                <a16:creationId xmlns:a16="http://schemas.microsoft.com/office/drawing/2014/main" id="{5EE065A4-2FAE-4B2B-B4C2-53005165D03B}"/>
              </a:ext>
            </a:extLst>
          </p:cNvPr>
          <p:cNvSpPr>
            <a:spLocks noGrp="1"/>
          </p:cNvSpPr>
          <p:nvPr/>
        </p:nvSpPr>
        <p:spPr>
          <a:xfrm>
            <a:off x="2590800" y="5438775"/>
            <a:ext cx="7010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DrawLine(left + 40, ... right - 40, ...);</a:t>
            </a:r>
          </a:p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DrawRectangle(250, 330, 400, 160, RAYWHITE);</a:t>
            </a:r>
          </a:p>
        </p:txBody>
      </p:sp>
    </p:spTree>
    <p:extLst>
      <p:ext uri="{BB962C8B-B14F-4D97-AF65-F5344CB8AC3E}">
        <p14:creationId xmlns:p14="http://schemas.microsoft.com/office/powerpoint/2010/main" val="4435464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05BACE9E-7A8E-4282-A946-8C72F99D5623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OPTIONAL · EXTENSION CHALLENGE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B1CFA4D-3D75-42B0-85E4-115DFE8321CF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Turn It into Gomoku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F574911-0F7B-4B1C-B05E-BFB00F8F3B77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5E2B5C4-B438-4442-8822-2A36B4054E6C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16</a:t>
            </a:r>
          </a:p>
        </p:txBody>
      </p:sp>
      <p:sp>
        <p:nvSpPr>
          <p:cNvPr id="19" name="lesson-text">
            <a:extLst>
              <a:ext uri="{FF2B5EF4-FFF2-40B4-BE49-F238E27FC236}">
                <a16:creationId xmlns:a16="http://schemas.microsoft.com/office/drawing/2014/main" id="{8F51E984-D450-4B54-81B8-C6779A589A99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The same ideas still work — but the hard-coded 3 × 3 rules must become general.</a:t>
            </a:r>
          </a:p>
        </p:txBody>
      </p:sp>
      <p:sp>
        <p:nvSpPr>
          <p:cNvPr id="20" name="lesson-box">
            <a:extLst>
              <a:ext uri="{FF2B5EF4-FFF2-40B4-BE49-F238E27FC236}">
                <a16:creationId xmlns:a16="http://schemas.microsoft.com/office/drawing/2014/main" id="{A4F12ABD-7F50-4CE0-BB58-0DD469B484FD}"/>
              </a:ext>
            </a:extLst>
          </p:cNvPr>
          <p:cNvSpPr>
            <a:spLocks noGrp="1"/>
          </p:cNvSpPr>
          <p:nvPr/>
        </p:nvSpPr>
        <p:spPr>
          <a:xfrm>
            <a:off x="685800" y="2190750"/>
            <a:ext cx="3238500" cy="2476500"/>
          </a:xfrm>
          <a:prstGeom prst="roundRect">
            <a:avLst>
              <a:gd name="adj" fmla="val 3077"/>
            </a:avLst>
          </a:prstGeom>
          <a:solidFill>
            <a:srgbClr val="FFF5D8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lesson-text">
            <a:extLst>
              <a:ext uri="{FF2B5EF4-FFF2-40B4-BE49-F238E27FC236}">
                <a16:creationId xmlns:a16="http://schemas.microsoft.com/office/drawing/2014/main" id="{E821DD9E-A56E-47CF-B168-702E54244828}"/>
              </a:ext>
            </a:extLst>
          </p:cNvPr>
          <p:cNvSpPr>
            <a:spLocks noGrp="1"/>
          </p:cNvSpPr>
          <p:nvPr/>
        </p:nvSpPr>
        <p:spPr>
          <a:xfrm>
            <a:off x="876300" y="2381250"/>
            <a:ext cx="457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F5C45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5C451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22" name="lesson-text">
            <a:extLst>
              <a:ext uri="{FF2B5EF4-FFF2-40B4-BE49-F238E27FC236}">
                <a16:creationId xmlns:a16="http://schemas.microsoft.com/office/drawing/2014/main" id="{4DFD7454-99B5-4E04-B6F6-D86620AE240F}"/>
              </a:ext>
            </a:extLst>
          </p:cNvPr>
          <p:cNvSpPr>
            <a:spLocks noGrp="1"/>
          </p:cNvSpPr>
          <p:nvPr/>
        </p:nvSpPr>
        <p:spPr>
          <a:xfrm>
            <a:off x="1466850" y="23812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BASIC</a:t>
            </a:r>
          </a:p>
        </p:txBody>
      </p:sp>
      <p:sp>
        <p:nvSpPr>
          <p:cNvPr id="23" name="lesson-text">
            <a:extLst>
              <a:ext uri="{FF2B5EF4-FFF2-40B4-BE49-F238E27FC236}">
                <a16:creationId xmlns:a16="http://schemas.microsoft.com/office/drawing/2014/main" id="{BC485EAC-9055-461E-A277-EE66435E4941}"/>
              </a:ext>
            </a:extLst>
          </p:cNvPr>
          <p:cNvSpPr>
            <a:spLocks noGrp="1"/>
          </p:cNvSpPr>
          <p:nvPr/>
        </p:nvSpPr>
        <p:spPr>
          <a:xfrm>
            <a:off x="952500" y="2952750"/>
            <a:ext cx="2705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75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Make a larger board</a:t>
            </a:r>
          </a:p>
        </p:txBody>
      </p:sp>
      <p:sp>
        <p:nvSpPr>
          <p:cNvPr id="24" name="code-surface">
            <a:extLst>
              <a:ext uri="{FF2B5EF4-FFF2-40B4-BE49-F238E27FC236}">
                <a16:creationId xmlns:a16="http://schemas.microsoft.com/office/drawing/2014/main" id="{37ED1E02-1BED-4DB7-AA7B-FC897ACD7D33}"/>
              </a:ext>
            </a:extLst>
          </p:cNvPr>
          <p:cNvSpPr>
            <a:spLocks noGrp="1"/>
          </p:cNvSpPr>
          <p:nvPr/>
        </p:nvSpPr>
        <p:spPr>
          <a:xfrm>
            <a:off x="952500" y="3571875"/>
            <a:ext cx="2705100" cy="781050"/>
          </a:xfrm>
          <a:prstGeom prst="roundRect">
            <a:avLst>
              <a:gd name="adj" fmla="val 9756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code">
            <a:extLst>
              <a:ext uri="{FF2B5EF4-FFF2-40B4-BE49-F238E27FC236}">
                <a16:creationId xmlns:a16="http://schemas.microsoft.com/office/drawing/2014/main" id="{D78E3308-D7F1-4898-B5F9-615AB5AE6EA6}"/>
              </a:ext>
            </a:extLst>
          </p:cNvPr>
          <p:cNvSpPr>
            <a:spLocks noGrp="1"/>
          </p:cNvSpPr>
          <p:nvPr/>
        </p:nvSpPr>
        <p:spPr>
          <a:xfrm>
            <a:off x="1162050" y="3724275"/>
            <a:ext cx="2286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board_size = 15</a:t>
            </a:r>
          </a:p>
          <a:p>
            <a:pPr algn="l">
              <a:defRPr sz="10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cell_size = width / board_size</a:t>
            </a:r>
          </a:p>
        </p:txBody>
      </p:sp>
      <p:sp>
        <p:nvSpPr>
          <p:cNvPr id="26" name="lesson-box">
            <a:extLst>
              <a:ext uri="{FF2B5EF4-FFF2-40B4-BE49-F238E27FC236}">
                <a16:creationId xmlns:a16="http://schemas.microsoft.com/office/drawing/2014/main" id="{FED14139-54CF-493C-9FA9-3E8E4B7E2CB1}"/>
              </a:ext>
            </a:extLst>
          </p:cNvPr>
          <p:cNvSpPr>
            <a:spLocks noGrp="1"/>
          </p:cNvSpPr>
          <p:nvPr/>
        </p:nvSpPr>
        <p:spPr>
          <a:xfrm>
            <a:off x="4305300" y="2190750"/>
            <a:ext cx="3238500" cy="2476500"/>
          </a:xfrm>
          <a:prstGeom prst="roundRect">
            <a:avLst>
              <a:gd name="adj" fmla="val 3077"/>
            </a:avLst>
          </a:prstGeom>
          <a:solidFill>
            <a:srgbClr val="EAF4FC"/>
          </a:solidFill>
          <a:ln w="9525">
            <a:solidFill>
              <a:srgbClr val="55A7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lesson-text">
            <a:extLst>
              <a:ext uri="{FF2B5EF4-FFF2-40B4-BE49-F238E27FC236}">
                <a16:creationId xmlns:a16="http://schemas.microsoft.com/office/drawing/2014/main" id="{A8914E50-D10A-4F07-B5EB-F318A4AF9712}"/>
              </a:ext>
            </a:extLst>
          </p:cNvPr>
          <p:cNvSpPr>
            <a:spLocks noGrp="1"/>
          </p:cNvSpPr>
          <p:nvPr/>
        </p:nvSpPr>
        <p:spPr>
          <a:xfrm>
            <a:off x="4495800" y="2381250"/>
            <a:ext cx="457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28" name="lesson-text">
            <a:extLst>
              <a:ext uri="{FF2B5EF4-FFF2-40B4-BE49-F238E27FC236}">
                <a16:creationId xmlns:a16="http://schemas.microsoft.com/office/drawing/2014/main" id="{3549ABD5-B789-4891-BD3B-E059C5728368}"/>
              </a:ext>
            </a:extLst>
          </p:cNvPr>
          <p:cNvSpPr>
            <a:spLocks noGrp="1"/>
          </p:cNvSpPr>
          <p:nvPr/>
        </p:nvSpPr>
        <p:spPr>
          <a:xfrm>
            <a:off x="5086350" y="23812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ADVANCED</a:t>
            </a:r>
          </a:p>
        </p:txBody>
      </p:sp>
      <p:sp>
        <p:nvSpPr>
          <p:cNvPr id="29" name="lesson-text">
            <a:extLst>
              <a:ext uri="{FF2B5EF4-FFF2-40B4-BE49-F238E27FC236}">
                <a16:creationId xmlns:a16="http://schemas.microsoft.com/office/drawing/2014/main" id="{74677914-7158-4352-B4EF-B3A76C359D5F}"/>
              </a:ext>
            </a:extLst>
          </p:cNvPr>
          <p:cNvSpPr>
            <a:spLocks noGrp="1"/>
          </p:cNvSpPr>
          <p:nvPr/>
        </p:nvSpPr>
        <p:spPr>
          <a:xfrm>
            <a:off x="4572000" y="2952750"/>
            <a:ext cx="2705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75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Find five in a row</a:t>
            </a:r>
          </a:p>
        </p:txBody>
      </p:sp>
      <p:sp>
        <p:nvSpPr>
          <p:cNvPr id="30" name="code-surface">
            <a:extLst>
              <a:ext uri="{FF2B5EF4-FFF2-40B4-BE49-F238E27FC236}">
                <a16:creationId xmlns:a16="http://schemas.microsoft.com/office/drawing/2014/main" id="{7EC77830-FCAA-472E-BF18-68F88536EE74}"/>
              </a:ext>
            </a:extLst>
          </p:cNvPr>
          <p:cNvSpPr>
            <a:spLocks noGrp="1"/>
          </p:cNvSpPr>
          <p:nvPr/>
        </p:nvSpPr>
        <p:spPr>
          <a:xfrm>
            <a:off x="4572000" y="3571875"/>
            <a:ext cx="2705100" cy="781050"/>
          </a:xfrm>
          <a:prstGeom prst="roundRect">
            <a:avLst>
              <a:gd name="adj" fmla="val 9756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code">
            <a:extLst>
              <a:ext uri="{FF2B5EF4-FFF2-40B4-BE49-F238E27FC236}">
                <a16:creationId xmlns:a16="http://schemas.microsoft.com/office/drawing/2014/main" id="{8BC7ECE9-CDAD-4606-B745-A19F926D22ED}"/>
              </a:ext>
            </a:extLst>
          </p:cNvPr>
          <p:cNvSpPr>
            <a:spLocks noGrp="1"/>
          </p:cNvSpPr>
          <p:nvPr/>
        </p:nvSpPr>
        <p:spPr>
          <a:xfrm>
            <a:off x="4781550" y="3724275"/>
            <a:ext cx="2286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scan horizontal, vertical,</a:t>
            </a:r>
          </a:p>
          <a:p>
            <a:pPr algn="l">
              <a:defRPr sz="10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and two diagonal directions</a:t>
            </a:r>
          </a:p>
        </p:txBody>
      </p:sp>
      <p:sp>
        <p:nvSpPr>
          <p:cNvPr id="32" name="lesson-box">
            <a:extLst>
              <a:ext uri="{FF2B5EF4-FFF2-40B4-BE49-F238E27FC236}">
                <a16:creationId xmlns:a16="http://schemas.microsoft.com/office/drawing/2014/main" id="{CB58F3A3-0264-4577-B579-2D6F2EA3ACAE}"/>
              </a:ext>
            </a:extLst>
          </p:cNvPr>
          <p:cNvSpPr>
            <a:spLocks noGrp="1"/>
          </p:cNvSpPr>
          <p:nvPr/>
        </p:nvSpPr>
        <p:spPr>
          <a:xfrm>
            <a:off x="7924800" y="2190750"/>
            <a:ext cx="3238500" cy="2476500"/>
          </a:xfrm>
          <a:prstGeom prst="roundRect">
            <a:avLst>
              <a:gd name="adj" fmla="val 3077"/>
            </a:avLst>
          </a:prstGeom>
          <a:solidFill>
            <a:srgbClr val="E8F8F0"/>
          </a:solidFill>
          <a:ln w="9525">
            <a:solidFill>
              <a:srgbClr val="4BC38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lesson-text">
            <a:extLst>
              <a:ext uri="{FF2B5EF4-FFF2-40B4-BE49-F238E27FC236}">
                <a16:creationId xmlns:a16="http://schemas.microsoft.com/office/drawing/2014/main" id="{E5D3DE3A-5FC2-48C2-AC45-DBEA68A4FCFB}"/>
              </a:ext>
            </a:extLst>
          </p:cNvPr>
          <p:cNvSpPr>
            <a:spLocks noGrp="1"/>
          </p:cNvSpPr>
          <p:nvPr/>
        </p:nvSpPr>
        <p:spPr>
          <a:xfrm>
            <a:off x="8115300" y="2381250"/>
            <a:ext cx="457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34" name="lesson-text">
            <a:extLst>
              <a:ext uri="{FF2B5EF4-FFF2-40B4-BE49-F238E27FC236}">
                <a16:creationId xmlns:a16="http://schemas.microsoft.com/office/drawing/2014/main" id="{1B6F9CD1-8693-4EC0-8EF6-A46AA275C0D6}"/>
              </a:ext>
            </a:extLst>
          </p:cNvPr>
          <p:cNvSpPr>
            <a:spLocks noGrp="1"/>
          </p:cNvSpPr>
          <p:nvPr/>
        </p:nvSpPr>
        <p:spPr>
          <a:xfrm>
            <a:off x="8705850" y="23812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EXTEND</a:t>
            </a:r>
          </a:p>
        </p:txBody>
      </p:sp>
      <p:sp>
        <p:nvSpPr>
          <p:cNvPr id="35" name="lesson-text">
            <a:extLst>
              <a:ext uri="{FF2B5EF4-FFF2-40B4-BE49-F238E27FC236}">
                <a16:creationId xmlns:a16="http://schemas.microsoft.com/office/drawing/2014/main" id="{841464EC-EDE2-4AEA-A1BF-0963894E2934}"/>
              </a:ext>
            </a:extLst>
          </p:cNvPr>
          <p:cNvSpPr>
            <a:spLocks noGrp="1"/>
          </p:cNvSpPr>
          <p:nvPr/>
        </p:nvSpPr>
        <p:spPr>
          <a:xfrm>
            <a:off x="8191500" y="2952750"/>
            <a:ext cx="2705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75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Improve the game</a:t>
            </a:r>
          </a:p>
        </p:txBody>
      </p:sp>
      <p:sp>
        <p:nvSpPr>
          <p:cNvPr id="36" name="code-surface">
            <a:extLst>
              <a:ext uri="{FF2B5EF4-FFF2-40B4-BE49-F238E27FC236}">
                <a16:creationId xmlns:a16="http://schemas.microsoft.com/office/drawing/2014/main" id="{0E6EA97D-80C6-49E1-81C2-E2169A65B5D6}"/>
              </a:ext>
            </a:extLst>
          </p:cNvPr>
          <p:cNvSpPr>
            <a:spLocks noGrp="1"/>
          </p:cNvSpPr>
          <p:nvPr/>
        </p:nvSpPr>
        <p:spPr>
          <a:xfrm>
            <a:off x="8191500" y="3571875"/>
            <a:ext cx="2705100" cy="781050"/>
          </a:xfrm>
          <a:prstGeom prst="roundRect">
            <a:avLst>
              <a:gd name="adj" fmla="val 9756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code">
            <a:extLst>
              <a:ext uri="{FF2B5EF4-FFF2-40B4-BE49-F238E27FC236}">
                <a16:creationId xmlns:a16="http://schemas.microsoft.com/office/drawing/2014/main" id="{55A9CE31-F46C-4D88-BE25-F282E4D6E443}"/>
              </a:ext>
            </a:extLst>
          </p:cNvPr>
          <p:cNvSpPr>
            <a:spLocks noGrp="1"/>
          </p:cNvSpPr>
          <p:nvPr/>
        </p:nvSpPr>
        <p:spPr>
          <a:xfrm>
            <a:off x="8401050" y="3724275"/>
            <a:ext cx="2286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last-move marker · undo · score</a:t>
            </a:r>
          </a:p>
        </p:txBody>
      </p:sp>
      <p:sp>
        <p:nvSpPr>
          <p:cNvPr id="38" name="code-surface">
            <a:extLst>
              <a:ext uri="{FF2B5EF4-FFF2-40B4-BE49-F238E27FC236}">
                <a16:creationId xmlns:a16="http://schemas.microsoft.com/office/drawing/2014/main" id="{A297D4FB-AAE0-4B94-AC3F-41569C17EDE6}"/>
              </a:ext>
            </a:extLst>
          </p:cNvPr>
          <p:cNvSpPr>
            <a:spLocks noGrp="1"/>
          </p:cNvSpPr>
          <p:nvPr/>
        </p:nvSpPr>
        <p:spPr>
          <a:xfrm>
            <a:off x="2667000" y="5095875"/>
            <a:ext cx="6858000" cy="876300"/>
          </a:xfrm>
          <a:prstGeom prst="roundRect">
            <a:avLst>
              <a:gd name="adj" fmla="val 8696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code">
            <a:extLst>
              <a:ext uri="{FF2B5EF4-FFF2-40B4-BE49-F238E27FC236}">
                <a16:creationId xmlns:a16="http://schemas.microsoft.com/office/drawing/2014/main" id="{88175677-EAC6-49FD-B94D-333298E66979}"/>
              </a:ext>
            </a:extLst>
          </p:cNvPr>
          <p:cNvSpPr>
            <a:spLocks noGrp="1"/>
          </p:cNvSpPr>
          <p:nvPr/>
        </p:nvSpPr>
        <p:spPr>
          <a:xfrm>
            <a:off x="2876550" y="5248275"/>
            <a:ext cx="64389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const int board_size = 15;</a:t>
            </a: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const int win_length = 5;</a:t>
            </a: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const int cell_size = window_width / board_size;</a:t>
            </a:r>
          </a:p>
        </p:txBody>
      </p:sp>
    </p:spTree>
    <p:extLst>
      <p:ext uri="{BB962C8B-B14F-4D97-AF65-F5344CB8AC3E}">
        <p14:creationId xmlns:p14="http://schemas.microsoft.com/office/powerpoint/2010/main" val="105183972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2663</Words>
  <Application>Microsoft Office PowerPoint</Application>
  <DocSecurity>0</DocSecurity>
  <PresentationFormat>寬螢幕</PresentationFormat>
  <Paragraphs>410</Paragraphs>
  <Slides>16</Slides>
  <Notes>16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19" baseType="lpstr"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Akil Adil</cp:lastModifiedBy>
  <cp:revision>1</cp:revision>
  <dcterms:created xsi:type="dcterms:W3CDTF">2026-08-08T08:24:36Z</dcterms:created>
  <dcterms:modified xsi:type="dcterms:W3CDTF">2026-08-11T06:05:46Z</dcterms:modified>
</cp:coreProperties>
</file>